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2" r:id="rId5"/>
    <p:sldId id="260" r:id="rId6"/>
    <p:sldId id="277" r:id="rId7"/>
    <p:sldId id="261" r:id="rId8"/>
    <p:sldId id="271" r:id="rId9"/>
    <p:sldId id="262" r:id="rId10"/>
    <p:sldId id="273" r:id="rId11"/>
    <p:sldId id="274" r:id="rId12"/>
    <p:sldId id="275" r:id="rId13"/>
    <p:sldId id="285" r:id="rId14"/>
    <p:sldId id="276" r:id="rId15"/>
    <p:sldId id="286" r:id="rId16"/>
    <p:sldId id="281" r:id="rId17"/>
    <p:sldId id="266" r:id="rId18"/>
    <p:sldId id="268" r:id="rId19"/>
    <p:sldId id="283" r:id="rId20"/>
    <p:sldId id="269" r:id="rId21"/>
    <p:sldId id="28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B0D1E-CFA2-417C-895E-8504300FD2BB}" v="28" dt="2025-11-05T01:55:20.732"/>
    <p1510:client id="{8552C7B3-CA43-48B6-A969-0F776762C7EA}" v="37" dt="2025-11-05T04:53:48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3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7A9161-EA7F-4A6E-8424-D376944D8F5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5CB20E-A8F4-4E6B-98F6-5F4875A18B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Developed a complete AWS streaming data pipeline using managed services.</a:t>
          </a:r>
        </a:p>
      </dgm:t>
    </dgm:pt>
    <dgm:pt modelId="{0BEB3C57-2488-43AD-BD87-A77860B2509D}" type="parTrans" cxnId="{88BFFD2A-917C-4F05-9890-77D014A17437}">
      <dgm:prSet/>
      <dgm:spPr/>
      <dgm:t>
        <a:bodyPr/>
        <a:lstStyle/>
        <a:p>
          <a:endParaRPr lang="en-US"/>
        </a:p>
      </dgm:t>
    </dgm:pt>
    <dgm:pt modelId="{E5235E2B-ED15-4B7D-8ED4-23BE23E9E5C6}" type="sibTrans" cxnId="{88BFFD2A-917C-4F05-9890-77D014A1743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BBC403F-AF1E-452F-B06B-41B50FF415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Improved understanding of real-time ETL architecture and stream processing with Spark.</a:t>
          </a:r>
        </a:p>
      </dgm:t>
    </dgm:pt>
    <dgm:pt modelId="{E90217F9-BDD5-4AE0-A565-974B0DCEC85E}" type="parTrans" cxnId="{9E251D0A-842A-47DA-BC44-9AA8EEAE0F76}">
      <dgm:prSet/>
      <dgm:spPr/>
      <dgm:t>
        <a:bodyPr/>
        <a:lstStyle/>
        <a:p>
          <a:endParaRPr lang="en-US"/>
        </a:p>
      </dgm:t>
    </dgm:pt>
    <dgm:pt modelId="{88413914-ECB4-43D3-B42A-E65F6CC3A2D7}" type="sibTrans" cxnId="{9E251D0A-842A-47DA-BC44-9AA8EEAE0F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11616C-38CA-4AF3-AA66-FD64E6336B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Gained deep hands-on experience with debugging, permissions, schema handling, and testing in both AWS and Docker.</a:t>
          </a:r>
        </a:p>
      </dgm:t>
    </dgm:pt>
    <dgm:pt modelId="{E43167F8-0AAD-4D25-B08B-93E45D972617}" type="parTrans" cxnId="{CD8C7C98-71A5-413B-B5EB-4D06EF084558}">
      <dgm:prSet/>
      <dgm:spPr/>
      <dgm:t>
        <a:bodyPr/>
        <a:lstStyle/>
        <a:p>
          <a:endParaRPr lang="en-US"/>
        </a:p>
      </dgm:t>
    </dgm:pt>
    <dgm:pt modelId="{1C0DBB5F-EA84-40D3-98F5-ED3BDC7DC76E}" type="sibTrans" cxnId="{CD8C7C98-71A5-413B-B5EB-4D06EF08455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0D628B8-7DDA-49E6-B123-66CD9D1FD2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Ready to scale this pipeline for larger, real-time data workloads.</a:t>
          </a:r>
        </a:p>
      </dgm:t>
    </dgm:pt>
    <dgm:pt modelId="{2ACF20D3-DBE0-4909-83C8-9340C8FC4EC9}" type="parTrans" cxnId="{2FF6D1C0-1C25-4B42-B4D1-4ED5F1971936}">
      <dgm:prSet/>
      <dgm:spPr/>
      <dgm:t>
        <a:bodyPr/>
        <a:lstStyle/>
        <a:p>
          <a:endParaRPr lang="en-US"/>
        </a:p>
      </dgm:t>
    </dgm:pt>
    <dgm:pt modelId="{5A38BC08-2367-41A9-B399-1EE6D3ECC8E6}" type="sibTrans" cxnId="{2FF6D1C0-1C25-4B42-B4D1-4ED5F1971936}">
      <dgm:prSet/>
      <dgm:spPr/>
      <dgm:t>
        <a:bodyPr/>
        <a:lstStyle/>
        <a:p>
          <a:endParaRPr lang="en-US"/>
        </a:p>
      </dgm:t>
    </dgm:pt>
    <dgm:pt modelId="{0F100879-16F7-4A7D-85ED-602FF9108907}" type="pres">
      <dgm:prSet presAssocID="{FE7A9161-EA7F-4A6E-8424-D376944D8F5E}" presName="root" presStyleCnt="0">
        <dgm:presLayoutVars>
          <dgm:dir/>
          <dgm:resizeHandles val="exact"/>
        </dgm:presLayoutVars>
      </dgm:prSet>
      <dgm:spPr/>
    </dgm:pt>
    <dgm:pt modelId="{B8F26EBA-A316-44B2-8649-F1DA432CC7B3}" type="pres">
      <dgm:prSet presAssocID="{FE7A9161-EA7F-4A6E-8424-D376944D8F5E}" presName="container" presStyleCnt="0">
        <dgm:presLayoutVars>
          <dgm:dir/>
          <dgm:resizeHandles val="exact"/>
        </dgm:presLayoutVars>
      </dgm:prSet>
      <dgm:spPr/>
    </dgm:pt>
    <dgm:pt modelId="{89716A2C-D79B-485F-B544-2A62BB55E148}" type="pres">
      <dgm:prSet presAssocID="{BE5CB20E-A8F4-4E6B-98F6-5F4875A18BED}" presName="compNode" presStyleCnt="0"/>
      <dgm:spPr/>
    </dgm:pt>
    <dgm:pt modelId="{0D4FDF31-C6B9-48E5-B0ED-78C978A63E80}" type="pres">
      <dgm:prSet presAssocID="{BE5CB20E-A8F4-4E6B-98F6-5F4875A18BED}" presName="iconBgRect" presStyleLbl="bgShp" presStyleIdx="0" presStyleCnt="4"/>
      <dgm:spPr/>
    </dgm:pt>
    <dgm:pt modelId="{A049E044-D928-4538-B691-2EB80006E4A8}" type="pres">
      <dgm:prSet presAssocID="{BE5CB20E-A8F4-4E6B-98F6-5F4875A18BE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7811389-8F5F-4353-B280-822EB5B2A82B}" type="pres">
      <dgm:prSet presAssocID="{BE5CB20E-A8F4-4E6B-98F6-5F4875A18BED}" presName="spaceRect" presStyleCnt="0"/>
      <dgm:spPr/>
    </dgm:pt>
    <dgm:pt modelId="{EF0626D3-806C-4517-A81E-6B36EB3B4C79}" type="pres">
      <dgm:prSet presAssocID="{BE5CB20E-A8F4-4E6B-98F6-5F4875A18BED}" presName="textRect" presStyleLbl="revTx" presStyleIdx="0" presStyleCnt="4">
        <dgm:presLayoutVars>
          <dgm:chMax val="1"/>
          <dgm:chPref val="1"/>
        </dgm:presLayoutVars>
      </dgm:prSet>
      <dgm:spPr/>
    </dgm:pt>
    <dgm:pt modelId="{42D1602E-4DD9-46D7-A19F-E4178D9D769B}" type="pres">
      <dgm:prSet presAssocID="{E5235E2B-ED15-4B7D-8ED4-23BE23E9E5C6}" presName="sibTrans" presStyleLbl="sibTrans2D1" presStyleIdx="0" presStyleCnt="0"/>
      <dgm:spPr/>
    </dgm:pt>
    <dgm:pt modelId="{75B5D87A-2E60-4F03-9FCF-FCB2C6BB5C34}" type="pres">
      <dgm:prSet presAssocID="{2BBC403F-AF1E-452F-B06B-41B50FF41552}" presName="compNode" presStyleCnt="0"/>
      <dgm:spPr/>
    </dgm:pt>
    <dgm:pt modelId="{17E5CD30-73FD-4EFE-A0C2-2B1F171F9920}" type="pres">
      <dgm:prSet presAssocID="{2BBC403F-AF1E-452F-B06B-41B50FF41552}" presName="iconBgRect" presStyleLbl="bgShp" presStyleIdx="1" presStyleCnt="4"/>
      <dgm:spPr/>
    </dgm:pt>
    <dgm:pt modelId="{703E82C1-E76C-4D12-978C-6B1C1597202C}" type="pres">
      <dgm:prSet presAssocID="{2BBC403F-AF1E-452F-B06B-41B50FF4155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796CC54-8A6B-4B26-83CC-99ABB1BD1767}" type="pres">
      <dgm:prSet presAssocID="{2BBC403F-AF1E-452F-B06B-41B50FF41552}" presName="spaceRect" presStyleCnt="0"/>
      <dgm:spPr/>
    </dgm:pt>
    <dgm:pt modelId="{DAA863B0-7718-499B-BE88-4E04FD950FC7}" type="pres">
      <dgm:prSet presAssocID="{2BBC403F-AF1E-452F-B06B-41B50FF41552}" presName="textRect" presStyleLbl="revTx" presStyleIdx="1" presStyleCnt="4">
        <dgm:presLayoutVars>
          <dgm:chMax val="1"/>
          <dgm:chPref val="1"/>
        </dgm:presLayoutVars>
      </dgm:prSet>
      <dgm:spPr/>
    </dgm:pt>
    <dgm:pt modelId="{58B4CA90-4768-4A7E-9599-C42AD51BD1E5}" type="pres">
      <dgm:prSet presAssocID="{88413914-ECB4-43D3-B42A-E65F6CC3A2D7}" presName="sibTrans" presStyleLbl="sibTrans2D1" presStyleIdx="0" presStyleCnt="0"/>
      <dgm:spPr/>
    </dgm:pt>
    <dgm:pt modelId="{082D319E-B361-425D-953E-10CB99E76BD0}" type="pres">
      <dgm:prSet presAssocID="{B511616C-38CA-4AF3-AA66-FD64E6336BB9}" presName="compNode" presStyleCnt="0"/>
      <dgm:spPr/>
    </dgm:pt>
    <dgm:pt modelId="{E53D7F12-C105-4964-8914-246498EFD2D1}" type="pres">
      <dgm:prSet presAssocID="{B511616C-38CA-4AF3-AA66-FD64E6336BB9}" presName="iconBgRect" presStyleLbl="bgShp" presStyleIdx="2" presStyleCnt="4"/>
      <dgm:spPr/>
    </dgm:pt>
    <dgm:pt modelId="{4F0B5E51-FA57-414C-BF33-90666F3C38AA}" type="pres">
      <dgm:prSet presAssocID="{B511616C-38CA-4AF3-AA66-FD64E6336BB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1984EA1-1AD7-4C38-B1AF-2D1B8A20A581}" type="pres">
      <dgm:prSet presAssocID="{B511616C-38CA-4AF3-AA66-FD64E6336BB9}" presName="spaceRect" presStyleCnt="0"/>
      <dgm:spPr/>
    </dgm:pt>
    <dgm:pt modelId="{4598109B-05DE-45D9-8D7D-D464AF1DB260}" type="pres">
      <dgm:prSet presAssocID="{B511616C-38CA-4AF3-AA66-FD64E6336BB9}" presName="textRect" presStyleLbl="revTx" presStyleIdx="2" presStyleCnt="4">
        <dgm:presLayoutVars>
          <dgm:chMax val="1"/>
          <dgm:chPref val="1"/>
        </dgm:presLayoutVars>
      </dgm:prSet>
      <dgm:spPr/>
    </dgm:pt>
    <dgm:pt modelId="{3B36F0BF-ACD2-40BA-90BF-D63182AE4226}" type="pres">
      <dgm:prSet presAssocID="{1C0DBB5F-EA84-40D3-98F5-ED3BDC7DC76E}" presName="sibTrans" presStyleLbl="sibTrans2D1" presStyleIdx="0" presStyleCnt="0"/>
      <dgm:spPr/>
    </dgm:pt>
    <dgm:pt modelId="{3098EEB7-D2FC-4DE5-A5D4-EAE8A6935342}" type="pres">
      <dgm:prSet presAssocID="{F0D628B8-7DDA-49E6-B123-66CD9D1FD21E}" presName="compNode" presStyleCnt="0"/>
      <dgm:spPr/>
    </dgm:pt>
    <dgm:pt modelId="{015C3FFF-5DE1-4869-95B5-3515113A7CE6}" type="pres">
      <dgm:prSet presAssocID="{F0D628B8-7DDA-49E6-B123-66CD9D1FD21E}" presName="iconBgRect" presStyleLbl="bgShp" presStyleIdx="3" presStyleCnt="4"/>
      <dgm:spPr/>
    </dgm:pt>
    <dgm:pt modelId="{5EE16E1E-CEBD-417C-A14B-E8DF1EB17294}" type="pres">
      <dgm:prSet presAssocID="{F0D628B8-7DDA-49E6-B123-66CD9D1FD21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E2163B55-EB77-4414-8B05-E06BDFAF84A0}" type="pres">
      <dgm:prSet presAssocID="{F0D628B8-7DDA-49E6-B123-66CD9D1FD21E}" presName="spaceRect" presStyleCnt="0"/>
      <dgm:spPr/>
    </dgm:pt>
    <dgm:pt modelId="{122F1D14-13B8-4268-969B-EC906F6D2B1E}" type="pres">
      <dgm:prSet presAssocID="{F0D628B8-7DDA-49E6-B123-66CD9D1FD21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E251D0A-842A-47DA-BC44-9AA8EEAE0F76}" srcId="{FE7A9161-EA7F-4A6E-8424-D376944D8F5E}" destId="{2BBC403F-AF1E-452F-B06B-41B50FF41552}" srcOrd="1" destOrd="0" parTransId="{E90217F9-BDD5-4AE0-A565-974B0DCEC85E}" sibTransId="{88413914-ECB4-43D3-B42A-E65F6CC3A2D7}"/>
    <dgm:cxn modelId="{88BFFD2A-917C-4F05-9890-77D014A17437}" srcId="{FE7A9161-EA7F-4A6E-8424-D376944D8F5E}" destId="{BE5CB20E-A8F4-4E6B-98F6-5F4875A18BED}" srcOrd="0" destOrd="0" parTransId="{0BEB3C57-2488-43AD-BD87-A77860B2509D}" sibTransId="{E5235E2B-ED15-4B7D-8ED4-23BE23E9E5C6}"/>
    <dgm:cxn modelId="{26A2A243-E262-4FF3-9D2A-562BFBB9626E}" type="presOf" srcId="{BE5CB20E-A8F4-4E6B-98F6-5F4875A18BED}" destId="{EF0626D3-806C-4517-A81E-6B36EB3B4C79}" srcOrd="0" destOrd="0" presId="urn:microsoft.com/office/officeart/2018/2/layout/IconCircleList"/>
    <dgm:cxn modelId="{38257246-57A2-43F2-A296-6C17222F65C6}" type="presOf" srcId="{1C0DBB5F-EA84-40D3-98F5-ED3BDC7DC76E}" destId="{3B36F0BF-ACD2-40BA-90BF-D63182AE4226}" srcOrd="0" destOrd="0" presId="urn:microsoft.com/office/officeart/2018/2/layout/IconCircleList"/>
    <dgm:cxn modelId="{410CDF74-3475-432D-9C08-95A6634164C0}" type="presOf" srcId="{FE7A9161-EA7F-4A6E-8424-D376944D8F5E}" destId="{0F100879-16F7-4A7D-85ED-602FF9108907}" srcOrd="0" destOrd="0" presId="urn:microsoft.com/office/officeart/2018/2/layout/IconCircleList"/>
    <dgm:cxn modelId="{6D64585A-2B69-41DB-A69C-BD6220DDE5AC}" type="presOf" srcId="{E5235E2B-ED15-4B7D-8ED4-23BE23E9E5C6}" destId="{42D1602E-4DD9-46D7-A19F-E4178D9D769B}" srcOrd="0" destOrd="0" presId="urn:microsoft.com/office/officeart/2018/2/layout/IconCircleList"/>
    <dgm:cxn modelId="{CD8C7C98-71A5-413B-B5EB-4D06EF084558}" srcId="{FE7A9161-EA7F-4A6E-8424-D376944D8F5E}" destId="{B511616C-38CA-4AF3-AA66-FD64E6336BB9}" srcOrd="2" destOrd="0" parTransId="{E43167F8-0AAD-4D25-B08B-93E45D972617}" sibTransId="{1C0DBB5F-EA84-40D3-98F5-ED3BDC7DC76E}"/>
    <dgm:cxn modelId="{53780D9C-F165-45FE-8F7D-25A852B537D9}" type="presOf" srcId="{F0D628B8-7DDA-49E6-B123-66CD9D1FD21E}" destId="{122F1D14-13B8-4268-969B-EC906F6D2B1E}" srcOrd="0" destOrd="0" presId="urn:microsoft.com/office/officeart/2018/2/layout/IconCircleList"/>
    <dgm:cxn modelId="{EA3068AE-89C4-4194-9702-9F5B7C5EDD94}" type="presOf" srcId="{88413914-ECB4-43D3-B42A-E65F6CC3A2D7}" destId="{58B4CA90-4768-4A7E-9599-C42AD51BD1E5}" srcOrd="0" destOrd="0" presId="urn:microsoft.com/office/officeart/2018/2/layout/IconCircleList"/>
    <dgm:cxn modelId="{2FF6D1C0-1C25-4B42-B4D1-4ED5F1971936}" srcId="{FE7A9161-EA7F-4A6E-8424-D376944D8F5E}" destId="{F0D628B8-7DDA-49E6-B123-66CD9D1FD21E}" srcOrd="3" destOrd="0" parTransId="{2ACF20D3-DBE0-4909-83C8-9340C8FC4EC9}" sibTransId="{5A38BC08-2367-41A9-B399-1EE6D3ECC8E6}"/>
    <dgm:cxn modelId="{9CD16EF5-FB1A-42AB-88F8-9B15E07C4460}" type="presOf" srcId="{B511616C-38CA-4AF3-AA66-FD64E6336BB9}" destId="{4598109B-05DE-45D9-8D7D-D464AF1DB260}" srcOrd="0" destOrd="0" presId="urn:microsoft.com/office/officeart/2018/2/layout/IconCircleList"/>
    <dgm:cxn modelId="{18E0B2F7-317F-4F2A-B3C3-07CB0DB9A614}" type="presOf" srcId="{2BBC403F-AF1E-452F-B06B-41B50FF41552}" destId="{DAA863B0-7718-499B-BE88-4E04FD950FC7}" srcOrd="0" destOrd="0" presId="urn:microsoft.com/office/officeart/2018/2/layout/IconCircleList"/>
    <dgm:cxn modelId="{D56CB4DC-BD82-4F40-A976-170673511D3C}" type="presParOf" srcId="{0F100879-16F7-4A7D-85ED-602FF9108907}" destId="{B8F26EBA-A316-44B2-8649-F1DA432CC7B3}" srcOrd="0" destOrd="0" presId="urn:microsoft.com/office/officeart/2018/2/layout/IconCircleList"/>
    <dgm:cxn modelId="{B0D5D9EE-704B-4146-9123-0665528B4B1A}" type="presParOf" srcId="{B8F26EBA-A316-44B2-8649-F1DA432CC7B3}" destId="{89716A2C-D79B-485F-B544-2A62BB55E148}" srcOrd="0" destOrd="0" presId="urn:microsoft.com/office/officeart/2018/2/layout/IconCircleList"/>
    <dgm:cxn modelId="{BB04B1EA-F54D-48B4-8CB4-6E94DFC2346E}" type="presParOf" srcId="{89716A2C-D79B-485F-B544-2A62BB55E148}" destId="{0D4FDF31-C6B9-48E5-B0ED-78C978A63E80}" srcOrd="0" destOrd="0" presId="urn:microsoft.com/office/officeart/2018/2/layout/IconCircleList"/>
    <dgm:cxn modelId="{6870F64C-5D1B-49AD-A7B6-397EE413DBBD}" type="presParOf" srcId="{89716A2C-D79B-485F-B544-2A62BB55E148}" destId="{A049E044-D928-4538-B691-2EB80006E4A8}" srcOrd="1" destOrd="0" presId="urn:microsoft.com/office/officeart/2018/2/layout/IconCircleList"/>
    <dgm:cxn modelId="{4D211D88-D15F-45B1-AD9D-1CF4A7F0FA73}" type="presParOf" srcId="{89716A2C-D79B-485F-B544-2A62BB55E148}" destId="{17811389-8F5F-4353-B280-822EB5B2A82B}" srcOrd="2" destOrd="0" presId="urn:microsoft.com/office/officeart/2018/2/layout/IconCircleList"/>
    <dgm:cxn modelId="{E773E92A-C5A6-458E-BD9C-F4071351D943}" type="presParOf" srcId="{89716A2C-D79B-485F-B544-2A62BB55E148}" destId="{EF0626D3-806C-4517-A81E-6B36EB3B4C79}" srcOrd="3" destOrd="0" presId="urn:microsoft.com/office/officeart/2018/2/layout/IconCircleList"/>
    <dgm:cxn modelId="{304B808C-6AAC-49EF-9C66-EBAAF41B4B30}" type="presParOf" srcId="{B8F26EBA-A316-44B2-8649-F1DA432CC7B3}" destId="{42D1602E-4DD9-46D7-A19F-E4178D9D769B}" srcOrd="1" destOrd="0" presId="urn:microsoft.com/office/officeart/2018/2/layout/IconCircleList"/>
    <dgm:cxn modelId="{5CAEA09A-9483-4CAC-8B5A-1865787D4099}" type="presParOf" srcId="{B8F26EBA-A316-44B2-8649-F1DA432CC7B3}" destId="{75B5D87A-2E60-4F03-9FCF-FCB2C6BB5C34}" srcOrd="2" destOrd="0" presId="urn:microsoft.com/office/officeart/2018/2/layout/IconCircleList"/>
    <dgm:cxn modelId="{42309A5D-4578-4B56-939D-59DA39CED031}" type="presParOf" srcId="{75B5D87A-2E60-4F03-9FCF-FCB2C6BB5C34}" destId="{17E5CD30-73FD-4EFE-A0C2-2B1F171F9920}" srcOrd="0" destOrd="0" presId="urn:microsoft.com/office/officeart/2018/2/layout/IconCircleList"/>
    <dgm:cxn modelId="{A19746F5-B292-464F-961B-2F48B0276C1A}" type="presParOf" srcId="{75B5D87A-2E60-4F03-9FCF-FCB2C6BB5C34}" destId="{703E82C1-E76C-4D12-978C-6B1C1597202C}" srcOrd="1" destOrd="0" presId="urn:microsoft.com/office/officeart/2018/2/layout/IconCircleList"/>
    <dgm:cxn modelId="{AC34745D-C7E1-42D2-A0B5-1DD12D1CBCEB}" type="presParOf" srcId="{75B5D87A-2E60-4F03-9FCF-FCB2C6BB5C34}" destId="{9796CC54-8A6B-4B26-83CC-99ABB1BD1767}" srcOrd="2" destOrd="0" presId="urn:microsoft.com/office/officeart/2018/2/layout/IconCircleList"/>
    <dgm:cxn modelId="{21E697C6-966D-43A4-AB9F-166BD7F134A6}" type="presParOf" srcId="{75B5D87A-2E60-4F03-9FCF-FCB2C6BB5C34}" destId="{DAA863B0-7718-499B-BE88-4E04FD950FC7}" srcOrd="3" destOrd="0" presId="urn:microsoft.com/office/officeart/2018/2/layout/IconCircleList"/>
    <dgm:cxn modelId="{7FCCA42A-6ED4-433F-9313-32B6B251B1FF}" type="presParOf" srcId="{B8F26EBA-A316-44B2-8649-F1DA432CC7B3}" destId="{58B4CA90-4768-4A7E-9599-C42AD51BD1E5}" srcOrd="3" destOrd="0" presId="urn:microsoft.com/office/officeart/2018/2/layout/IconCircleList"/>
    <dgm:cxn modelId="{89887CA2-311E-4BA7-BB43-A29437D6F304}" type="presParOf" srcId="{B8F26EBA-A316-44B2-8649-F1DA432CC7B3}" destId="{082D319E-B361-425D-953E-10CB99E76BD0}" srcOrd="4" destOrd="0" presId="urn:microsoft.com/office/officeart/2018/2/layout/IconCircleList"/>
    <dgm:cxn modelId="{95098A5C-228E-4B27-804E-F6B39BD1B96E}" type="presParOf" srcId="{082D319E-B361-425D-953E-10CB99E76BD0}" destId="{E53D7F12-C105-4964-8914-246498EFD2D1}" srcOrd="0" destOrd="0" presId="urn:microsoft.com/office/officeart/2018/2/layout/IconCircleList"/>
    <dgm:cxn modelId="{BDF3AF00-B076-4158-AF38-B85AB6A86D1A}" type="presParOf" srcId="{082D319E-B361-425D-953E-10CB99E76BD0}" destId="{4F0B5E51-FA57-414C-BF33-90666F3C38AA}" srcOrd="1" destOrd="0" presId="urn:microsoft.com/office/officeart/2018/2/layout/IconCircleList"/>
    <dgm:cxn modelId="{1C7D9831-C856-4E8E-A257-B24A529B63A6}" type="presParOf" srcId="{082D319E-B361-425D-953E-10CB99E76BD0}" destId="{31984EA1-1AD7-4C38-B1AF-2D1B8A20A581}" srcOrd="2" destOrd="0" presId="urn:microsoft.com/office/officeart/2018/2/layout/IconCircleList"/>
    <dgm:cxn modelId="{DEA3BE29-A1E6-47DF-B83F-4639ACCAFDA9}" type="presParOf" srcId="{082D319E-B361-425D-953E-10CB99E76BD0}" destId="{4598109B-05DE-45D9-8D7D-D464AF1DB260}" srcOrd="3" destOrd="0" presId="urn:microsoft.com/office/officeart/2018/2/layout/IconCircleList"/>
    <dgm:cxn modelId="{B998FA75-2146-4ECF-9185-02C5107DC152}" type="presParOf" srcId="{B8F26EBA-A316-44B2-8649-F1DA432CC7B3}" destId="{3B36F0BF-ACD2-40BA-90BF-D63182AE4226}" srcOrd="5" destOrd="0" presId="urn:microsoft.com/office/officeart/2018/2/layout/IconCircleList"/>
    <dgm:cxn modelId="{381CF097-FFBE-4AAE-BD80-948AD645A158}" type="presParOf" srcId="{B8F26EBA-A316-44B2-8649-F1DA432CC7B3}" destId="{3098EEB7-D2FC-4DE5-A5D4-EAE8A6935342}" srcOrd="6" destOrd="0" presId="urn:microsoft.com/office/officeart/2018/2/layout/IconCircleList"/>
    <dgm:cxn modelId="{093862A7-BC44-47DA-99DE-9DBC8E74C057}" type="presParOf" srcId="{3098EEB7-D2FC-4DE5-A5D4-EAE8A6935342}" destId="{015C3FFF-5DE1-4869-95B5-3515113A7CE6}" srcOrd="0" destOrd="0" presId="urn:microsoft.com/office/officeart/2018/2/layout/IconCircleList"/>
    <dgm:cxn modelId="{C18D3F65-3730-431D-A7C4-EC14C1B8E1A3}" type="presParOf" srcId="{3098EEB7-D2FC-4DE5-A5D4-EAE8A6935342}" destId="{5EE16E1E-CEBD-417C-A14B-E8DF1EB17294}" srcOrd="1" destOrd="0" presId="urn:microsoft.com/office/officeart/2018/2/layout/IconCircleList"/>
    <dgm:cxn modelId="{105A024A-0685-4BA1-BD54-8BD2F47684ED}" type="presParOf" srcId="{3098EEB7-D2FC-4DE5-A5D4-EAE8A6935342}" destId="{E2163B55-EB77-4414-8B05-E06BDFAF84A0}" srcOrd="2" destOrd="0" presId="urn:microsoft.com/office/officeart/2018/2/layout/IconCircleList"/>
    <dgm:cxn modelId="{CF8072D3-AC6D-47D1-B698-B1A1E315DE7A}" type="presParOf" srcId="{3098EEB7-D2FC-4DE5-A5D4-EAE8A6935342}" destId="{122F1D14-13B8-4268-969B-EC906F6D2B1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BEB6A6-727D-4ED1-90DF-6BB9352193D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3B8F59-8782-4FB4-BFF7-D7636212075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 Analytics Dashboard</a:t>
          </a:r>
        </a:p>
      </dgm:t>
    </dgm:pt>
    <dgm:pt modelId="{D0517087-D0DE-4207-8FAD-66E8836138B8}" type="parTrans" cxnId="{7E064A0B-A579-4C5F-895B-0F9A443ABB3B}">
      <dgm:prSet/>
      <dgm:spPr/>
      <dgm:t>
        <a:bodyPr/>
        <a:lstStyle/>
        <a:p>
          <a:endParaRPr lang="en-US"/>
        </a:p>
      </dgm:t>
    </dgm:pt>
    <dgm:pt modelId="{6E066054-BEAB-4BDC-A582-A0E0E34D4D54}" type="sibTrans" cxnId="{7E064A0B-A579-4C5F-895B-0F9A443ABB3B}">
      <dgm:prSet/>
      <dgm:spPr/>
      <dgm:t>
        <a:bodyPr/>
        <a:lstStyle/>
        <a:p>
          <a:endParaRPr lang="en-US"/>
        </a:p>
      </dgm:t>
    </dgm:pt>
    <dgm:pt modelId="{403BF13F-6FC5-4FD5-863F-6ECD7E32F2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Integrate with Amazon QuickSight or Grafana for live visualization of streaming data.</a:t>
          </a:r>
        </a:p>
      </dgm:t>
    </dgm:pt>
    <dgm:pt modelId="{BFF4D87E-9DDD-45DC-B2B2-39D9A6BA01FF}" type="parTrans" cxnId="{92732FA9-5802-4FF6-829E-901BF4D799AE}">
      <dgm:prSet/>
      <dgm:spPr/>
      <dgm:t>
        <a:bodyPr/>
        <a:lstStyle/>
        <a:p>
          <a:endParaRPr lang="en-US"/>
        </a:p>
      </dgm:t>
    </dgm:pt>
    <dgm:pt modelId="{832D82C7-F64D-4C8D-8AB3-FFE1E2ACF376}" type="sibTrans" cxnId="{92732FA9-5802-4FF6-829E-901BF4D799AE}">
      <dgm:prSet/>
      <dgm:spPr/>
      <dgm:t>
        <a:bodyPr/>
        <a:lstStyle/>
        <a:p>
          <a:endParaRPr lang="en-US"/>
        </a:p>
      </dgm:t>
    </dgm:pt>
    <dgm:pt modelId="{60185A80-1092-431F-8D9E-0798FFF448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Quality &amp; Validation Layer</a:t>
          </a:r>
        </a:p>
      </dgm:t>
    </dgm:pt>
    <dgm:pt modelId="{07E4088D-26B5-4BCE-B782-9D0CB8BA4959}" type="parTrans" cxnId="{40849BD8-F2A4-4B86-887F-5E0ED4121391}">
      <dgm:prSet/>
      <dgm:spPr/>
      <dgm:t>
        <a:bodyPr/>
        <a:lstStyle/>
        <a:p>
          <a:endParaRPr lang="en-US"/>
        </a:p>
      </dgm:t>
    </dgm:pt>
    <dgm:pt modelId="{D2225306-CCCA-4C4D-B19B-9E0A42C88DD2}" type="sibTrans" cxnId="{40849BD8-F2A4-4B86-887F-5E0ED4121391}">
      <dgm:prSet/>
      <dgm:spPr/>
      <dgm:t>
        <a:bodyPr/>
        <a:lstStyle/>
        <a:p>
          <a:endParaRPr lang="en-US"/>
        </a:p>
      </dgm:t>
    </dgm:pt>
    <dgm:pt modelId="{52FB958B-8448-49AB-ACBB-330D56FCFE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AWS Lambda or Glue triggers to validate and cleanse data before storage.</a:t>
          </a:r>
        </a:p>
      </dgm:t>
    </dgm:pt>
    <dgm:pt modelId="{1C8D3003-E1A6-4AFC-889F-9221EE45B6C6}" type="parTrans" cxnId="{844DE9FE-2E77-4276-A794-8CE4D238D1F9}">
      <dgm:prSet/>
      <dgm:spPr/>
      <dgm:t>
        <a:bodyPr/>
        <a:lstStyle/>
        <a:p>
          <a:endParaRPr lang="en-US"/>
        </a:p>
      </dgm:t>
    </dgm:pt>
    <dgm:pt modelId="{7B25F95F-7A90-49BE-AACC-91BEDD795BE1}" type="sibTrans" cxnId="{844DE9FE-2E77-4276-A794-8CE4D238D1F9}">
      <dgm:prSet/>
      <dgm:spPr/>
      <dgm:t>
        <a:bodyPr/>
        <a:lstStyle/>
        <a:p>
          <a:endParaRPr lang="en-US"/>
        </a:p>
      </dgm:t>
    </dgm:pt>
    <dgm:pt modelId="{5D60B4A0-D381-446C-A827-117C8A5324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Scalable Multi-Stream Integration</a:t>
          </a:r>
        </a:p>
      </dgm:t>
    </dgm:pt>
    <dgm:pt modelId="{D02EE5CB-E74B-4D03-81A1-98A56D198777}" type="parTrans" cxnId="{6FBA292E-B45C-4326-B1F5-BD076C039F1E}">
      <dgm:prSet/>
      <dgm:spPr/>
      <dgm:t>
        <a:bodyPr/>
        <a:lstStyle/>
        <a:p>
          <a:endParaRPr lang="en-US"/>
        </a:p>
      </dgm:t>
    </dgm:pt>
    <dgm:pt modelId="{BFAA7B3F-565B-4F44-9914-DB2741D0385B}" type="sibTrans" cxnId="{6FBA292E-B45C-4326-B1F5-BD076C039F1E}">
      <dgm:prSet/>
      <dgm:spPr/>
      <dgm:t>
        <a:bodyPr/>
        <a:lstStyle/>
        <a:p>
          <a:endParaRPr lang="en-US"/>
        </a:p>
      </dgm:t>
    </dgm:pt>
    <dgm:pt modelId="{6EA0F777-8F4E-4E58-9D01-E0CEEB10C7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Extend the pipeline to handle multiple Kinesis streams for different data sources or applications.</a:t>
          </a:r>
        </a:p>
      </dgm:t>
    </dgm:pt>
    <dgm:pt modelId="{C5A5FC7A-C30C-4FDA-8E1C-8A37CCF37954}" type="parTrans" cxnId="{677D5BD8-DE50-44F9-8377-47238E760863}">
      <dgm:prSet/>
      <dgm:spPr/>
      <dgm:t>
        <a:bodyPr/>
        <a:lstStyle/>
        <a:p>
          <a:endParaRPr lang="en-US"/>
        </a:p>
      </dgm:t>
    </dgm:pt>
    <dgm:pt modelId="{5948E49C-37FB-4E2E-9DCD-B0DC2878AF13}" type="sibTrans" cxnId="{677D5BD8-DE50-44F9-8377-47238E760863}">
      <dgm:prSet/>
      <dgm:spPr/>
      <dgm:t>
        <a:bodyPr/>
        <a:lstStyle/>
        <a:p>
          <a:endParaRPr lang="en-US"/>
        </a:p>
      </dgm:t>
    </dgm:pt>
    <dgm:pt modelId="{313A786B-827A-4104-8755-896AD4ECED5A}" type="pres">
      <dgm:prSet presAssocID="{08BEB6A6-727D-4ED1-90DF-6BB9352193D0}" presName="root" presStyleCnt="0">
        <dgm:presLayoutVars>
          <dgm:dir/>
          <dgm:resizeHandles val="exact"/>
        </dgm:presLayoutVars>
      </dgm:prSet>
      <dgm:spPr/>
    </dgm:pt>
    <dgm:pt modelId="{4982CD7F-4CE3-4F55-BE10-5C1B166A215C}" type="pres">
      <dgm:prSet presAssocID="{933B8F59-8782-4FB4-BFF7-D76362120757}" presName="compNode" presStyleCnt="0"/>
      <dgm:spPr/>
    </dgm:pt>
    <dgm:pt modelId="{C4FF63E9-5F1F-4FAB-9A7A-6C42E18AC262}" type="pres">
      <dgm:prSet presAssocID="{933B8F59-8782-4FB4-BFF7-D76362120757}" presName="bgRect" presStyleLbl="bgShp" presStyleIdx="0" presStyleCnt="3"/>
      <dgm:spPr/>
    </dgm:pt>
    <dgm:pt modelId="{95D8A666-C23B-4F7B-A08C-DF6FF04EAC39}" type="pres">
      <dgm:prSet presAssocID="{933B8F59-8782-4FB4-BFF7-D7636212075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34C92198-022F-4EC4-8A8F-CA51472946F6}" type="pres">
      <dgm:prSet presAssocID="{933B8F59-8782-4FB4-BFF7-D76362120757}" presName="spaceRect" presStyleCnt="0"/>
      <dgm:spPr/>
    </dgm:pt>
    <dgm:pt modelId="{803F1622-BD80-4AD4-B0F3-F68EF1942DF4}" type="pres">
      <dgm:prSet presAssocID="{933B8F59-8782-4FB4-BFF7-D76362120757}" presName="parTx" presStyleLbl="revTx" presStyleIdx="0" presStyleCnt="6">
        <dgm:presLayoutVars>
          <dgm:chMax val="0"/>
          <dgm:chPref val="0"/>
        </dgm:presLayoutVars>
      </dgm:prSet>
      <dgm:spPr/>
    </dgm:pt>
    <dgm:pt modelId="{9F005783-6DD3-46AE-B883-F7C94ABD5FD8}" type="pres">
      <dgm:prSet presAssocID="{933B8F59-8782-4FB4-BFF7-D76362120757}" presName="desTx" presStyleLbl="revTx" presStyleIdx="1" presStyleCnt="6">
        <dgm:presLayoutVars/>
      </dgm:prSet>
      <dgm:spPr/>
    </dgm:pt>
    <dgm:pt modelId="{55F94E87-433C-40C2-AF1D-93124FA06DDC}" type="pres">
      <dgm:prSet presAssocID="{6E066054-BEAB-4BDC-A582-A0E0E34D4D54}" presName="sibTrans" presStyleCnt="0"/>
      <dgm:spPr/>
    </dgm:pt>
    <dgm:pt modelId="{3D1E7F56-69D3-476E-89EA-72D44C1B0365}" type="pres">
      <dgm:prSet presAssocID="{60185A80-1092-431F-8D9E-0798FFF4488C}" presName="compNode" presStyleCnt="0"/>
      <dgm:spPr/>
    </dgm:pt>
    <dgm:pt modelId="{6B71FFC4-CE36-4402-A5ED-BCA0DFDE9DD6}" type="pres">
      <dgm:prSet presAssocID="{60185A80-1092-431F-8D9E-0798FFF4488C}" presName="bgRect" presStyleLbl="bgShp" presStyleIdx="1" presStyleCnt="3"/>
      <dgm:spPr/>
    </dgm:pt>
    <dgm:pt modelId="{6B764724-530D-4D2B-8463-56E26C35CC87}" type="pres">
      <dgm:prSet presAssocID="{60185A80-1092-431F-8D9E-0798FFF4488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FE9F861-22DE-48AA-8B7F-8799C9EB5FEA}" type="pres">
      <dgm:prSet presAssocID="{60185A80-1092-431F-8D9E-0798FFF4488C}" presName="spaceRect" presStyleCnt="0"/>
      <dgm:spPr/>
    </dgm:pt>
    <dgm:pt modelId="{EE1031B8-823A-4B9A-B77B-9BE9A00D4EBC}" type="pres">
      <dgm:prSet presAssocID="{60185A80-1092-431F-8D9E-0798FFF4488C}" presName="parTx" presStyleLbl="revTx" presStyleIdx="2" presStyleCnt="6">
        <dgm:presLayoutVars>
          <dgm:chMax val="0"/>
          <dgm:chPref val="0"/>
        </dgm:presLayoutVars>
      </dgm:prSet>
      <dgm:spPr/>
    </dgm:pt>
    <dgm:pt modelId="{21F28D03-155A-4071-9D67-5C47B793C9F4}" type="pres">
      <dgm:prSet presAssocID="{60185A80-1092-431F-8D9E-0798FFF4488C}" presName="desTx" presStyleLbl="revTx" presStyleIdx="3" presStyleCnt="6">
        <dgm:presLayoutVars/>
      </dgm:prSet>
      <dgm:spPr/>
    </dgm:pt>
    <dgm:pt modelId="{21B53566-331F-4C04-975D-60222F312368}" type="pres">
      <dgm:prSet presAssocID="{D2225306-CCCA-4C4D-B19B-9E0A42C88DD2}" presName="sibTrans" presStyleCnt="0"/>
      <dgm:spPr/>
    </dgm:pt>
    <dgm:pt modelId="{DDDB6F32-820A-4307-8BF3-7E467F913DA2}" type="pres">
      <dgm:prSet presAssocID="{5D60B4A0-D381-446C-A827-117C8A5324FF}" presName="compNode" presStyleCnt="0"/>
      <dgm:spPr/>
    </dgm:pt>
    <dgm:pt modelId="{2AAA2690-4507-4EA5-B927-A87C17036440}" type="pres">
      <dgm:prSet presAssocID="{5D60B4A0-D381-446C-A827-117C8A5324FF}" presName="bgRect" presStyleLbl="bgShp" presStyleIdx="2" presStyleCnt="3"/>
      <dgm:spPr/>
    </dgm:pt>
    <dgm:pt modelId="{44244ED6-3982-4A4D-BA06-0F61B295B612}" type="pres">
      <dgm:prSet presAssocID="{5D60B4A0-D381-446C-A827-117C8A5324F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A820A93-9C57-4155-B082-275128D9E7D0}" type="pres">
      <dgm:prSet presAssocID="{5D60B4A0-D381-446C-A827-117C8A5324FF}" presName="spaceRect" presStyleCnt="0"/>
      <dgm:spPr/>
    </dgm:pt>
    <dgm:pt modelId="{00188DA9-03B3-49F9-A18A-BA6D97A9B477}" type="pres">
      <dgm:prSet presAssocID="{5D60B4A0-D381-446C-A827-117C8A5324FF}" presName="parTx" presStyleLbl="revTx" presStyleIdx="4" presStyleCnt="6">
        <dgm:presLayoutVars>
          <dgm:chMax val="0"/>
          <dgm:chPref val="0"/>
        </dgm:presLayoutVars>
      </dgm:prSet>
      <dgm:spPr/>
    </dgm:pt>
    <dgm:pt modelId="{117A92CF-0D0C-44D9-B3E1-C1C9F8F54276}" type="pres">
      <dgm:prSet presAssocID="{5D60B4A0-D381-446C-A827-117C8A5324FF}" presName="desTx" presStyleLbl="revTx" presStyleIdx="5" presStyleCnt="6">
        <dgm:presLayoutVars/>
      </dgm:prSet>
      <dgm:spPr/>
    </dgm:pt>
  </dgm:ptLst>
  <dgm:cxnLst>
    <dgm:cxn modelId="{7E064A0B-A579-4C5F-895B-0F9A443ABB3B}" srcId="{08BEB6A6-727D-4ED1-90DF-6BB9352193D0}" destId="{933B8F59-8782-4FB4-BFF7-D76362120757}" srcOrd="0" destOrd="0" parTransId="{D0517087-D0DE-4207-8FAD-66E8836138B8}" sibTransId="{6E066054-BEAB-4BDC-A582-A0E0E34D4D54}"/>
    <dgm:cxn modelId="{06346720-FF34-414B-81C0-16ED0196B938}" type="presOf" srcId="{52FB958B-8448-49AB-ACBB-330D56FCFE6B}" destId="{21F28D03-155A-4071-9D67-5C47B793C9F4}" srcOrd="0" destOrd="0" presId="urn:microsoft.com/office/officeart/2018/2/layout/IconVerticalSolidList"/>
    <dgm:cxn modelId="{6FBA292E-B45C-4326-B1F5-BD076C039F1E}" srcId="{08BEB6A6-727D-4ED1-90DF-6BB9352193D0}" destId="{5D60B4A0-D381-446C-A827-117C8A5324FF}" srcOrd="2" destOrd="0" parTransId="{D02EE5CB-E74B-4D03-81A1-98A56D198777}" sibTransId="{BFAA7B3F-565B-4F44-9914-DB2741D0385B}"/>
    <dgm:cxn modelId="{EE98CF66-7984-428F-A985-B4F7178D182B}" type="presOf" srcId="{403BF13F-6FC5-4FD5-863F-6ECD7E32F200}" destId="{9F005783-6DD3-46AE-B883-F7C94ABD5FD8}" srcOrd="0" destOrd="0" presId="urn:microsoft.com/office/officeart/2018/2/layout/IconVerticalSolidList"/>
    <dgm:cxn modelId="{3B90B450-E20B-4940-AA9A-C0EA516B7540}" type="presOf" srcId="{60185A80-1092-431F-8D9E-0798FFF4488C}" destId="{EE1031B8-823A-4B9A-B77B-9BE9A00D4EBC}" srcOrd="0" destOrd="0" presId="urn:microsoft.com/office/officeart/2018/2/layout/IconVerticalSolidList"/>
    <dgm:cxn modelId="{92732FA9-5802-4FF6-829E-901BF4D799AE}" srcId="{933B8F59-8782-4FB4-BFF7-D76362120757}" destId="{403BF13F-6FC5-4FD5-863F-6ECD7E32F200}" srcOrd="0" destOrd="0" parTransId="{BFF4D87E-9DDD-45DC-B2B2-39D9A6BA01FF}" sibTransId="{832D82C7-F64D-4C8D-8AB3-FFE1E2ACF376}"/>
    <dgm:cxn modelId="{1CD39BBA-FE48-4A7D-8318-E3F36464E49A}" type="presOf" srcId="{08BEB6A6-727D-4ED1-90DF-6BB9352193D0}" destId="{313A786B-827A-4104-8755-896AD4ECED5A}" srcOrd="0" destOrd="0" presId="urn:microsoft.com/office/officeart/2018/2/layout/IconVerticalSolidList"/>
    <dgm:cxn modelId="{EDBB39C4-CC96-41AE-9D31-EE76C27EFC24}" type="presOf" srcId="{6EA0F777-8F4E-4E58-9D01-E0CEEB10C7D8}" destId="{117A92CF-0D0C-44D9-B3E1-C1C9F8F54276}" srcOrd="0" destOrd="0" presId="urn:microsoft.com/office/officeart/2018/2/layout/IconVerticalSolidList"/>
    <dgm:cxn modelId="{651474C6-3CAC-467A-873C-BE7790EC37AF}" type="presOf" srcId="{933B8F59-8782-4FB4-BFF7-D76362120757}" destId="{803F1622-BD80-4AD4-B0F3-F68EF1942DF4}" srcOrd="0" destOrd="0" presId="urn:microsoft.com/office/officeart/2018/2/layout/IconVerticalSolidList"/>
    <dgm:cxn modelId="{F9A6F9D2-C0D6-445A-BE67-2936E0F5E0CF}" type="presOf" srcId="{5D60B4A0-D381-446C-A827-117C8A5324FF}" destId="{00188DA9-03B3-49F9-A18A-BA6D97A9B477}" srcOrd="0" destOrd="0" presId="urn:microsoft.com/office/officeart/2018/2/layout/IconVerticalSolidList"/>
    <dgm:cxn modelId="{677D5BD8-DE50-44F9-8377-47238E760863}" srcId="{5D60B4A0-D381-446C-A827-117C8A5324FF}" destId="{6EA0F777-8F4E-4E58-9D01-E0CEEB10C7D8}" srcOrd="0" destOrd="0" parTransId="{C5A5FC7A-C30C-4FDA-8E1C-8A37CCF37954}" sibTransId="{5948E49C-37FB-4E2E-9DCD-B0DC2878AF13}"/>
    <dgm:cxn modelId="{40849BD8-F2A4-4B86-887F-5E0ED4121391}" srcId="{08BEB6A6-727D-4ED1-90DF-6BB9352193D0}" destId="{60185A80-1092-431F-8D9E-0798FFF4488C}" srcOrd="1" destOrd="0" parTransId="{07E4088D-26B5-4BCE-B782-9D0CB8BA4959}" sibTransId="{D2225306-CCCA-4C4D-B19B-9E0A42C88DD2}"/>
    <dgm:cxn modelId="{844DE9FE-2E77-4276-A794-8CE4D238D1F9}" srcId="{60185A80-1092-431F-8D9E-0798FFF4488C}" destId="{52FB958B-8448-49AB-ACBB-330D56FCFE6B}" srcOrd="0" destOrd="0" parTransId="{1C8D3003-E1A6-4AFC-889F-9221EE45B6C6}" sibTransId="{7B25F95F-7A90-49BE-AACC-91BEDD795BE1}"/>
    <dgm:cxn modelId="{BE335CF3-3D96-4AE8-B85D-D80E0D41D887}" type="presParOf" srcId="{313A786B-827A-4104-8755-896AD4ECED5A}" destId="{4982CD7F-4CE3-4F55-BE10-5C1B166A215C}" srcOrd="0" destOrd="0" presId="urn:microsoft.com/office/officeart/2018/2/layout/IconVerticalSolidList"/>
    <dgm:cxn modelId="{46A72F58-ADBF-45F1-BFE6-B1A75A46CA6A}" type="presParOf" srcId="{4982CD7F-4CE3-4F55-BE10-5C1B166A215C}" destId="{C4FF63E9-5F1F-4FAB-9A7A-6C42E18AC262}" srcOrd="0" destOrd="0" presId="urn:microsoft.com/office/officeart/2018/2/layout/IconVerticalSolidList"/>
    <dgm:cxn modelId="{598341CF-D98D-4478-B35B-23AAB1E3A0A8}" type="presParOf" srcId="{4982CD7F-4CE3-4F55-BE10-5C1B166A215C}" destId="{95D8A666-C23B-4F7B-A08C-DF6FF04EAC39}" srcOrd="1" destOrd="0" presId="urn:microsoft.com/office/officeart/2018/2/layout/IconVerticalSolidList"/>
    <dgm:cxn modelId="{008EFBE5-A12F-4B1F-8A3C-EB22F5F2FF21}" type="presParOf" srcId="{4982CD7F-4CE3-4F55-BE10-5C1B166A215C}" destId="{34C92198-022F-4EC4-8A8F-CA51472946F6}" srcOrd="2" destOrd="0" presId="urn:microsoft.com/office/officeart/2018/2/layout/IconVerticalSolidList"/>
    <dgm:cxn modelId="{8F3FEC61-15CD-4EF9-AA94-F80917BC4697}" type="presParOf" srcId="{4982CD7F-4CE3-4F55-BE10-5C1B166A215C}" destId="{803F1622-BD80-4AD4-B0F3-F68EF1942DF4}" srcOrd="3" destOrd="0" presId="urn:microsoft.com/office/officeart/2018/2/layout/IconVerticalSolidList"/>
    <dgm:cxn modelId="{B7CA554C-071E-434D-8E5B-DB0D93EDDE79}" type="presParOf" srcId="{4982CD7F-4CE3-4F55-BE10-5C1B166A215C}" destId="{9F005783-6DD3-46AE-B883-F7C94ABD5FD8}" srcOrd="4" destOrd="0" presId="urn:microsoft.com/office/officeart/2018/2/layout/IconVerticalSolidList"/>
    <dgm:cxn modelId="{9B324099-2112-44E4-9A74-4CB88E4B5007}" type="presParOf" srcId="{313A786B-827A-4104-8755-896AD4ECED5A}" destId="{55F94E87-433C-40C2-AF1D-93124FA06DDC}" srcOrd="1" destOrd="0" presId="urn:microsoft.com/office/officeart/2018/2/layout/IconVerticalSolidList"/>
    <dgm:cxn modelId="{A167DFD5-6986-4684-BE39-588DE0B661C0}" type="presParOf" srcId="{313A786B-827A-4104-8755-896AD4ECED5A}" destId="{3D1E7F56-69D3-476E-89EA-72D44C1B0365}" srcOrd="2" destOrd="0" presId="urn:microsoft.com/office/officeart/2018/2/layout/IconVerticalSolidList"/>
    <dgm:cxn modelId="{D83F2908-CE9E-41A9-9584-964BA2DED22C}" type="presParOf" srcId="{3D1E7F56-69D3-476E-89EA-72D44C1B0365}" destId="{6B71FFC4-CE36-4402-A5ED-BCA0DFDE9DD6}" srcOrd="0" destOrd="0" presId="urn:microsoft.com/office/officeart/2018/2/layout/IconVerticalSolidList"/>
    <dgm:cxn modelId="{A105DB51-0274-41DB-B07E-42FE5776B84B}" type="presParOf" srcId="{3D1E7F56-69D3-476E-89EA-72D44C1B0365}" destId="{6B764724-530D-4D2B-8463-56E26C35CC87}" srcOrd="1" destOrd="0" presId="urn:microsoft.com/office/officeart/2018/2/layout/IconVerticalSolidList"/>
    <dgm:cxn modelId="{6AF7106E-3FFC-430C-811A-ABCF72599C69}" type="presParOf" srcId="{3D1E7F56-69D3-476E-89EA-72D44C1B0365}" destId="{3FE9F861-22DE-48AA-8B7F-8799C9EB5FEA}" srcOrd="2" destOrd="0" presId="urn:microsoft.com/office/officeart/2018/2/layout/IconVerticalSolidList"/>
    <dgm:cxn modelId="{E5D613A9-8AEC-40C3-8517-BC4A71CBD2B2}" type="presParOf" srcId="{3D1E7F56-69D3-476E-89EA-72D44C1B0365}" destId="{EE1031B8-823A-4B9A-B77B-9BE9A00D4EBC}" srcOrd="3" destOrd="0" presId="urn:microsoft.com/office/officeart/2018/2/layout/IconVerticalSolidList"/>
    <dgm:cxn modelId="{8FA5AFAC-8A50-43CE-94D1-EFDA4D5BBFE3}" type="presParOf" srcId="{3D1E7F56-69D3-476E-89EA-72D44C1B0365}" destId="{21F28D03-155A-4071-9D67-5C47B793C9F4}" srcOrd="4" destOrd="0" presId="urn:microsoft.com/office/officeart/2018/2/layout/IconVerticalSolidList"/>
    <dgm:cxn modelId="{2655436D-EEBD-42C3-BC6B-E1EDC66040A1}" type="presParOf" srcId="{313A786B-827A-4104-8755-896AD4ECED5A}" destId="{21B53566-331F-4C04-975D-60222F312368}" srcOrd="3" destOrd="0" presId="urn:microsoft.com/office/officeart/2018/2/layout/IconVerticalSolidList"/>
    <dgm:cxn modelId="{FC8A7A3B-5C0B-44AB-AF57-A4C850381876}" type="presParOf" srcId="{313A786B-827A-4104-8755-896AD4ECED5A}" destId="{DDDB6F32-820A-4307-8BF3-7E467F913DA2}" srcOrd="4" destOrd="0" presId="urn:microsoft.com/office/officeart/2018/2/layout/IconVerticalSolidList"/>
    <dgm:cxn modelId="{5BF20302-CF5F-4DFF-B131-A2FB6CD00A4E}" type="presParOf" srcId="{DDDB6F32-820A-4307-8BF3-7E467F913DA2}" destId="{2AAA2690-4507-4EA5-B927-A87C17036440}" srcOrd="0" destOrd="0" presId="urn:microsoft.com/office/officeart/2018/2/layout/IconVerticalSolidList"/>
    <dgm:cxn modelId="{FE351213-B073-4420-8684-D93B01804EB7}" type="presParOf" srcId="{DDDB6F32-820A-4307-8BF3-7E467F913DA2}" destId="{44244ED6-3982-4A4D-BA06-0F61B295B612}" srcOrd="1" destOrd="0" presId="urn:microsoft.com/office/officeart/2018/2/layout/IconVerticalSolidList"/>
    <dgm:cxn modelId="{A0A8285A-5E5D-438D-A156-36757AAFF4E1}" type="presParOf" srcId="{DDDB6F32-820A-4307-8BF3-7E467F913DA2}" destId="{4A820A93-9C57-4155-B082-275128D9E7D0}" srcOrd="2" destOrd="0" presId="urn:microsoft.com/office/officeart/2018/2/layout/IconVerticalSolidList"/>
    <dgm:cxn modelId="{A44D20F7-85A4-4A91-A752-28212D029D9A}" type="presParOf" srcId="{DDDB6F32-820A-4307-8BF3-7E467F913DA2}" destId="{00188DA9-03B3-49F9-A18A-BA6D97A9B477}" srcOrd="3" destOrd="0" presId="urn:microsoft.com/office/officeart/2018/2/layout/IconVerticalSolidList"/>
    <dgm:cxn modelId="{1EE150D2-23EA-4B94-8ACF-8B5650A0FDED}" type="presParOf" srcId="{DDDB6F32-820A-4307-8BF3-7E467F913DA2}" destId="{117A92CF-0D0C-44D9-B3E1-C1C9F8F54276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4FDF31-C6B9-48E5-B0ED-78C978A63E80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49E044-D928-4538-B691-2EB80006E4A8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0626D3-806C-4517-A81E-6B36EB3B4C79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Developed a complete AWS streaming data pipeline using managed services.</a:t>
          </a:r>
        </a:p>
      </dsp:txBody>
      <dsp:txXfrm>
        <a:off x="1834517" y="469890"/>
        <a:ext cx="3148942" cy="1335915"/>
      </dsp:txXfrm>
    </dsp:sp>
    <dsp:sp modelId="{17E5CD30-73FD-4EFE-A0C2-2B1F171F9920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3E82C1-E76C-4D12-978C-6B1C1597202C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863B0-7718-499B-BE88-4E04FD950FC7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Improved understanding of real-time ETL architecture and stream processing with Spark.</a:t>
          </a:r>
        </a:p>
      </dsp:txBody>
      <dsp:txXfrm>
        <a:off x="7154322" y="469890"/>
        <a:ext cx="3148942" cy="1335915"/>
      </dsp:txXfrm>
    </dsp:sp>
    <dsp:sp modelId="{E53D7F12-C105-4964-8914-246498EFD2D1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B5E51-FA57-414C-BF33-90666F3C38AA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8109B-05DE-45D9-8D7D-D464AF1DB260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Gained deep hands-on experience with debugging, permissions, schema handling, and testing in both AWS and Docker.</a:t>
          </a:r>
        </a:p>
      </dsp:txBody>
      <dsp:txXfrm>
        <a:off x="1834517" y="2545532"/>
        <a:ext cx="3148942" cy="1335915"/>
      </dsp:txXfrm>
    </dsp:sp>
    <dsp:sp modelId="{015C3FFF-5DE1-4869-95B5-3515113A7CE6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E16E1E-CEBD-417C-A14B-E8DF1EB17294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2F1D14-13B8-4268-969B-EC906F6D2B1E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Ready to scale this pipeline for larger, real-time data workloads.</a:t>
          </a:r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FF63E9-5F1F-4FAB-9A7A-6C42E18AC262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8A666-C23B-4F7B-A08C-DF6FF04EAC39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3F1622-BD80-4AD4-B0F3-F68EF1942DF4}">
      <dsp:nvSpPr>
        <dsp:cNvPr id="0" name=""/>
        <dsp:cNvSpPr/>
      </dsp:nvSpPr>
      <dsp:spPr>
        <a:xfrm>
          <a:off x="1435590" y="53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Real-Time Analytics Dashboard</a:t>
          </a:r>
        </a:p>
      </dsp:txBody>
      <dsp:txXfrm>
        <a:off x="1435590" y="531"/>
        <a:ext cx="4732020" cy="1242935"/>
      </dsp:txXfrm>
    </dsp:sp>
    <dsp:sp modelId="{9F005783-6DD3-46AE-B883-F7C94ABD5FD8}">
      <dsp:nvSpPr>
        <dsp:cNvPr id="0" name=""/>
        <dsp:cNvSpPr/>
      </dsp:nvSpPr>
      <dsp:spPr>
        <a:xfrm>
          <a:off x="6167610" y="53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Integrate with Amazon QuickSight or Grafana for live visualization of streaming data.</a:t>
          </a:r>
        </a:p>
      </dsp:txBody>
      <dsp:txXfrm>
        <a:off x="6167610" y="531"/>
        <a:ext cx="4347989" cy="1242935"/>
      </dsp:txXfrm>
    </dsp:sp>
    <dsp:sp modelId="{6B71FFC4-CE36-4402-A5ED-BCA0DFDE9DD6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764724-530D-4D2B-8463-56E26C35CC87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1031B8-823A-4B9A-B77B-9BE9A00D4EBC}">
      <dsp:nvSpPr>
        <dsp:cNvPr id="0" name=""/>
        <dsp:cNvSpPr/>
      </dsp:nvSpPr>
      <dsp:spPr>
        <a:xfrm>
          <a:off x="1435590" y="155420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 Quality &amp; Validation Layer</a:t>
          </a:r>
        </a:p>
      </dsp:txBody>
      <dsp:txXfrm>
        <a:off x="1435590" y="1554201"/>
        <a:ext cx="4732020" cy="1242935"/>
      </dsp:txXfrm>
    </dsp:sp>
    <dsp:sp modelId="{21F28D03-155A-4071-9D67-5C47B793C9F4}">
      <dsp:nvSpPr>
        <dsp:cNvPr id="0" name=""/>
        <dsp:cNvSpPr/>
      </dsp:nvSpPr>
      <dsp:spPr>
        <a:xfrm>
          <a:off x="6167610" y="155420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 AWS Lambda or Glue triggers to validate and cleanse data before storage.</a:t>
          </a:r>
        </a:p>
      </dsp:txBody>
      <dsp:txXfrm>
        <a:off x="6167610" y="1554201"/>
        <a:ext cx="4347989" cy="1242935"/>
      </dsp:txXfrm>
    </dsp:sp>
    <dsp:sp modelId="{2AAA2690-4507-4EA5-B927-A87C17036440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44ED6-3982-4A4D-BA06-0F61B295B612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188DA9-03B3-49F9-A18A-BA6D97A9B477}">
      <dsp:nvSpPr>
        <dsp:cNvPr id="0" name=""/>
        <dsp:cNvSpPr/>
      </dsp:nvSpPr>
      <dsp:spPr>
        <a:xfrm>
          <a:off x="1435590" y="3107870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Scalable Multi-Stream Integration</a:t>
          </a:r>
        </a:p>
      </dsp:txBody>
      <dsp:txXfrm>
        <a:off x="1435590" y="3107870"/>
        <a:ext cx="4732020" cy="1242935"/>
      </dsp:txXfrm>
    </dsp:sp>
    <dsp:sp modelId="{117A92CF-0D0C-44D9-B3E1-C1C9F8F54276}">
      <dsp:nvSpPr>
        <dsp:cNvPr id="0" name=""/>
        <dsp:cNvSpPr/>
      </dsp:nvSpPr>
      <dsp:spPr>
        <a:xfrm>
          <a:off x="6167610" y="3107870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Extend the pipeline to handle multiple Kinesis streams for different data sources or applications.</a:t>
          </a:r>
        </a:p>
      </dsp:txBody>
      <dsp:txXfrm>
        <a:off x="6167610" y="3107870"/>
        <a:ext cx="434798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290A8-C7CA-4A86-92B0-CF43A115FDCB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B8D544-1094-44AC-945A-825F4ED59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Problem Statement</a:t>
            </a:r>
          </a:p>
          <a:p>
            <a:r>
              <a:rPr lang="en-GB" dirty="0"/>
              <a:t>Telecom companies receive millions of mobile signal and network logs every day — showing how users experience their network in different locations.</a:t>
            </a:r>
            <a:br>
              <a:rPr lang="en-GB" dirty="0"/>
            </a:br>
            <a:r>
              <a:rPr lang="en-GB" dirty="0"/>
              <a:t>However, </a:t>
            </a:r>
            <a:r>
              <a:rPr lang="en-GB" dirty="0" err="1"/>
              <a:t>analyzing</a:t>
            </a:r>
            <a:r>
              <a:rPr lang="en-GB" dirty="0"/>
              <a:t> this huge volume of data in </a:t>
            </a:r>
            <a:r>
              <a:rPr lang="en-GB" b="1" dirty="0"/>
              <a:t>real time</a:t>
            </a:r>
            <a:r>
              <a:rPr lang="en-GB" dirty="0"/>
              <a:t> is difficult.</a:t>
            </a:r>
            <a:br>
              <a:rPr lang="en-GB" dirty="0"/>
            </a:br>
            <a:r>
              <a:rPr lang="en-GB" dirty="0"/>
              <a:t>By the time reports are generated manually, </a:t>
            </a:r>
            <a:r>
              <a:rPr lang="en-GB" b="1" dirty="0"/>
              <a:t>network issues and outages are already affecting customers</a:t>
            </a:r>
            <a:r>
              <a:rPr lang="en-GB" dirty="0"/>
              <a:t>.</a:t>
            </a:r>
          </a:p>
          <a:p>
            <a:r>
              <a:rPr lang="en-GB" dirty="0"/>
              <a:t>Our challenge was to </a:t>
            </a:r>
            <a:r>
              <a:rPr lang="en-GB" b="1" dirty="0"/>
              <a:t>build a system that can process and </a:t>
            </a:r>
            <a:r>
              <a:rPr lang="en-GB" b="1" dirty="0" err="1"/>
              <a:t>analyze</a:t>
            </a:r>
            <a:r>
              <a:rPr lang="en-GB" b="1" dirty="0"/>
              <a:t> this data live</a:t>
            </a:r>
            <a:r>
              <a:rPr lang="en-GB" dirty="0"/>
              <a:t>, so that network performance problems can be detected and resolved faster.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b="1" dirty="0"/>
              <a:t>Use Case (Business Perspective)</a:t>
            </a:r>
          </a:p>
          <a:p>
            <a:r>
              <a:rPr lang="en-GB" dirty="0"/>
              <a:t>Imagine a telecom operator wants to </a:t>
            </a:r>
            <a:r>
              <a:rPr lang="en-GB" b="1" dirty="0"/>
              <a:t>monitor signal quality</a:t>
            </a:r>
            <a:r>
              <a:rPr lang="en-GB" dirty="0"/>
              <a:t> across different cities in real time.</a:t>
            </a:r>
            <a:br>
              <a:rPr lang="en-GB" dirty="0"/>
            </a:br>
            <a:r>
              <a:rPr lang="en-GB" dirty="0"/>
              <a:t>Our pipeline takes </a:t>
            </a:r>
            <a:r>
              <a:rPr lang="en-GB" b="1" dirty="0"/>
              <a:t>mobile network logs</a:t>
            </a:r>
            <a:r>
              <a:rPr lang="en-GB" dirty="0"/>
              <a:t> (like signal strength, GPS accuracy, and connection status) and processes them instantly using AWS services.</a:t>
            </a:r>
          </a:p>
          <a:p>
            <a:r>
              <a:rPr lang="en-GB" dirty="0"/>
              <a:t>The data is first </a:t>
            </a:r>
            <a:r>
              <a:rPr lang="en-GB" b="1" dirty="0"/>
              <a:t>streamed live</a:t>
            </a:r>
            <a:r>
              <a:rPr lang="en-GB" dirty="0"/>
              <a:t> from a simulated mobile log feed (as if coming from real users).</a:t>
            </a:r>
          </a:p>
          <a:p>
            <a:r>
              <a:rPr lang="en-GB" dirty="0"/>
              <a:t>It is then </a:t>
            </a:r>
            <a:r>
              <a:rPr lang="en-GB" b="1" dirty="0"/>
              <a:t>processed and cleaned automatically</a:t>
            </a:r>
            <a:r>
              <a:rPr lang="en-GB" dirty="0"/>
              <a:t> using AWS Glue (ETL engine).</a:t>
            </a:r>
          </a:p>
          <a:p>
            <a:r>
              <a:rPr lang="en-GB" dirty="0"/>
              <a:t>The results are </a:t>
            </a:r>
            <a:r>
              <a:rPr lang="en-GB" b="1" dirty="0"/>
              <a:t>stored and made ready for analysis</a:t>
            </a:r>
            <a:r>
              <a:rPr lang="en-GB" dirty="0"/>
              <a:t> in AWS Athena, where reports can show metrics such as:</a:t>
            </a:r>
          </a:p>
          <a:p>
            <a:pPr lvl="1"/>
            <a:r>
              <a:rPr lang="en-GB" dirty="0"/>
              <a:t>Average signal strength by postal code</a:t>
            </a:r>
          </a:p>
          <a:p>
            <a:pPr lvl="1"/>
            <a:r>
              <a:rPr lang="en-GB" dirty="0"/>
              <a:t>Network status distribution (Good, Moderate, Poor)</a:t>
            </a:r>
          </a:p>
          <a:p>
            <a:pPr lvl="1"/>
            <a:r>
              <a:rPr lang="en-GB" dirty="0"/>
              <a:t>GPS accuracy by provider or region</a:t>
            </a:r>
          </a:p>
          <a:p>
            <a:r>
              <a:rPr lang="en-GB" dirty="0"/>
              <a:t>This helps the company </a:t>
            </a:r>
            <a:r>
              <a:rPr lang="en-GB" b="1" dirty="0"/>
              <a:t>see where the network is weak or unstable</a:t>
            </a:r>
            <a:r>
              <a:rPr lang="en-GB" dirty="0"/>
              <a:t> almost immediately — allowing faster decision-making and </a:t>
            </a:r>
            <a:r>
              <a:rPr lang="en-GB" b="1" dirty="0"/>
              <a:t>better customer experience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59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Purpose</a:t>
            </a:r>
          </a:p>
          <a:p>
            <a:r>
              <a:rPr lang="en-US" dirty="0"/>
              <a:t>To build a </a:t>
            </a:r>
            <a:r>
              <a:rPr lang="en-US" b="1" dirty="0"/>
              <a:t>real-time data ingestion and processing pipeline</a:t>
            </a:r>
            <a:r>
              <a:rPr lang="en-US" dirty="0"/>
              <a:t> using AWS services for mobile log data — ensuring scalability, automation, and analytical insights.</a:t>
            </a:r>
          </a:p>
          <a:p>
            <a:br>
              <a:rPr lang="en-US" dirty="0"/>
            </a:br>
            <a:r>
              <a:rPr lang="en-US" b="1" dirty="0"/>
              <a:t>Architecture Overview</a:t>
            </a:r>
          </a:p>
          <a:p>
            <a:r>
              <a:rPr lang="en-US" dirty="0"/>
              <a:t>This pipeline automates the </a:t>
            </a:r>
            <a:r>
              <a:rPr lang="en-US" b="1" dirty="0"/>
              <a:t>flow of data</a:t>
            </a:r>
            <a:r>
              <a:rPr lang="en-US" dirty="0"/>
              <a:t> from a CSV dataset to real-time analytics through five major layers: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Data Source Layer</a:t>
            </a:r>
          </a:p>
          <a:p>
            <a:r>
              <a:rPr lang="en-US" dirty="0"/>
              <a:t>The raw dataset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Mobile Logs CSV</a:t>
            </a:r>
            <a:r>
              <a:rPr lang="en-US" dirty="0"/>
              <a:t>) acts as the data source.</a:t>
            </a:r>
          </a:p>
          <a:p>
            <a:r>
              <a:rPr lang="en-US" dirty="0"/>
              <a:t>A </a:t>
            </a:r>
            <a:r>
              <a:rPr lang="en-US" b="1" dirty="0"/>
              <a:t>Python Producer Script</a:t>
            </a:r>
            <a:r>
              <a:rPr lang="en-US" dirty="0"/>
              <a:t> (using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boto3</a:t>
            </a:r>
            <a:r>
              <a:rPr lang="en-US" dirty="0"/>
              <a:t>) reads the dataset and sends records as </a:t>
            </a:r>
            <a:r>
              <a:rPr lang="en-US" b="1" dirty="0"/>
              <a:t>JSON streams</a:t>
            </a:r>
            <a:r>
              <a:rPr lang="en-US" dirty="0"/>
              <a:t>.</a:t>
            </a:r>
          </a:p>
          <a:p>
            <a:r>
              <a:rPr lang="en-US" dirty="0"/>
              <a:t>This simulates live log events being pushed into AWS.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Ingestion Layer</a:t>
            </a:r>
          </a:p>
          <a:p>
            <a:r>
              <a:rPr lang="en-US" b="1" dirty="0"/>
              <a:t>Amazon Kinesis Data Stream</a:t>
            </a:r>
            <a:r>
              <a:rPr lang="en-US" dirty="0"/>
              <a:t> receives and buffers streaming data in real time.</a:t>
            </a:r>
          </a:p>
          <a:p>
            <a:r>
              <a:rPr lang="en-US" dirty="0"/>
              <a:t>It can handle high-throughput streams and ensure message durability.</a:t>
            </a:r>
          </a:p>
          <a:p>
            <a:r>
              <a:rPr lang="en-US" dirty="0"/>
              <a:t>Data is then forwarded for ETL processing.</a:t>
            </a:r>
          </a:p>
          <a:p>
            <a:br>
              <a:rPr lang="en-US" dirty="0"/>
            </a:br>
            <a:r>
              <a:rPr lang="en-US" b="1" dirty="0"/>
              <a:t>Processing Layer</a:t>
            </a:r>
          </a:p>
          <a:p>
            <a:r>
              <a:rPr lang="en-US" b="1" dirty="0"/>
              <a:t>AWS Glue Streaming Job</a:t>
            </a:r>
            <a:r>
              <a:rPr lang="en-US" dirty="0"/>
              <a:t> (</a:t>
            </a:r>
            <a:r>
              <a:rPr lang="en-US" dirty="0" err="1"/>
              <a:t>PySpark</a:t>
            </a:r>
            <a:r>
              <a:rPr lang="en-US" dirty="0"/>
              <a:t> ETL) processes incoming JSON data continuously.</a:t>
            </a:r>
          </a:p>
          <a:p>
            <a:pPr lvl="1"/>
            <a:r>
              <a:rPr lang="en-US" dirty="0"/>
              <a:t>Cleans and transforms records.</a:t>
            </a:r>
          </a:p>
          <a:p>
            <a:pPr lvl="1"/>
            <a:r>
              <a:rPr lang="en-US" dirty="0"/>
              <a:t>Applies schema mapping and filtering.</a:t>
            </a:r>
          </a:p>
          <a:p>
            <a:r>
              <a:rPr lang="en-US" b="1" dirty="0"/>
              <a:t>AWS Glue Crawler</a:t>
            </a:r>
            <a:r>
              <a:rPr lang="en-US" dirty="0"/>
              <a:t> automatically updates the </a:t>
            </a:r>
            <a:r>
              <a:rPr lang="en-US" b="1" dirty="0"/>
              <a:t>Data Catalog</a:t>
            </a:r>
            <a:r>
              <a:rPr lang="en-US" dirty="0"/>
              <a:t>, ensuring schemas are inferred dynamically.</a:t>
            </a:r>
          </a:p>
          <a:p>
            <a:r>
              <a:rPr lang="en-US" dirty="0"/>
              <a:t>Output: </a:t>
            </a:r>
            <a:r>
              <a:rPr lang="en-US" b="1" dirty="0"/>
              <a:t>Cleaned &amp; Structured CSV data</a:t>
            </a:r>
            <a:r>
              <a:rPr lang="en-US" dirty="0"/>
              <a:t>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 Storage Layer</a:t>
            </a:r>
          </a:p>
          <a:p>
            <a:r>
              <a:rPr lang="en-US" b="1" dirty="0"/>
              <a:t>Amazon S3</a:t>
            </a:r>
            <a:r>
              <a:rPr lang="en-US" dirty="0"/>
              <a:t> acts as the central data lake.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raw/</a:t>
            </a:r>
            <a:r>
              <a:rPr lang="en-US" dirty="0"/>
              <a:t> → raw incoming data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processed/</a:t>
            </a:r>
            <a:r>
              <a:rPr lang="en-US" dirty="0"/>
              <a:t> → transformed/cleaned data</a:t>
            </a:r>
          </a:p>
          <a:p>
            <a:pPr lvl="1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query-results/</a:t>
            </a:r>
            <a:r>
              <a:rPr lang="en-US" dirty="0"/>
              <a:t> → Athena query outputs</a:t>
            </a:r>
          </a:p>
          <a:p>
            <a:r>
              <a:rPr lang="en-US" dirty="0"/>
              <a:t>Enables data versioning and future reprocessing.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Query Layer</a:t>
            </a:r>
          </a:p>
          <a:p>
            <a:r>
              <a:rPr lang="en-US" b="1" dirty="0"/>
              <a:t>Amazon Athena</a:t>
            </a:r>
            <a:r>
              <a:rPr lang="en-US" dirty="0"/>
              <a:t> performs </a:t>
            </a:r>
            <a:r>
              <a:rPr lang="en-US" b="1" dirty="0"/>
              <a:t>SQL-based analytics</a:t>
            </a:r>
            <a:r>
              <a:rPr lang="en-US" dirty="0"/>
              <a:t> directly on S3 data (via the Glue Data Catalog).</a:t>
            </a:r>
          </a:p>
          <a:p>
            <a:r>
              <a:rPr lang="en-US" dirty="0"/>
              <a:t>Query results are stored back in S3 for further visualization or reporting.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 Monitoring Layer</a:t>
            </a:r>
          </a:p>
          <a:p>
            <a:r>
              <a:rPr lang="en-US" b="1" dirty="0"/>
              <a:t>Amazon CloudWatch</a:t>
            </a:r>
            <a:r>
              <a:rPr lang="en-US" dirty="0"/>
              <a:t> collects and visualizes:</a:t>
            </a:r>
          </a:p>
          <a:p>
            <a:pPr lvl="1"/>
            <a:r>
              <a:rPr lang="en-US" dirty="0"/>
              <a:t>Stream metrics (from Kinesis)</a:t>
            </a:r>
          </a:p>
          <a:p>
            <a:pPr lvl="1"/>
            <a:r>
              <a:rPr lang="en-US" dirty="0"/>
              <a:t>ETL job logs (from Glue)</a:t>
            </a:r>
          </a:p>
          <a:p>
            <a:pPr lvl="1"/>
            <a:r>
              <a:rPr lang="en-US" dirty="0"/>
              <a:t>Operational alerts (failures, latency, etc.)</a:t>
            </a:r>
          </a:p>
          <a:p>
            <a:r>
              <a:rPr lang="en-US" dirty="0"/>
              <a:t>Ensures continuous visibility and debugging support.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Key Benefits</a:t>
            </a:r>
          </a:p>
          <a:p>
            <a:r>
              <a:rPr lang="en-US" dirty="0"/>
              <a:t>Fully </a:t>
            </a:r>
            <a:r>
              <a:rPr lang="en-US" b="1" dirty="0"/>
              <a:t>Serverless</a:t>
            </a:r>
            <a:r>
              <a:rPr lang="en-US" dirty="0"/>
              <a:t> — no infrastructure management</a:t>
            </a:r>
          </a:p>
          <a:p>
            <a:r>
              <a:rPr lang="en-US" b="1" dirty="0"/>
              <a:t>Real-time</a:t>
            </a:r>
            <a:r>
              <a:rPr lang="en-US" dirty="0"/>
              <a:t> streaming and transformation</a:t>
            </a:r>
          </a:p>
          <a:p>
            <a:r>
              <a:rPr lang="en-US" b="1" dirty="0"/>
              <a:t>Schema automation</a:t>
            </a:r>
            <a:r>
              <a:rPr lang="en-US" dirty="0"/>
              <a:t> via Glue Crawler</a:t>
            </a:r>
          </a:p>
          <a:p>
            <a:r>
              <a:rPr lang="en-US" b="1" dirty="0"/>
              <a:t>Pay-per-query</a:t>
            </a:r>
            <a:r>
              <a:rPr lang="en-US" dirty="0"/>
              <a:t> analytics with Athena</a:t>
            </a:r>
          </a:p>
          <a:p>
            <a:r>
              <a:rPr lang="en-US" b="1" dirty="0"/>
              <a:t>End-to-end monitoring</a:t>
            </a:r>
            <a:r>
              <a:rPr lang="en-US" dirty="0"/>
              <a:t> with CloudWatch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38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🗒️ Talking Notes:</a:t>
            </a:r>
          </a:p>
          <a:p>
            <a:r>
              <a:rPr lang="en-GB" b="1" dirty="0"/>
              <a:t>1. Data Source (📱 Mobile Logs CSV)</a:t>
            </a:r>
          </a:p>
          <a:p>
            <a:r>
              <a:rPr lang="en-GB" dirty="0"/>
              <a:t>The pipeline begins with a </a:t>
            </a:r>
            <a:r>
              <a:rPr lang="en-GB" b="1" dirty="0"/>
              <a:t>mobile logs dataset</a:t>
            </a:r>
            <a:r>
              <a:rPr lang="en-GB" dirty="0"/>
              <a:t> (CSV) that simulates real telecom network data — signal strength, GPS coordinates, and network status.</a:t>
            </a:r>
          </a:p>
          <a:p>
            <a:r>
              <a:rPr lang="en-GB" dirty="0"/>
              <a:t>A </a:t>
            </a:r>
            <a:r>
              <a:rPr lang="en-GB" b="1" dirty="0"/>
              <a:t>Python producer script</a:t>
            </a:r>
            <a:r>
              <a:rPr lang="en-GB" dirty="0"/>
              <a:t> streams this data in real-time to AWS.</a:t>
            </a:r>
          </a:p>
          <a:p>
            <a:r>
              <a:rPr lang="en-GB" b="1" dirty="0"/>
              <a:t>2. Ingestion Layer (🌀 Kinesis Data Stream)</a:t>
            </a:r>
          </a:p>
          <a:p>
            <a:r>
              <a:rPr lang="en-GB" b="1" dirty="0"/>
              <a:t>Amazon Kinesis</a:t>
            </a:r>
            <a:r>
              <a:rPr lang="en-GB" dirty="0"/>
              <a:t> acts as the real-time ingestion point.</a:t>
            </a:r>
          </a:p>
          <a:p>
            <a:r>
              <a:rPr lang="en-GB" dirty="0"/>
              <a:t>It receives streaming records continuously and ensures </a:t>
            </a:r>
            <a:r>
              <a:rPr lang="en-GB" b="1" dirty="0"/>
              <a:t>scalable, fault-tolerant data capture</a:t>
            </a:r>
            <a:r>
              <a:rPr lang="en-GB" dirty="0"/>
              <a:t>.</a:t>
            </a:r>
          </a:p>
          <a:p>
            <a:r>
              <a:rPr lang="en-GB" dirty="0"/>
              <a:t>Helps handle </a:t>
            </a:r>
            <a:r>
              <a:rPr lang="en-GB" b="1" dirty="0"/>
              <a:t>high velocity and volume</a:t>
            </a:r>
            <a:r>
              <a:rPr lang="en-GB" dirty="0"/>
              <a:t> of telecom signal logs.</a:t>
            </a:r>
          </a:p>
          <a:p>
            <a:r>
              <a:rPr lang="en-GB" b="1" dirty="0"/>
              <a:t>3. Storage Layer (🪣 S3 Raw → Processed)</a:t>
            </a:r>
          </a:p>
          <a:p>
            <a:r>
              <a:rPr lang="en-GB" dirty="0"/>
              <a:t>Incoming data is first stored in </a:t>
            </a:r>
            <a:r>
              <a:rPr lang="en-GB" b="1" dirty="0"/>
              <a:t>S3 (Raw Zone)</a:t>
            </a:r>
            <a:r>
              <a:rPr lang="en-GB" dirty="0"/>
              <a:t> for reliability and traceability.</a:t>
            </a:r>
          </a:p>
          <a:p>
            <a:r>
              <a:rPr lang="en-GB" dirty="0"/>
              <a:t>After transformation, it’s moved to </a:t>
            </a:r>
            <a:r>
              <a:rPr lang="en-GB" b="1" dirty="0"/>
              <a:t>S3 (Processed Zone)</a:t>
            </a:r>
            <a:r>
              <a:rPr lang="en-GB" dirty="0"/>
              <a:t> — organized and cleaned for analysis.</a:t>
            </a:r>
          </a:p>
          <a:p>
            <a:r>
              <a:rPr lang="en-GB" dirty="0"/>
              <a:t>Acts as a </a:t>
            </a:r>
            <a:r>
              <a:rPr lang="en-GB" b="1" dirty="0"/>
              <a:t>central data lake</a:t>
            </a:r>
            <a:r>
              <a:rPr lang="en-GB" dirty="0"/>
              <a:t>.</a:t>
            </a:r>
          </a:p>
          <a:p>
            <a:r>
              <a:rPr lang="en-GB" b="1" dirty="0"/>
              <a:t>4. Processing Layer (⚙️ Glue ETL + Crawler)</a:t>
            </a:r>
          </a:p>
          <a:p>
            <a:r>
              <a:rPr lang="en-GB" b="1" dirty="0"/>
              <a:t>AWS Glue Streaming Job (</a:t>
            </a:r>
            <a:r>
              <a:rPr lang="en-GB" b="1" dirty="0" err="1"/>
              <a:t>PySpark</a:t>
            </a:r>
            <a:r>
              <a:rPr lang="en-GB" b="1" dirty="0"/>
              <a:t>)</a:t>
            </a:r>
            <a:r>
              <a:rPr lang="en-GB" dirty="0"/>
              <a:t> cleans and transforms raw JSON data into structured format.</a:t>
            </a:r>
          </a:p>
          <a:p>
            <a:r>
              <a:rPr lang="en-GB" dirty="0"/>
              <a:t>A </a:t>
            </a:r>
            <a:r>
              <a:rPr lang="en-GB" b="1" dirty="0"/>
              <a:t>Glue Crawler</a:t>
            </a:r>
            <a:r>
              <a:rPr lang="en-GB" dirty="0"/>
              <a:t> updates the </a:t>
            </a:r>
            <a:r>
              <a:rPr lang="en-GB" b="1" dirty="0"/>
              <a:t>Data </a:t>
            </a:r>
            <a:r>
              <a:rPr lang="en-GB" b="1" dirty="0" err="1"/>
              <a:t>Catalog</a:t>
            </a:r>
            <a:r>
              <a:rPr lang="en-GB" dirty="0"/>
              <a:t>, automatically detecting schema and data types.</a:t>
            </a:r>
          </a:p>
          <a:p>
            <a:r>
              <a:rPr lang="en-GB" dirty="0"/>
              <a:t>Key metrics like </a:t>
            </a:r>
            <a:r>
              <a:rPr lang="en-GB" b="1" dirty="0"/>
              <a:t>average signal strength</a:t>
            </a:r>
            <a:r>
              <a:rPr lang="en-GB" dirty="0"/>
              <a:t> and </a:t>
            </a:r>
            <a:r>
              <a:rPr lang="en-GB" b="1" dirty="0"/>
              <a:t>network status</a:t>
            </a:r>
            <a:r>
              <a:rPr lang="en-GB" dirty="0"/>
              <a:t> are computed here.</a:t>
            </a:r>
          </a:p>
          <a:p>
            <a:r>
              <a:rPr lang="en-GB" b="1" dirty="0"/>
              <a:t>5. Query Layer (🔍 Athena)</a:t>
            </a:r>
          </a:p>
          <a:p>
            <a:r>
              <a:rPr lang="en-GB" b="1" dirty="0"/>
              <a:t>Amazon Athena</a:t>
            </a:r>
            <a:r>
              <a:rPr lang="en-GB" dirty="0"/>
              <a:t> runs SQL queries directly on processed S3 data.</a:t>
            </a:r>
          </a:p>
          <a:p>
            <a:r>
              <a:rPr lang="en-GB" dirty="0"/>
              <a:t>Enables analysts to get </a:t>
            </a:r>
            <a:r>
              <a:rPr lang="en-GB" b="1" dirty="0"/>
              <a:t>on-demand insights</a:t>
            </a:r>
            <a:r>
              <a:rPr lang="en-GB" dirty="0"/>
              <a:t> without complex setup.</a:t>
            </a:r>
          </a:p>
          <a:p>
            <a:r>
              <a:rPr lang="en-GB" dirty="0"/>
              <a:t>Example queries: </a:t>
            </a:r>
            <a:r>
              <a:rPr lang="en-GB" i="1" dirty="0"/>
              <a:t>“Average signal per region”</a:t>
            </a:r>
            <a:r>
              <a:rPr lang="en-GB" dirty="0"/>
              <a:t>, </a:t>
            </a:r>
            <a:r>
              <a:rPr lang="en-GB" i="1" dirty="0"/>
              <a:t>“GPS accuracy by postal code”</a:t>
            </a:r>
            <a:r>
              <a:rPr lang="en-GB" dirty="0"/>
              <a:t>.</a:t>
            </a:r>
          </a:p>
          <a:p>
            <a:r>
              <a:rPr lang="en-GB" b="1" dirty="0"/>
              <a:t>6. Result Storage (📊 S3 Query Results)</a:t>
            </a:r>
          </a:p>
          <a:p>
            <a:r>
              <a:rPr lang="en-GB" dirty="0"/>
              <a:t>Query results are stored back in </a:t>
            </a:r>
            <a:r>
              <a:rPr lang="en-GB" b="1" dirty="0"/>
              <a:t>S3</a:t>
            </a:r>
            <a:r>
              <a:rPr lang="en-GB" dirty="0"/>
              <a:t> for easy visualization and reuse.</a:t>
            </a:r>
          </a:p>
          <a:p>
            <a:r>
              <a:rPr lang="en-GB" dirty="0"/>
              <a:t>Can be connected to </a:t>
            </a:r>
            <a:r>
              <a:rPr lang="en-GB" b="1" dirty="0" err="1"/>
              <a:t>QuickSight</a:t>
            </a:r>
            <a:r>
              <a:rPr lang="en-GB" b="1" dirty="0"/>
              <a:t> or dashboards</a:t>
            </a:r>
            <a:r>
              <a:rPr lang="en-GB" dirty="0"/>
              <a:t> for reporting.</a:t>
            </a:r>
          </a:p>
          <a:p>
            <a:r>
              <a:rPr lang="en-GB" b="1" dirty="0"/>
              <a:t>7. Monitoring Layer (📉 CloudWatch)</a:t>
            </a:r>
          </a:p>
          <a:p>
            <a:r>
              <a:rPr lang="en-GB" b="1" dirty="0"/>
              <a:t>AWS CloudWatch</a:t>
            </a:r>
            <a:r>
              <a:rPr lang="en-GB" dirty="0"/>
              <a:t> tracks ETL job metrics, Kinesis stream health, and system alerts.</a:t>
            </a:r>
          </a:p>
          <a:p>
            <a:r>
              <a:rPr lang="en-GB" dirty="0"/>
              <a:t>Ensures </a:t>
            </a:r>
            <a:r>
              <a:rPr lang="en-GB" b="1" dirty="0"/>
              <a:t>pipeline reliability</a:t>
            </a:r>
            <a:r>
              <a:rPr lang="en-GB" dirty="0"/>
              <a:t> and early detection of data flow issues.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This section demonstrates how we implemented each AWS component step-by-step — from streaming data to generating analytical insights.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55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Python script is designed to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simulate streaming data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a local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 file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into an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Kinesis Data Stream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processes the CSV data, converts each row into a JSON object, and then sends it as a record to the Kinesis stream.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a breakdown of the script's components and actions:</a:t>
            </a:r>
          </a:p>
          <a:p>
            <a:pPr rtl="0"/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💻 Dependencies and Setup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csv,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time, boto3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Imports necessary Python modules: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csv: To read and process the CSV file.</a:t>
            </a:r>
          </a:p>
          <a:p>
            <a:pPr lvl="1" rtl="0"/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To convert the CSV row (dictionary) into a JSON string for the Kinesis record.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time: To introduce a delay between sending records (simulating a stream).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boto3: The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Web Services (AWS) SDK for Python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used to interact with Kinesis.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Constants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STREAM_NAME = "kinesis-mobile-log-stream": Specifies the name of the target Kinesis Data Stream.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CSV_PATH = "mobile-logs.csv": Specifies the path to the local data file.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SLEEP = 0.05: Defines the pause (in seconds) between sending each record.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Kinesis Client Initialization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kinesis = boto3.client("kinesis",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region_name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="us-east-1"): Creates a client object to interact with the Kinesis service, specifically in the us-east-1 region.</a:t>
            </a:r>
          </a:p>
          <a:p>
            <a:pPr rtl="0"/>
            <a:b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🚀 Data Processing and Streaming Logic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of the script is the loop that reads the file and sends data: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and Read CSV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open(CSV_PATH, 'r') as f: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reader =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csv.DictReader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(f)</a:t>
            </a:r>
          </a:p>
          <a:p>
            <a:pPr lvl="1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Opens the file at CSV_PATH for reading.</a:t>
            </a:r>
          </a:p>
          <a:p>
            <a:pPr lvl="1" rtl="0"/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csv.DictReader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(f) treats each row in the CSV as a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dictionary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where the keys are the column headers.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Iterate and Send Records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row in enumerate(reader):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data =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json.dumps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(row)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kinesis.put_record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StreamName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=STREAM_NAME, Data=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data.encode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('utf-8'),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PartitionKey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=str(i%10))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# ... (logging and sleep)</a:t>
            </a:r>
          </a:p>
          <a:p>
            <a:pPr lvl="1"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row in enumerate(reader):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Loops through each row (row is a dictionary) and keeps track of the record index (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pPr lvl="1"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= 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json.dumps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(row)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Converts the dictionary (row) into a JSON formatted string. Kinesis records typically contain JSON or similar serialized data.</a:t>
            </a:r>
          </a:p>
          <a:p>
            <a:pPr lvl="1" rtl="0"/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kinesis.put_record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(...)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This is the crucial AWS SDK call that sends the data:</a:t>
            </a:r>
          </a:p>
          <a:p>
            <a:pPr lvl="2" rtl="0"/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StreamName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=STREAM_NAME: Targets the specified Kinesis stream.</a:t>
            </a:r>
          </a:p>
          <a:p>
            <a:pPr lvl="2"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Data=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data.encode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('utf-8'): The JSON string is encoded into bytes (UTF-8) before being sent, as Kinesis expects a byte array.</a:t>
            </a:r>
          </a:p>
          <a:p>
            <a:pPr lvl="2" rtl="0"/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PartitionKey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=str(i%10): Assigns a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 Key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record. The modulo operation (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 10) ensures that records are distributed across 10 different partition keys (e.g., "0", "1", "2", ..., "9"). The Partition Key is essential for Kinesis to determine which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shard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(a logical partition of the stream) the record will be written to, ensuring even data distribution.</a:t>
            </a:r>
          </a:p>
          <a:p>
            <a:pPr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 Control and Monitoring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% 50 == 0:</a:t>
            </a:r>
          </a:p>
          <a:p>
            <a:pPr rtl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print("sent", 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rtl="0"/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time.sleep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(SLEEP)</a:t>
            </a:r>
          </a:p>
          <a:p>
            <a:pPr lvl="1"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Logging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Prints a status update every 50 records to show progress.</a:t>
            </a:r>
          </a:p>
          <a:p>
            <a:pPr lvl="1" rtl="0"/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time.sleep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(0.05) ensures the records are sent at a slow, controlled rate, mimicking a steady stream of data rather than a bulk upload, which is a common pattern for data stream producers.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essence, the script acts as a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sending records to the Kinesis Data Stream, which can then be processed by a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Consumer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application (not shown here).</a:t>
            </a:r>
          </a:p>
          <a:p>
            <a:pPr rtl="0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 you like to know more about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Kinesis Data Streams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see an example of how the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Partition Key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affects record distribution?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95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31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5C780-F223-32CC-4A1C-9E757E60B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17AA0-8D76-AD2D-DE5A-9D5133362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715D6F-30E5-BDB4-12C7-80156B6F9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CCA22-0C87-38E3-5415-739454D4D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7333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9D127-622C-A507-AAA1-355B88849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F0C53-F4CE-C1FC-50FE-77DAD16813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A0685-CAAC-3BD7-825C-48D971401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18196-44B7-0073-324C-CAB8099C5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298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49E8C-0F44-2AD9-414C-A513752A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00908-0B27-3FF9-4DC2-EFD2F5390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EE85F-49C4-9948-6238-89C107AA8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79E3F-8FDB-6D63-012F-76FA1A993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952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9ECB-4FFA-696D-1ED4-2BDCE75FB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FAC533-20DD-790A-52E4-9D5B1ED73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75096-4D94-991B-60FB-0064F914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30D14-0163-C26C-D805-D6148BA8B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57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F919-4671-CB50-1624-5BB673BC1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DFC47-F9A2-BF79-4A8C-0DEF969D1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FE18D-D449-A73F-A60D-81AC575A9E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C147-922C-89A1-ECDB-869F07E35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52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BD05F-1BED-F08A-CDB8-97FB954F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22B9D-5768-66D5-9E79-9AB789B80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69B1-959D-5A50-D553-09954C77E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8049D-B589-4AB0-12B0-A8488C186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68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A44E1-F5B9-A3C4-8E12-BD2BFA12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C3200C-71A2-4E8B-B217-7D4B52906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90F40-F593-38B3-915D-05DE7097C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Required for </a:t>
            </a:r>
            <a:r>
              <a:rPr lang="en-GB" b="1" dirty="0"/>
              <a:t>Glue Jobs</a:t>
            </a:r>
            <a:r>
              <a:rPr lang="en-GB" dirty="0"/>
              <a:t>, </a:t>
            </a:r>
            <a:r>
              <a:rPr lang="en-GB" b="1" dirty="0"/>
              <a:t>Crawler</a:t>
            </a:r>
            <a:r>
              <a:rPr lang="en-GB" dirty="0"/>
              <a:t>, and </a:t>
            </a:r>
            <a:r>
              <a:rPr lang="en-GB" b="1" dirty="0"/>
              <a:t>Athena</a:t>
            </a:r>
            <a:r>
              <a:rPr lang="en-GB" dirty="0"/>
              <a:t> to access S3 &amp; Kinesis securely.</a:t>
            </a:r>
          </a:p>
          <a:p>
            <a:r>
              <a:rPr lang="en-GB" dirty="0"/>
              <a:t>The trust relationship allows Glue to assume the role.</a:t>
            </a:r>
            <a:br>
              <a:rPr lang="en-GB" dirty="0"/>
            </a:br>
            <a:r>
              <a:rPr lang="en-GB" b="1" dirty="0"/>
              <a:t>Highlight:</a:t>
            </a:r>
            <a:br>
              <a:rPr lang="en-GB" dirty="0"/>
            </a:br>
            <a:r>
              <a:rPr lang="en-GB" dirty="0"/>
              <a:t>“This ensures that every AWS service in the pipeline operates with least privilege access.”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97EC2-D8BF-9BEF-6A66-D835CE686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8D544-1094-44AC-945A-825F4ED59BE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14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521D-6B19-ACB0-EFC2-915302420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F54C2-BBD3-4958-519E-50BFD92CF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8F1F-CA6D-2CA2-CDD2-59CB2561B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BEF95-763A-7E30-DE89-288C6EA8A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E365E-908C-A13C-EDBA-B3293D73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88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D19EF-F52A-4DB9-25CF-06595CE5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B53D3-3C4B-109B-B5B0-53A7BEB28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6F7EF-C027-98A9-DC6E-A609F212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543C7-4D02-C22B-DFCD-F383E37EB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0D91-A666-3F3C-0027-E26495DCB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9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5EB3-B3C3-6808-0E2D-6E45B244A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26D3F-0C84-B2F7-7904-3532C9F39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1E7A-D42C-5C22-5E53-7163CF2FE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49CF7-4FD4-2AC1-A004-61D3514E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27BAC-F0B9-50B1-0C0A-DEEDA503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39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75F67-D06D-DA92-0B7F-74265A2A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A41B8-AE6D-13C1-198F-6E2E20BFD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DF184C-C570-3454-6810-5D2897871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076AD9-BE7D-0A9C-3B52-CD900743D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3E0A-A4D7-05FB-1689-0ABDC948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C380B-84C9-CC50-03EF-2DF06F12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43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E0B3D-DBA4-B92F-6D92-19AE6C7A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48911-1CE7-966D-864F-1038F378E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6C883-BD7E-46D6-23B2-22864F559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FD4C0-F3AC-5254-A051-66D700D96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BE85C-A1C9-77E3-99AB-C67EC9ED9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DE4BF8-DD0F-7B99-E1CF-A0296F4B4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E96E9D-E8EA-EB8F-68CD-95D16B57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B8DA2-1D86-19D3-C7A2-9CBDA500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9C935-97C3-558C-B600-69A1A3C5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920710-10C4-AA0E-F8B4-BDF0C6E3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F29551-A30F-EF5F-9AE8-A60D6B45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7F693-581E-5DF1-213B-B932A163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919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263C8B-E38A-DFE2-4ACE-93F84C30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B31B1-016C-86EE-2A6B-0CFFB855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82AEE-85C9-20D4-11DA-D173CA5C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786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5CDD-B80D-9784-EA1C-C37D3F7A9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80745-D46D-2A68-CD7B-A675AA4E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87FE9-C663-7ACB-34C1-E89D5EB4F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DD143-D2B6-7222-BAB2-730B4CF25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2925F-45C8-3865-3A18-43BDE3BD8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7B7EB-405F-E003-DECD-81B75B07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64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90D04-DBA8-15D4-1893-01E81FBB5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159742-BD91-0376-43E1-80638E14F3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24CD-9125-C692-EABB-21A589B1D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2CF3F-DA83-181A-A188-E89A5B88D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1F18C-05FA-1FD4-BD86-B4ACF87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26BEB-D872-E386-F2A0-2316A29D7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458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58AE6-337E-21B2-A10F-75C9FA531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D51174-C4A3-4E87-8D45-297733A27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608B-0666-9958-E5DF-50EE11DF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45C01-B6B6-10DB-39F5-B0698E4D7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B1245-F664-C0DC-4D2D-1D7FBB64D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251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A12ED-46D9-2607-C8C8-C16F0321B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FC252-4166-7E43-F4FC-9880B695B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B9C95-C237-14FE-3756-25E5BCCF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176EB-D6BC-8855-BE7F-4919C4B6C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A4B3F-1215-242F-6D55-0A58ADB9C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064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20239-92C6-873C-986A-40EA4F55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8AE8C-3B85-68C4-9BEA-9F661E38E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77FEF-FF99-ACB8-B09D-5D056C23B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CBD6A9-A395-44A7-B4A3-31518BFD952D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9FB3E-FB79-B435-C1C2-7D2146E258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EE1EE-C3CA-B238-4089-36FDAE64F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52665-237A-4DF9-9B39-ED6566165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6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B1C56-F180-B6EA-6323-B61100B98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045" y="2307866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en-US" sz="6600" dirty="0"/>
              <a:t>Telecom Signal Stream</a:t>
            </a:r>
            <a:br>
              <a:rPr lang="en-US" sz="6600" dirty="0"/>
            </a:br>
            <a:br>
              <a:rPr lang="en-US" sz="6600" dirty="0"/>
            </a:br>
            <a:r>
              <a:rPr lang="en-US" sz="5400" dirty="0"/>
              <a:t>Data Forge</a:t>
            </a:r>
            <a:endParaRPr lang="en-US" sz="6600" dirty="0"/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ignal tower - Free communications icons">
            <a:extLst>
              <a:ext uri="{FF2B5EF4-FFF2-40B4-BE49-F238E27FC236}">
                <a16:creationId xmlns:a16="http://schemas.microsoft.com/office/drawing/2014/main" id="{6F05D2DD-BF3E-A825-C441-6A2E117EE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81544" y="1267079"/>
            <a:ext cx="4087368" cy="4087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146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Team Members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dirty="0"/>
              <a:t>Ijaz Ahmad S</a:t>
            </a:r>
          </a:p>
          <a:p>
            <a:r>
              <a:rPr lang="en-IN" dirty="0"/>
              <a:t>Kavya Bhatta S</a:t>
            </a:r>
          </a:p>
          <a:p>
            <a:r>
              <a:rPr lang="en-IN" dirty="0"/>
              <a:t>Rakesh Kumar    </a:t>
            </a:r>
          </a:p>
          <a:p>
            <a:r>
              <a:rPr lang="en-IN" dirty="0"/>
              <a:t>Sahana J Upadhyaya   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150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41" y="799498"/>
            <a:ext cx="5013129" cy="5303189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1400" b="1" dirty="0"/>
              <a:t>Problem Statement</a:t>
            </a:r>
          </a:p>
          <a:p>
            <a:pPr lvl="1"/>
            <a:r>
              <a:rPr lang="en-GB" sz="1400" dirty="0"/>
              <a:t>Telecom companies generate huge volumes of mobile-signal data every day.</a:t>
            </a:r>
          </a:p>
          <a:p>
            <a:pPr lvl="1"/>
            <a:r>
              <a:rPr lang="en-GB" sz="1400" dirty="0"/>
              <a:t>Delayed or manual analysis slows down issue detection and response.</a:t>
            </a:r>
          </a:p>
          <a:p>
            <a:pPr lvl="1"/>
            <a:r>
              <a:rPr lang="en-GB" sz="1400" dirty="0"/>
              <a:t>Need a real-time solution to monitor and analyse network health instantly.</a:t>
            </a:r>
          </a:p>
          <a:p>
            <a:pPr marL="457200" lvl="1" indent="0">
              <a:buNone/>
            </a:pPr>
            <a:endParaRPr lang="en-GB" sz="1400" dirty="0"/>
          </a:p>
          <a:p>
            <a:pPr marL="0" indent="0">
              <a:buNone/>
            </a:pPr>
            <a:r>
              <a:rPr lang="en-US" sz="1400" b="1" dirty="0"/>
              <a:t>Objective</a:t>
            </a:r>
          </a:p>
          <a:p>
            <a:pPr lvl="1"/>
            <a:r>
              <a:rPr lang="en-GB" sz="1400" dirty="0"/>
              <a:t>Build a real-time analytics pipeline using AWS Kinesis, Glue, Athena, and CloudWatch.</a:t>
            </a:r>
          </a:p>
          <a:p>
            <a:pPr lvl="1"/>
            <a:r>
              <a:rPr lang="en-GB" sz="1400" dirty="0"/>
              <a:t>Enable continuous tracking of key metrics like signal strength, GPS precision, and network status.</a:t>
            </a:r>
          </a:p>
          <a:p>
            <a:pPr lvl="1"/>
            <a:endParaRPr lang="en-IN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400" b="1" dirty="0"/>
              <a:t>Use Case</a:t>
            </a:r>
          </a:p>
          <a:p>
            <a:pPr lvl="1"/>
            <a:r>
              <a:rPr lang="en-US" sz="1400" dirty="0"/>
              <a:t>Simulate mobile log data (CSV) as live stream via Kinesis.</a:t>
            </a:r>
          </a:p>
          <a:p>
            <a:pPr lvl="1"/>
            <a:r>
              <a:rPr lang="en-US" sz="1400" dirty="0"/>
              <a:t>Perform ETL and cleaning using AWS Glue.</a:t>
            </a:r>
          </a:p>
          <a:p>
            <a:pPr lvl="1"/>
            <a:r>
              <a:rPr lang="en-US" sz="1400" dirty="0"/>
              <a:t>Store curated data in S3 and query insights with Athena.</a:t>
            </a:r>
          </a:p>
          <a:p>
            <a:pPr lvl="1"/>
            <a:r>
              <a:rPr lang="en-US" sz="1400" dirty="0"/>
              <a:t>Key Metrics:</a:t>
            </a:r>
          </a:p>
          <a:p>
            <a:pPr lvl="2"/>
            <a:r>
              <a:rPr lang="en-US" sz="1400" dirty="0"/>
              <a:t> Avg. Signal Strength per Region</a:t>
            </a:r>
          </a:p>
          <a:p>
            <a:pPr lvl="2"/>
            <a:r>
              <a:rPr lang="en-US" sz="1400" dirty="0"/>
              <a:t>GPS Accuracy per Postal Area and Operator</a:t>
            </a:r>
          </a:p>
          <a:p>
            <a:pPr lvl="2"/>
            <a:r>
              <a:rPr lang="en-US" sz="1400" dirty="0"/>
              <a:t>Network activity (</a:t>
            </a:r>
            <a:r>
              <a:rPr lang="en-GB" sz="1400" dirty="0"/>
              <a:t>Still, Tilting, Unknown, </a:t>
            </a:r>
            <a:r>
              <a:rPr lang="en-GB" sz="1400" dirty="0" err="1"/>
              <a:t>On_Foot</a:t>
            </a:r>
            <a:r>
              <a:rPr lang="en-GB" sz="1400" dirty="0"/>
              <a:t>, </a:t>
            </a:r>
            <a:r>
              <a:rPr lang="en-GB" sz="1400" dirty="0" err="1"/>
              <a:t>In_Vehicle</a:t>
            </a:r>
            <a:r>
              <a:rPr lang="en-US" sz="1400" dirty="0"/>
              <a:t>)</a:t>
            </a:r>
          </a:p>
          <a:p>
            <a:pPr marL="457200" lvl="1" indent="0">
              <a:buNone/>
            </a:pPr>
            <a:endParaRPr lang="en-GB" sz="1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A1E39-DFBF-120D-432E-065E01A4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57"/>
          <a:stretch>
            <a:fillRect/>
          </a:stretch>
        </p:blipFill>
        <p:spPr>
          <a:xfrm>
            <a:off x="6578686" y="1523401"/>
            <a:ext cx="5470894" cy="328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6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3CE2-756B-7AAF-5ABC-2CC95C8F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FC601-16B9-13C6-2A8F-0BDF1358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49BD7-F02D-92AD-7ADB-21202A6D5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n-IN" sz="2400" dirty="0"/>
              <a:t>Schema &amp; Sample</a:t>
            </a:r>
          </a:p>
          <a:p>
            <a:pPr lvl="1"/>
            <a:r>
              <a:rPr lang="en-IN" sz="1600" dirty="0"/>
              <a:t>Dataset :  </a:t>
            </a:r>
            <a:r>
              <a:rPr lang="en-IN" sz="1600" dirty="0" err="1"/>
              <a:t>mobile_logs</a:t>
            </a:r>
            <a:endParaRPr lang="en-IN" sz="1600" dirty="0"/>
          </a:p>
          <a:p>
            <a:pPr lvl="1"/>
            <a:r>
              <a:rPr lang="en-IN" sz="1600" dirty="0"/>
              <a:t>Format – csv</a:t>
            </a:r>
          </a:p>
          <a:p>
            <a:pPr lvl="1"/>
            <a:r>
              <a:rPr lang="en-IN" sz="1600" dirty="0"/>
              <a:t>Streaming Data</a:t>
            </a:r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34DA9-86B6-38FF-215D-782D1F5466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39"/>
          <a:stretch>
            <a:fillRect/>
          </a:stretch>
        </p:blipFill>
        <p:spPr>
          <a:xfrm>
            <a:off x="0" y="4058817"/>
            <a:ext cx="12229208" cy="156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High-Level Architecture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4D4794-8148-60E5-6862-BE4F80B23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" t="5891" r="2550" b="3194"/>
          <a:stretch>
            <a:fillRect/>
          </a:stretch>
        </p:blipFill>
        <p:spPr>
          <a:xfrm>
            <a:off x="25518" y="1483567"/>
            <a:ext cx="12113610" cy="500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76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3CA5C-B9BB-3C3C-910A-A0A760C49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Services Used: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0A16E8-D37E-357B-B6FE-FA45045C7A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1805104"/>
              </p:ext>
            </p:extLst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1135562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88467985"/>
                    </a:ext>
                  </a:extLst>
                </a:gridCol>
              </a:tblGrid>
              <a:tr h="363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Service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268936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Amazon S3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Central data lake (stores raw, processed, scripts, checkpoints, and query outputs).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277186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Amazon Kinesis Data Stream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ingestion of mobile log data (acts as the streaming data source).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286027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AWS Glue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Performs ETL processing (Spark Streaming job reads from Kinesis, writes to S3 in Parquet).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436824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AWS IAM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Provides roles and permissions for Glue, Kinesis, and S3 access control.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892023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Amazon Athena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Serverless query engine to analyze processed data stored in S3 using SQL.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276946"/>
                  </a:ext>
                </a:extLst>
              </a:tr>
              <a:tr h="636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Amazon CloudWatch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Monitors Glue job execution and logs for troubleshooting.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54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69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89" y="2517775"/>
            <a:ext cx="10515600" cy="1325563"/>
          </a:xfrm>
        </p:spPr>
        <p:txBody>
          <a:bodyPr/>
          <a:lstStyle/>
          <a:p>
            <a:r>
              <a:rPr lang="en-IN" dirty="0"/>
              <a:t>Detailed Pipeline Flow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073C188-1266-5304-ACF2-ED008EC35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900" y="152400"/>
            <a:ext cx="3558789" cy="6516779"/>
          </a:xfrm>
        </p:spPr>
      </p:pic>
    </p:spTree>
    <p:extLst>
      <p:ext uri="{BB962C8B-B14F-4D97-AF65-F5344CB8AC3E}">
        <p14:creationId xmlns:p14="http://schemas.microsoft.com/office/powerpoint/2010/main" val="269227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Ingestion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949189-C870-8F61-4B48-11EA5F2EF3EC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Python Data Ingestion Script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Simulates real-time telecom data from CSV.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Converts each row to JSON and sends it to Kinesis Data Stream.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Handles retries and batching for performance.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ABB397-E040-F1EC-A4F7-9FC9CC792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72" y="1452958"/>
            <a:ext cx="6389346" cy="3961394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164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IAM Role Creation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46259-A812-3AF2-4E57-0A3F25CF8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23" y="2365285"/>
            <a:ext cx="4317482" cy="39387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82B5DE-2153-7E27-DF73-53E023635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712" y="3253949"/>
            <a:ext cx="6371054" cy="167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4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4E778-F27E-551D-302F-6F69CA8A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AE93-AE44-C328-E458-48A2D518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 Bucket Setup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87BCF-FFF3-671F-C552-83E41530D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2B4F9E-89F4-8EEB-AFC7-2851E4743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93" y="1827256"/>
            <a:ext cx="4743450" cy="14129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6887F8-2522-9E76-2B9F-19142D5BCA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01"/>
          <a:stretch>
            <a:fillRect/>
          </a:stretch>
        </p:blipFill>
        <p:spPr>
          <a:xfrm>
            <a:off x="5904740" y="1825625"/>
            <a:ext cx="5449060" cy="1486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A120F7-6455-9CDE-81BE-1CB55F121F6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164"/>
          <a:stretch>
            <a:fillRect/>
          </a:stretch>
        </p:blipFill>
        <p:spPr>
          <a:xfrm>
            <a:off x="838200" y="3546195"/>
            <a:ext cx="10604500" cy="3086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1448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F0EA37-81B0-E0A9-1896-38B070BCF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F6CB3E-15F9-E95F-8AC7-09C0E611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5011473" cy="1773936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Kinesis Data Stream</a:t>
            </a:r>
            <a:endParaRPr lang="en-IN" sz="36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23F78-B9D4-82CE-34D3-BAE889E6E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5641" y="338328"/>
            <a:ext cx="5029200" cy="1773936"/>
          </a:xfrm>
        </p:spPr>
        <p:txBody>
          <a:bodyPr anchor="ctr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800">
                <a:solidFill>
                  <a:schemeClr val="tx2"/>
                </a:solidFill>
              </a:rPr>
              <a:t>Serverless Amazon Web Services (AWS) service for processing and analyzing real-time streaming data at scale.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A9B6D62-5F75-8418-F0D2-4920763ED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43" y="3013170"/>
            <a:ext cx="6345894" cy="2854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74DD7E-0D77-3AE4-CC97-C5B70AFBF8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418"/>
          <a:stretch>
            <a:fillRect/>
          </a:stretch>
        </p:blipFill>
        <p:spPr>
          <a:xfrm>
            <a:off x="6668792" y="3988435"/>
            <a:ext cx="5166360" cy="144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90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4B034-0BA3-13B9-2E23-14E05198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6A777-CD35-1F94-E64F-7E889407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AWS Glue Streaming ETL Job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6F94A6-49ED-1FE1-A5F3-10704E5D51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7666"/>
          <a:stretch>
            <a:fillRect/>
          </a:stretch>
        </p:blipFill>
        <p:spPr>
          <a:xfrm>
            <a:off x="770680" y="2365285"/>
            <a:ext cx="4649369" cy="3938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F6C0DB-9100-BF3D-4861-2D81CC3B3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2505" y="3504136"/>
            <a:ext cx="5828261" cy="166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02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DA6D-3411-F365-A3C9-239F41C86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8E91FF8-FCC2-3FA5-A160-4755EEEFC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77" y="1782147"/>
            <a:ext cx="11212072" cy="4408715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A795EB34-D50E-36A8-DA99-5A5174FD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AWS Glue Streaming ETL Job (Status)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5855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425F-65ED-3E64-71FD-BC2CFA956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2FC51-3CA2-D0F3-9B60-9181C7B59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KPI’s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EC3DD2-F8D5-A33C-E959-72D221DB74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58586" y="2141537"/>
            <a:ext cx="4810609" cy="39004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2E8E8-B894-A610-732A-9352D08D1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115" y="1690688"/>
            <a:ext cx="5181600" cy="4351338"/>
          </a:xfrm>
        </p:spPr>
        <p:txBody>
          <a:bodyPr/>
          <a:lstStyle/>
          <a:p>
            <a:r>
              <a:rPr lang="en-IN" sz="1800" dirty="0"/>
              <a:t>Average signal by operator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4FFF34-03D0-23A3-2BEA-0118B7ACB0C3}"/>
              </a:ext>
            </a:extLst>
          </p:cNvPr>
          <p:cNvSpPr txBox="1">
            <a:spLocks/>
          </p:cNvSpPr>
          <p:nvPr/>
        </p:nvSpPr>
        <p:spPr>
          <a:xfrm>
            <a:off x="5935825" y="169068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Average signal by postal code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7BFB48-9931-D621-AB98-DF9793A3E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623" y="2141537"/>
            <a:ext cx="5474577" cy="364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034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4A377-A202-74E8-9265-D4675FBA3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3BE4-DFCF-8C39-83A8-548BB280A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KPI’s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750A1-598B-C158-A6A2-5C7505B66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1115" y="1690688"/>
            <a:ext cx="5181600" cy="4351338"/>
          </a:xfrm>
        </p:spPr>
        <p:txBody>
          <a:bodyPr/>
          <a:lstStyle/>
          <a:p>
            <a:r>
              <a:rPr lang="en-US" sz="1800" dirty="0"/>
              <a:t>Average signal by operator and postal code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33882A-6E54-9394-EFD5-EDCF894A89BD}"/>
              </a:ext>
            </a:extLst>
          </p:cNvPr>
          <p:cNvSpPr txBox="1">
            <a:spLocks/>
          </p:cNvSpPr>
          <p:nvPr/>
        </p:nvSpPr>
        <p:spPr>
          <a:xfrm>
            <a:off x="5935825" y="169068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Average GPS precision by provider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5BE9DB0-56EB-F8DD-2A68-35B84D8F52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2220686"/>
            <a:ext cx="4956110" cy="3821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3FE195-6246-1CE0-51CD-0C200AE346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197"/>
          <a:stretch>
            <a:fillRect/>
          </a:stretch>
        </p:blipFill>
        <p:spPr>
          <a:xfrm>
            <a:off x="6215743" y="2220686"/>
            <a:ext cx="4822371" cy="382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76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9B05A-3D1F-D8D0-59A4-D2A104F74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D4DA2A-380B-456F-E4C0-357EDED8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KPI’s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E4CDC-144D-684F-7D22-62A175BA6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1311818"/>
            <a:ext cx="8426823" cy="39756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Activity Count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D37AA1-3102-D395-44B6-34BE9D676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421186"/>
            <a:ext cx="10744200" cy="381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307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IN" dirty="0"/>
              <a:t>Business Output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IN" sz="2000"/>
              <a:t>Real-time data availability : incoming mobile log data instantly processed and stored in S3.</a:t>
            </a:r>
          </a:p>
          <a:p>
            <a:r>
              <a:rPr lang="en-IN" sz="2000"/>
              <a:t>Clean &amp; structured datasets : JSON stream transformed into timestamped, analytics-ready CSV files.</a:t>
            </a:r>
          </a:p>
          <a:p>
            <a:r>
              <a:rPr lang="en-IN" sz="2000"/>
              <a:t>Faster insights : teams can query live data using Amazon Athena without manual ETL steps.</a:t>
            </a:r>
          </a:p>
          <a:p>
            <a:r>
              <a:rPr lang="en-IN" sz="2000"/>
              <a:t>Scalable foundation : the pipeline can easily integrate new data sources or analytics dashboards (</a:t>
            </a:r>
            <a:r>
              <a:rPr lang="en-IN" sz="2000" err="1"/>
              <a:t>QuickSight</a:t>
            </a:r>
            <a:r>
              <a:rPr lang="en-IN" sz="2000"/>
              <a:t>, Power BI).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22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Key Learnings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1909F-10F6-BF5D-5104-203F79C5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200"/>
              <a:t>AWS Data Pipeline Design : Learned how to build a real-time data pipeline connecting Kinesis Data Stream → AWS Glue → S3 → Athena for end-to-end data processing.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/>
              <a:t>Spark Structured Streaming : Gained hands-on experience with reading continuous streams using .</a:t>
            </a:r>
            <a:r>
              <a:rPr lang="en-US" sz="2200" err="1"/>
              <a:t>readStream</a:t>
            </a:r>
            <a:r>
              <a:rPr lang="en-US" sz="2200"/>
              <a:t> and writing results with .</a:t>
            </a:r>
            <a:r>
              <a:rPr lang="en-US" sz="2200" err="1"/>
              <a:t>writeStream</a:t>
            </a:r>
            <a:r>
              <a:rPr lang="en-US" sz="220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200"/>
              <a:t>Schema Handling &amp; Data Transformation : Practiced defining JSON schemas, parsing dynamic data, and transforming raw data into structured CSV output.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/>
              <a:t>Offline Testing &amp; Local Simulation : Developed a local test setup using Docker + Spark to simulate streaming with JSON files before deploying to AWS.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200"/>
              <a:t>AWS Cloud Integration : Explored Glue Catalog, Athena, and S3 as a seamless ecosystem for data storage, querying, and analytics.</a:t>
            </a:r>
          </a:p>
          <a:p>
            <a:endParaRPr lang="en-IN" sz="2200"/>
          </a:p>
        </p:txBody>
      </p:sp>
    </p:spTree>
    <p:extLst>
      <p:ext uri="{BB962C8B-B14F-4D97-AF65-F5344CB8AC3E}">
        <p14:creationId xmlns:p14="http://schemas.microsoft.com/office/powerpoint/2010/main" val="3600551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EABEC-BBBC-D3F8-2AB6-D8A77849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Takeaways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259084-535C-9FB2-65EB-FC1389B14C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2080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5C13-C16B-BC33-C6AE-0E47749BD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7920EA-0CE3-18A6-2BF2-4B3B790906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6940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81061-7B10-1ED3-0DA6-AE7214A7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9184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2802</Words>
  <Application>Microsoft Office PowerPoint</Application>
  <PresentationFormat>Widescreen</PresentationFormat>
  <Paragraphs>257</Paragraphs>
  <Slides>21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Telecom Signal Stream  Data Forge</vt:lpstr>
      <vt:lpstr>Team Members</vt:lpstr>
      <vt:lpstr>PowerPoint Presentation</vt:lpstr>
      <vt:lpstr>Input Data Overview</vt:lpstr>
      <vt:lpstr>High-Level Architecture</vt:lpstr>
      <vt:lpstr>Tools &amp; Services Used:</vt:lpstr>
      <vt:lpstr>Detailed Pipeline Flow</vt:lpstr>
      <vt:lpstr>Data Ingestion</vt:lpstr>
      <vt:lpstr>IAM Role Creation</vt:lpstr>
      <vt:lpstr>S3 Bucket Setup</vt:lpstr>
      <vt:lpstr>Kinesis Data Stream</vt:lpstr>
      <vt:lpstr>AWS Glue Streaming ETL Job</vt:lpstr>
      <vt:lpstr>AWS Glue Streaming ETL Job (Status)</vt:lpstr>
      <vt:lpstr>KPI’s</vt:lpstr>
      <vt:lpstr>KPI’s</vt:lpstr>
      <vt:lpstr>KPI’s</vt:lpstr>
      <vt:lpstr>Business Output</vt:lpstr>
      <vt:lpstr>Key Learnings</vt:lpstr>
      <vt:lpstr>Final Takeaways 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Nagabhushan Mamadapur</dc:creator>
  <cp:lastModifiedBy>Sahana J</cp:lastModifiedBy>
  <cp:revision>60</cp:revision>
  <dcterms:created xsi:type="dcterms:W3CDTF">2025-10-27T09:00:12Z</dcterms:created>
  <dcterms:modified xsi:type="dcterms:W3CDTF">2025-11-05T04:54:12Z</dcterms:modified>
</cp:coreProperties>
</file>