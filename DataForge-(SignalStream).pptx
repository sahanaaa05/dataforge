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2" r:id="rId5"/>
    <p:sldId id="260" r:id="rId6"/>
    <p:sldId id="277" r:id="rId7"/>
    <p:sldId id="261" r:id="rId8"/>
    <p:sldId id="271" r:id="rId9"/>
    <p:sldId id="273" r:id="rId10"/>
    <p:sldId id="274" r:id="rId11"/>
    <p:sldId id="275" r:id="rId12"/>
    <p:sldId id="285" r:id="rId13"/>
    <p:sldId id="276" r:id="rId14"/>
    <p:sldId id="286" r:id="rId15"/>
    <p:sldId id="281" r:id="rId16"/>
    <p:sldId id="266" r:id="rId17"/>
    <p:sldId id="268" r:id="rId18"/>
    <p:sldId id="269" r:id="rId19"/>
    <p:sldId id="287" r:id="rId20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na J" userId="f4b95838ecef290e" providerId="LiveId" clId="{2C5FA4CF-9274-40E8-93DA-4F79EFBFAACA}"/>
    <pc:docChg chg="modSld">
      <pc:chgData name="Sahana J" userId="f4b95838ecef290e" providerId="LiveId" clId="{2C5FA4CF-9274-40E8-93DA-4F79EFBFAACA}" dt="2025-11-06T05:46:21.354" v="54" actId="20577"/>
      <pc:docMkLst>
        <pc:docMk/>
      </pc:docMkLst>
      <pc:sldChg chg="modSp mod">
        <pc:chgData name="Sahana J" userId="f4b95838ecef290e" providerId="LiveId" clId="{2C5FA4CF-9274-40E8-93DA-4F79EFBFAACA}" dt="2025-11-06T05:18:41.402" v="18" actId="20577"/>
        <pc:sldMkLst>
          <pc:docMk/>
          <pc:sldMk cId="1637146212" sldId="256"/>
        </pc:sldMkLst>
        <pc:spChg chg="mod">
          <ac:chgData name="Sahana J" userId="f4b95838ecef290e" providerId="LiveId" clId="{2C5FA4CF-9274-40E8-93DA-4F79EFBFAACA}" dt="2025-11-06T05:18:41.402" v="18" actId="20577"/>
          <ac:spMkLst>
            <pc:docMk/>
            <pc:sldMk cId="1637146212" sldId="256"/>
            <ac:spMk id="2" creationId="{D7AB1C56-F180-B6EA-6323-B61100B98F1D}"/>
          </ac:spMkLst>
        </pc:spChg>
      </pc:sldChg>
      <pc:sldChg chg="modSp mod">
        <pc:chgData name="Sahana J" userId="f4b95838ecef290e" providerId="LiveId" clId="{2C5FA4CF-9274-40E8-93DA-4F79EFBFAACA}" dt="2025-11-05T07:09:33.375" v="0" actId="1038"/>
        <pc:sldMkLst>
          <pc:docMk/>
          <pc:sldMk cId="2692272064" sldId="261"/>
        </pc:sldMkLst>
        <pc:picChg chg="mod">
          <ac:chgData name="Sahana J" userId="f4b95838ecef290e" providerId="LiveId" clId="{2C5FA4CF-9274-40E8-93DA-4F79EFBFAACA}" dt="2025-11-05T07:09:33.375" v="0" actId="1038"/>
          <ac:picMkLst>
            <pc:docMk/>
            <pc:sldMk cId="2692272064" sldId="261"/>
            <ac:picMk id="9" creationId="{491A21BF-DD3A-8099-DE14-168849DB97BE}"/>
          </ac:picMkLst>
        </pc:picChg>
      </pc:sldChg>
      <pc:sldChg chg="modSp mod">
        <pc:chgData name="Sahana J" userId="f4b95838ecef290e" providerId="LiveId" clId="{2C5FA4CF-9274-40E8-93DA-4F79EFBFAACA}" dt="2025-11-06T05:46:21.354" v="54" actId="20577"/>
        <pc:sldMkLst>
          <pc:docMk/>
          <pc:sldMk cId="3600551870" sldId="268"/>
        </pc:sldMkLst>
        <pc:spChg chg="mod">
          <ac:chgData name="Sahana J" userId="f4b95838ecef290e" providerId="LiveId" clId="{2C5FA4CF-9274-40E8-93DA-4F79EFBFAACA}" dt="2025-11-06T05:46:21.354" v="54" actId="20577"/>
          <ac:spMkLst>
            <pc:docMk/>
            <pc:sldMk cId="3600551870" sldId="268"/>
            <ac:spMk id="3" creationId="{20E1909F-10F6-BF5D-5104-203F79C5755D}"/>
          </ac:spMkLst>
        </pc:spChg>
      </pc:sldChg>
      <pc:sldChg chg="modSp mod">
        <pc:chgData name="Sahana J" userId="f4b95838ecef290e" providerId="LiveId" clId="{2C5FA4CF-9274-40E8-93DA-4F79EFBFAACA}" dt="2025-11-05T07:16:12.551" v="16" actId="20577"/>
        <pc:sldMkLst>
          <pc:docMk/>
          <pc:sldMk cId="3629102095" sldId="275"/>
        </pc:sldMkLst>
        <pc:spChg chg="mod">
          <ac:chgData name="Sahana J" userId="f4b95838ecef290e" providerId="LiveId" clId="{2C5FA4CF-9274-40E8-93DA-4F79EFBFAACA}" dt="2025-11-05T07:16:12.551" v="16" actId="20577"/>
          <ac:spMkLst>
            <pc:docMk/>
            <pc:sldMk cId="3629102095" sldId="275"/>
            <ac:spMk id="2" creationId="{BAD6A777-CD35-1F94-E64F-7E889407C2E6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BEB6A6-727D-4ED1-90DF-6BB9352193D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3B8F59-8782-4FB4-BFF7-D763621207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Real-Time Analytics Dashboard</a:t>
          </a:r>
        </a:p>
      </dgm:t>
    </dgm:pt>
    <dgm:pt modelId="{D0517087-D0DE-4207-8FAD-66E8836138B8}" type="parTrans" cxnId="{7E064A0B-A579-4C5F-895B-0F9A443ABB3B}">
      <dgm:prSet/>
      <dgm:spPr/>
      <dgm:t>
        <a:bodyPr/>
        <a:lstStyle/>
        <a:p>
          <a:endParaRPr lang="en-US"/>
        </a:p>
      </dgm:t>
    </dgm:pt>
    <dgm:pt modelId="{6E066054-BEAB-4BDC-A582-A0E0E34D4D54}" type="sibTrans" cxnId="{7E064A0B-A579-4C5F-895B-0F9A443ABB3B}">
      <dgm:prSet/>
      <dgm:spPr/>
      <dgm:t>
        <a:bodyPr/>
        <a:lstStyle/>
        <a:p>
          <a:endParaRPr lang="en-US"/>
        </a:p>
      </dgm:t>
    </dgm:pt>
    <dgm:pt modelId="{403BF13F-6FC5-4FD5-863F-6ECD7E32F2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 with Amazon QuickSight or Grafana for live visualization of streaming data.</a:t>
          </a:r>
        </a:p>
      </dgm:t>
    </dgm:pt>
    <dgm:pt modelId="{BFF4D87E-9DDD-45DC-B2B2-39D9A6BA01FF}" type="parTrans" cxnId="{92732FA9-5802-4FF6-829E-901BF4D799AE}">
      <dgm:prSet/>
      <dgm:spPr/>
      <dgm:t>
        <a:bodyPr/>
        <a:lstStyle/>
        <a:p>
          <a:endParaRPr lang="en-US"/>
        </a:p>
      </dgm:t>
    </dgm:pt>
    <dgm:pt modelId="{832D82C7-F64D-4C8D-8AB3-FFE1E2ACF376}" type="sibTrans" cxnId="{92732FA9-5802-4FF6-829E-901BF4D799AE}">
      <dgm:prSet/>
      <dgm:spPr/>
      <dgm:t>
        <a:bodyPr/>
        <a:lstStyle/>
        <a:p>
          <a:endParaRPr lang="en-US"/>
        </a:p>
      </dgm:t>
    </dgm:pt>
    <dgm:pt modelId="{60185A80-1092-431F-8D9E-0798FFF448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Quality &amp; Validation Layer</a:t>
          </a:r>
        </a:p>
      </dgm:t>
    </dgm:pt>
    <dgm:pt modelId="{07E4088D-26B5-4BCE-B782-9D0CB8BA4959}" type="parTrans" cxnId="{40849BD8-F2A4-4B86-887F-5E0ED4121391}">
      <dgm:prSet/>
      <dgm:spPr/>
      <dgm:t>
        <a:bodyPr/>
        <a:lstStyle/>
        <a:p>
          <a:endParaRPr lang="en-US"/>
        </a:p>
      </dgm:t>
    </dgm:pt>
    <dgm:pt modelId="{D2225306-CCCA-4C4D-B19B-9E0A42C88DD2}" type="sibTrans" cxnId="{40849BD8-F2A4-4B86-887F-5E0ED4121391}">
      <dgm:prSet/>
      <dgm:spPr/>
      <dgm:t>
        <a:bodyPr/>
        <a:lstStyle/>
        <a:p>
          <a:endParaRPr lang="en-US"/>
        </a:p>
      </dgm:t>
    </dgm:pt>
    <dgm:pt modelId="{52FB958B-8448-49AB-ACBB-330D56FCFE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Add AWS Lambda or Glue triggers to validate and cleanse data before storage.</a:t>
          </a:r>
        </a:p>
      </dgm:t>
    </dgm:pt>
    <dgm:pt modelId="{1C8D3003-E1A6-4AFC-889F-9221EE45B6C6}" type="parTrans" cxnId="{844DE9FE-2E77-4276-A794-8CE4D238D1F9}">
      <dgm:prSet/>
      <dgm:spPr/>
      <dgm:t>
        <a:bodyPr/>
        <a:lstStyle/>
        <a:p>
          <a:endParaRPr lang="en-US"/>
        </a:p>
      </dgm:t>
    </dgm:pt>
    <dgm:pt modelId="{7B25F95F-7A90-49BE-AACC-91BEDD795BE1}" type="sibTrans" cxnId="{844DE9FE-2E77-4276-A794-8CE4D238D1F9}">
      <dgm:prSet/>
      <dgm:spPr/>
      <dgm:t>
        <a:bodyPr/>
        <a:lstStyle/>
        <a:p>
          <a:endParaRPr lang="en-US"/>
        </a:p>
      </dgm:t>
    </dgm:pt>
    <dgm:pt modelId="{5D60B4A0-D381-446C-A827-117C8A5324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Scalable Multi-Stream Integration</a:t>
          </a:r>
        </a:p>
      </dgm:t>
    </dgm:pt>
    <dgm:pt modelId="{D02EE5CB-E74B-4D03-81A1-98A56D198777}" type="parTrans" cxnId="{6FBA292E-B45C-4326-B1F5-BD076C039F1E}">
      <dgm:prSet/>
      <dgm:spPr/>
      <dgm:t>
        <a:bodyPr/>
        <a:lstStyle/>
        <a:p>
          <a:endParaRPr lang="en-US"/>
        </a:p>
      </dgm:t>
    </dgm:pt>
    <dgm:pt modelId="{BFAA7B3F-565B-4F44-9914-DB2741D0385B}" type="sibTrans" cxnId="{6FBA292E-B45C-4326-B1F5-BD076C039F1E}">
      <dgm:prSet/>
      <dgm:spPr/>
      <dgm:t>
        <a:bodyPr/>
        <a:lstStyle/>
        <a:p>
          <a:endParaRPr lang="en-US"/>
        </a:p>
      </dgm:t>
    </dgm:pt>
    <dgm:pt modelId="{6EA0F777-8F4E-4E58-9D01-E0CEEB10C7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Extend the pipeline to handle multiple Kinesis streams for different data sources or applications.</a:t>
          </a:r>
        </a:p>
      </dgm:t>
    </dgm:pt>
    <dgm:pt modelId="{C5A5FC7A-C30C-4FDA-8E1C-8A37CCF37954}" type="parTrans" cxnId="{677D5BD8-DE50-44F9-8377-47238E760863}">
      <dgm:prSet/>
      <dgm:spPr/>
      <dgm:t>
        <a:bodyPr/>
        <a:lstStyle/>
        <a:p>
          <a:endParaRPr lang="en-US"/>
        </a:p>
      </dgm:t>
    </dgm:pt>
    <dgm:pt modelId="{5948E49C-37FB-4E2E-9DCD-B0DC2878AF13}" type="sibTrans" cxnId="{677D5BD8-DE50-44F9-8377-47238E760863}">
      <dgm:prSet/>
      <dgm:spPr/>
      <dgm:t>
        <a:bodyPr/>
        <a:lstStyle/>
        <a:p>
          <a:endParaRPr lang="en-US"/>
        </a:p>
      </dgm:t>
    </dgm:pt>
    <dgm:pt modelId="{313A786B-827A-4104-8755-896AD4ECED5A}" type="pres">
      <dgm:prSet presAssocID="{08BEB6A6-727D-4ED1-90DF-6BB9352193D0}" presName="root" presStyleCnt="0">
        <dgm:presLayoutVars>
          <dgm:dir/>
          <dgm:resizeHandles val="exact"/>
        </dgm:presLayoutVars>
      </dgm:prSet>
      <dgm:spPr/>
    </dgm:pt>
    <dgm:pt modelId="{4982CD7F-4CE3-4F55-BE10-5C1B166A215C}" type="pres">
      <dgm:prSet presAssocID="{933B8F59-8782-4FB4-BFF7-D76362120757}" presName="compNode" presStyleCnt="0"/>
      <dgm:spPr/>
    </dgm:pt>
    <dgm:pt modelId="{C4FF63E9-5F1F-4FAB-9A7A-6C42E18AC262}" type="pres">
      <dgm:prSet presAssocID="{933B8F59-8782-4FB4-BFF7-D76362120757}" presName="bgRect" presStyleLbl="bgShp" presStyleIdx="0" presStyleCnt="3"/>
      <dgm:spPr/>
    </dgm:pt>
    <dgm:pt modelId="{95D8A666-C23B-4F7B-A08C-DF6FF04EAC39}" type="pres">
      <dgm:prSet presAssocID="{933B8F59-8782-4FB4-BFF7-D7636212075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4C92198-022F-4EC4-8A8F-CA51472946F6}" type="pres">
      <dgm:prSet presAssocID="{933B8F59-8782-4FB4-BFF7-D76362120757}" presName="spaceRect" presStyleCnt="0"/>
      <dgm:spPr/>
    </dgm:pt>
    <dgm:pt modelId="{803F1622-BD80-4AD4-B0F3-F68EF1942DF4}" type="pres">
      <dgm:prSet presAssocID="{933B8F59-8782-4FB4-BFF7-D76362120757}" presName="parTx" presStyleLbl="revTx" presStyleIdx="0" presStyleCnt="6">
        <dgm:presLayoutVars>
          <dgm:chMax val="0"/>
          <dgm:chPref val="0"/>
        </dgm:presLayoutVars>
      </dgm:prSet>
      <dgm:spPr/>
    </dgm:pt>
    <dgm:pt modelId="{9F005783-6DD3-46AE-B883-F7C94ABD5FD8}" type="pres">
      <dgm:prSet presAssocID="{933B8F59-8782-4FB4-BFF7-D76362120757}" presName="desTx" presStyleLbl="revTx" presStyleIdx="1" presStyleCnt="6">
        <dgm:presLayoutVars/>
      </dgm:prSet>
      <dgm:spPr/>
    </dgm:pt>
    <dgm:pt modelId="{55F94E87-433C-40C2-AF1D-93124FA06DDC}" type="pres">
      <dgm:prSet presAssocID="{6E066054-BEAB-4BDC-A582-A0E0E34D4D54}" presName="sibTrans" presStyleCnt="0"/>
      <dgm:spPr/>
    </dgm:pt>
    <dgm:pt modelId="{3D1E7F56-69D3-476E-89EA-72D44C1B0365}" type="pres">
      <dgm:prSet presAssocID="{60185A80-1092-431F-8D9E-0798FFF4488C}" presName="compNode" presStyleCnt="0"/>
      <dgm:spPr/>
    </dgm:pt>
    <dgm:pt modelId="{6B71FFC4-CE36-4402-A5ED-BCA0DFDE9DD6}" type="pres">
      <dgm:prSet presAssocID="{60185A80-1092-431F-8D9E-0798FFF4488C}" presName="bgRect" presStyleLbl="bgShp" presStyleIdx="1" presStyleCnt="3"/>
      <dgm:spPr/>
    </dgm:pt>
    <dgm:pt modelId="{6B764724-530D-4D2B-8463-56E26C35CC87}" type="pres">
      <dgm:prSet presAssocID="{60185A80-1092-431F-8D9E-0798FFF4488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FE9F861-22DE-48AA-8B7F-8799C9EB5FEA}" type="pres">
      <dgm:prSet presAssocID="{60185A80-1092-431F-8D9E-0798FFF4488C}" presName="spaceRect" presStyleCnt="0"/>
      <dgm:spPr/>
    </dgm:pt>
    <dgm:pt modelId="{EE1031B8-823A-4B9A-B77B-9BE9A00D4EBC}" type="pres">
      <dgm:prSet presAssocID="{60185A80-1092-431F-8D9E-0798FFF4488C}" presName="parTx" presStyleLbl="revTx" presStyleIdx="2" presStyleCnt="6">
        <dgm:presLayoutVars>
          <dgm:chMax val="0"/>
          <dgm:chPref val="0"/>
        </dgm:presLayoutVars>
      </dgm:prSet>
      <dgm:spPr/>
    </dgm:pt>
    <dgm:pt modelId="{21F28D03-155A-4071-9D67-5C47B793C9F4}" type="pres">
      <dgm:prSet presAssocID="{60185A80-1092-431F-8D9E-0798FFF4488C}" presName="desTx" presStyleLbl="revTx" presStyleIdx="3" presStyleCnt="6">
        <dgm:presLayoutVars/>
      </dgm:prSet>
      <dgm:spPr/>
    </dgm:pt>
    <dgm:pt modelId="{21B53566-331F-4C04-975D-60222F312368}" type="pres">
      <dgm:prSet presAssocID="{D2225306-CCCA-4C4D-B19B-9E0A42C88DD2}" presName="sibTrans" presStyleCnt="0"/>
      <dgm:spPr/>
    </dgm:pt>
    <dgm:pt modelId="{DDDB6F32-820A-4307-8BF3-7E467F913DA2}" type="pres">
      <dgm:prSet presAssocID="{5D60B4A0-D381-446C-A827-117C8A5324FF}" presName="compNode" presStyleCnt="0"/>
      <dgm:spPr/>
    </dgm:pt>
    <dgm:pt modelId="{2AAA2690-4507-4EA5-B927-A87C17036440}" type="pres">
      <dgm:prSet presAssocID="{5D60B4A0-D381-446C-A827-117C8A5324FF}" presName="bgRect" presStyleLbl="bgShp" presStyleIdx="2" presStyleCnt="3"/>
      <dgm:spPr/>
    </dgm:pt>
    <dgm:pt modelId="{44244ED6-3982-4A4D-BA06-0F61B295B612}" type="pres">
      <dgm:prSet presAssocID="{5D60B4A0-D381-446C-A827-117C8A5324F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A820A93-9C57-4155-B082-275128D9E7D0}" type="pres">
      <dgm:prSet presAssocID="{5D60B4A0-D381-446C-A827-117C8A5324FF}" presName="spaceRect" presStyleCnt="0"/>
      <dgm:spPr/>
    </dgm:pt>
    <dgm:pt modelId="{00188DA9-03B3-49F9-A18A-BA6D97A9B477}" type="pres">
      <dgm:prSet presAssocID="{5D60B4A0-D381-446C-A827-117C8A5324FF}" presName="parTx" presStyleLbl="revTx" presStyleIdx="4" presStyleCnt="6">
        <dgm:presLayoutVars>
          <dgm:chMax val="0"/>
          <dgm:chPref val="0"/>
        </dgm:presLayoutVars>
      </dgm:prSet>
      <dgm:spPr/>
    </dgm:pt>
    <dgm:pt modelId="{117A92CF-0D0C-44D9-B3E1-C1C9F8F54276}" type="pres">
      <dgm:prSet presAssocID="{5D60B4A0-D381-446C-A827-117C8A5324FF}" presName="desTx" presStyleLbl="revTx" presStyleIdx="5" presStyleCnt="6">
        <dgm:presLayoutVars/>
      </dgm:prSet>
      <dgm:spPr/>
    </dgm:pt>
  </dgm:ptLst>
  <dgm:cxnLst>
    <dgm:cxn modelId="{7E064A0B-A579-4C5F-895B-0F9A443ABB3B}" srcId="{08BEB6A6-727D-4ED1-90DF-6BB9352193D0}" destId="{933B8F59-8782-4FB4-BFF7-D76362120757}" srcOrd="0" destOrd="0" parTransId="{D0517087-D0DE-4207-8FAD-66E8836138B8}" sibTransId="{6E066054-BEAB-4BDC-A582-A0E0E34D4D54}"/>
    <dgm:cxn modelId="{06346720-FF34-414B-81C0-16ED0196B938}" type="presOf" srcId="{52FB958B-8448-49AB-ACBB-330D56FCFE6B}" destId="{21F28D03-155A-4071-9D67-5C47B793C9F4}" srcOrd="0" destOrd="0" presId="urn:microsoft.com/office/officeart/2018/2/layout/IconVerticalSolidList"/>
    <dgm:cxn modelId="{6FBA292E-B45C-4326-B1F5-BD076C039F1E}" srcId="{08BEB6A6-727D-4ED1-90DF-6BB9352193D0}" destId="{5D60B4A0-D381-446C-A827-117C8A5324FF}" srcOrd="2" destOrd="0" parTransId="{D02EE5CB-E74B-4D03-81A1-98A56D198777}" sibTransId="{BFAA7B3F-565B-4F44-9914-DB2741D0385B}"/>
    <dgm:cxn modelId="{EE98CF66-7984-428F-A985-B4F7178D182B}" type="presOf" srcId="{403BF13F-6FC5-4FD5-863F-6ECD7E32F200}" destId="{9F005783-6DD3-46AE-B883-F7C94ABD5FD8}" srcOrd="0" destOrd="0" presId="urn:microsoft.com/office/officeart/2018/2/layout/IconVerticalSolidList"/>
    <dgm:cxn modelId="{3B90B450-E20B-4940-AA9A-C0EA516B7540}" type="presOf" srcId="{60185A80-1092-431F-8D9E-0798FFF4488C}" destId="{EE1031B8-823A-4B9A-B77B-9BE9A00D4EBC}" srcOrd="0" destOrd="0" presId="urn:microsoft.com/office/officeart/2018/2/layout/IconVerticalSolidList"/>
    <dgm:cxn modelId="{92732FA9-5802-4FF6-829E-901BF4D799AE}" srcId="{933B8F59-8782-4FB4-BFF7-D76362120757}" destId="{403BF13F-6FC5-4FD5-863F-6ECD7E32F200}" srcOrd="0" destOrd="0" parTransId="{BFF4D87E-9DDD-45DC-B2B2-39D9A6BA01FF}" sibTransId="{832D82C7-F64D-4C8D-8AB3-FFE1E2ACF376}"/>
    <dgm:cxn modelId="{1CD39BBA-FE48-4A7D-8318-E3F36464E49A}" type="presOf" srcId="{08BEB6A6-727D-4ED1-90DF-6BB9352193D0}" destId="{313A786B-827A-4104-8755-896AD4ECED5A}" srcOrd="0" destOrd="0" presId="urn:microsoft.com/office/officeart/2018/2/layout/IconVerticalSolidList"/>
    <dgm:cxn modelId="{EDBB39C4-CC96-41AE-9D31-EE76C27EFC24}" type="presOf" srcId="{6EA0F777-8F4E-4E58-9D01-E0CEEB10C7D8}" destId="{117A92CF-0D0C-44D9-B3E1-C1C9F8F54276}" srcOrd="0" destOrd="0" presId="urn:microsoft.com/office/officeart/2018/2/layout/IconVerticalSolidList"/>
    <dgm:cxn modelId="{651474C6-3CAC-467A-873C-BE7790EC37AF}" type="presOf" srcId="{933B8F59-8782-4FB4-BFF7-D76362120757}" destId="{803F1622-BD80-4AD4-B0F3-F68EF1942DF4}" srcOrd="0" destOrd="0" presId="urn:microsoft.com/office/officeart/2018/2/layout/IconVerticalSolidList"/>
    <dgm:cxn modelId="{F9A6F9D2-C0D6-445A-BE67-2936E0F5E0CF}" type="presOf" srcId="{5D60B4A0-D381-446C-A827-117C8A5324FF}" destId="{00188DA9-03B3-49F9-A18A-BA6D97A9B477}" srcOrd="0" destOrd="0" presId="urn:microsoft.com/office/officeart/2018/2/layout/IconVerticalSolidList"/>
    <dgm:cxn modelId="{677D5BD8-DE50-44F9-8377-47238E760863}" srcId="{5D60B4A0-D381-446C-A827-117C8A5324FF}" destId="{6EA0F777-8F4E-4E58-9D01-E0CEEB10C7D8}" srcOrd="0" destOrd="0" parTransId="{C5A5FC7A-C30C-4FDA-8E1C-8A37CCF37954}" sibTransId="{5948E49C-37FB-4E2E-9DCD-B0DC2878AF13}"/>
    <dgm:cxn modelId="{40849BD8-F2A4-4B86-887F-5E0ED4121391}" srcId="{08BEB6A6-727D-4ED1-90DF-6BB9352193D0}" destId="{60185A80-1092-431F-8D9E-0798FFF4488C}" srcOrd="1" destOrd="0" parTransId="{07E4088D-26B5-4BCE-B782-9D0CB8BA4959}" sibTransId="{D2225306-CCCA-4C4D-B19B-9E0A42C88DD2}"/>
    <dgm:cxn modelId="{844DE9FE-2E77-4276-A794-8CE4D238D1F9}" srcId="{60185A80-1092-431F-8D9E-0798FFF4488C}" destId="{52FB958B-8448-49AB-ACBB-330D56FCFE6B}" srcOrd="0" destOrd="0" parTransId="{1C8D3003-E1A6-4AFC-889F-9221EE45B6C6}" sibTransId="{7B25F95F-7A90-49BE-AACC-91BEDD795BE1}"/>
    <dgm:cxn modelId="{BE335CF3-3D96-4AE8-B85D-D80E0D41D887}" type="presParOf" srcId="{313A786B-827A-4104-8755-896AD4ECED5A}" destId="{4982CD7F-4CE3-4F55-BE10-5C1B166A215C}" srcOrd="0" destOrd="0" presId="urn:microsoft.com/office/officeart/2018/2/layout/IconVerticalSolidList"/>
    <dgm:cxn modelId="{46A72F58-ADBF-45F1-BFE6-B1A75A46CA6A}" type="presParOf" srcId="{4982CD7F-4CE3-4F55-BE10-5C1B166A215C}" destId="{C4FF63E9-5F1F-4FAB-9A7A-6C42E18AC262}" srcOrd="0" destOrd="0" presId="urn:microsoft.com/office/officeart/2018/2/layout/IconVerticalSolidList"/>
    <dgm:cxn modelId="{598341CF-D98D-4478-B35B-23AAB1E3A0A8}" type="presParOf" srcId="{4982CD7F-4CE3-4F55-BE10-5C1B166A215C}" destId="{95D8A666-C23B-4F7B-A08C-DF6FF04EAC39}" srcOrd="1" destOrd="0" presId="urn:microsoft.com/office/officeart/2018/2/layout/IconVerticalSolidList"/>
    <dgm:cxn modelId="{008EFBE5-A12F-4B1F-8A3C-EB22F5F2FF21}" type="presParOf" srcId="{4982CD7F-4CE3-4F55-BE10-5C1B166A215C}" destId="{34C92198-022F-4EC4-8A8F-CA51472946F6}" srcOrd="2" destOrd="0" presId="urn:microsoft.com/office/officeart/2018/2/layout/IconVerticalSolidList"/>
    <dgm:cxn modelId="{8F3FEC61-15CD-4EF9-AA94-F80917BC4697}" type="presParOf" srcId="{4982CD7F-4CE3-4F55-BE10-5C1B166A215C}" destId="{803F1622-BD80-4AD4-B0F3-F68EF1942DF4}" srcOrd="3" destOrd="0" presId="urn:microsoft.com/office/officeart/2018/2/layout/IconVerticalSolidList"/>
    <dgm:cxn modelId="{B7CA554C-071E-434D-8E5B-DB0D93EDDE79}" type="presParOf" srcId="{4982CD7F-4CE3-4F55-BE10-5C1B166A215C}" destId="{9F005783-6DD3-46AE-B883-F7C94ABD5FD8}" srcOrd="4" destOrd="0" presId="urn:microsoft.com/office/officeart/2018/2/layout/IconVerticalSolidList"/>
    <dgm:cxn modelId="{9B324099-2112-44E4-9A74-4CB88E4B5007}" type="presParOf" srcId="{313A786B-827A-4104-8755-896AD4ECED5A}" destId="{55F94E87-433C-40C2-AF1D-93124FA06DDC}" srcOrd="1" destOrd="0" presId="urn:microsoft.com/office/officeart/2018/2/layout/IconVerticalSolidList"/>
    <dgm:cxn modelId="{A167DFD5-6986-4684-BE39-588DE0B661C0}" type="presParOf" srcId="{313A786B-827A-4104-8755-896AD4ECED5A}" destId="{3D1E7F56-69D3-476E-89EA-72D44C1B0365}" srcOrd="2" destOrd="0" presId="urn:microsoft.com/office/officeart/2018/2/layout/IconVerticalSolidList"/>
    <dgm:cxn modelId="{D83F2908-CE9E-41A9-9584-964BA2DED22C}" type="presParOf" srcId="{3D1E7F56-69D3-476E-89EA-72D44C1B0365}" destId="{6B71FFC4-CE36-4402-A5ED-BCA0DFDE9DD6}" srcOrd="0" destOrd="0" presId="urn:microsoft.com/office/officeart/2018/2/layout/IconVerticalSolidList"/>
    <dgm:cxn modelId="{A105DB51-0274-41DB-B07E-42FE5776B84B}" type="presParOf" srcId="{3D1E7F56-69D3-476E-89EA-72D44C1B0365}" destId="{6B764724-530D-4D2B-8463-56E26C35CC87}" srcOrd="1" destOrd="0" presId="urn:microsoft.com/office/officeart/2018/2/layout/IconVerticalSolidList"/>
    <dgm:cxn modelId="{6AF7106E-3FFC-430C-811A-ABCF72599C69}" type="presParOf" srcId="{3D1E7F56-69D3-476E-89EA-72D44C1B0365}" destId="{3FE9F861-22DE-48AA-8B7F-8799C9EB5FEA}" srcOrd="2" destOrd="0" presId="urn:microsoft.com/office/officeart/2018/2/layout/IconVerticalSolidList"/>
    <dgm:cxn modelId="{E5D613A9-8AEC-40C3-8517-BC4A71CBD2B2}" type="presParOf" srcId="{3D1E7F56-69D3-476E-89EA-72D44C1B0365}" destId="{EE1031B8-823A-4B9A-B77B-9BE9A00D4EBC}" srcOrd="3" destOrd="0" presId="urn:microsoft.com/office/officeart/2018/2/layout/IconVerticalSolidList"/>
    <dgm:cxn modelId="{8FA5AFAC-8A50-43CE-94D1-EFDA4D5BBFE3}" type="presParOf" srcId="{3D1E7F56-69D3-476E-89EA-72D44C1B0365}" destId="{21F28D03-155A-4071-9D67-5C47B793C9F4}" srcOrd="4" destOrd="0" presId="urn:microsoft.com/office/officeart/2018/2/layout/IconVerticalSolidList"/>
    <dgm:cxn modelId="{2655436D-EEBD-42C3-BC6B-E1EDC66040A1}" type="presParOf" srcId="{313A786B-827A-4104-8755-896AD4ECED5A}" destId="{21B53566-331F-4C04-975D-60222F312368}" srcOrd="3" destOrd="0" presId="urn:microsoft.com/office/officeart/2018/2/layout/IconVerticalSolidList"/>
    <dgm:cxn modelId="{FC8A7A3B-5C0B-44AB-AF57-A4C850381876}" type="presParOf" srcId="{313A786B-827A-4104-8755-896AD4ECED5A}" destId="{DDDB6F32-820A-4307-8BF3-7E467F913DA2}" srcOrd="4" destOrd="0" presId="urn:microsoft.com/office/officeart/2018/2/layout/IconVerticalSolidList"/>
    <dgm:cxn modelId="{5BF20302-CF5F-4DFF-B131-A2FB6CD00A4E}" type="presParOf" srcId="{DDDB6F32-820A-4307-8BF3-7E467F913DA2}" destId="{2AAA2690-4507-4EA5-B927-A87C17036440}" srcOrd="0" destOrd="0" presId="urn:microsoft.com/office/officeart/2018/2/layout/IconVerticalSolidList"/>
    <dgm:cxn modelId="{FE351213-B073-4420-8684-D93B01804EB7}" type="presParOf" srcId="{DDDB6F32-820A-4307-8BF3-7E467F913DA2}" destId="{44244ED6-3982-4A4D-BA06-0F61B295B612}" srcOrd="1" destOrd="0" presId="urn:microsoft.com/office/officeart/2018/2/layout/IconVerticalSolidList"/>
    <dgm:cxn modelId="{A0A8285A-5E5D-438D-A156-36757AAFF4E1}" type="presParOf" srcId="{DDDB6F32-820A-4307-8BF3-7E467F913DA2}" destId="{4A820A93-9C57-4155-B082-275128D9E7D0}" srcOrd="2" destOrd="0" presId="urn:microsoft.com/office/officeart/2018/2/layout/IconVerticalSolidList"/>
    <dgm:cxn modelId="{A44D20F7-85A4-4A91-A752-28212D029D9A}" type="presParOf" srcId="{DDDB6F32-820A-4307-8BF3-7E467F913DA2}" destId="{00188DA9-03B3-49F9-A18A-BA6D97A9B477}" srcOrd="3" destOrd="0" presId="urn:microsoft.com/office/officeart/2018/2/layout/IconVerticalSolidList"/>
    <dgm:cxn modelId="{1EE150D2-23EA-4B94-8ACF-8B5650A0FDED}" type="presParOf" srcId="{DDDB6F32-820A-4307-8BF3-7E467F913DA2}" destId="{117A92CF-0D0C-44D9-B3E1-C1C9F8F5427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F63E9-5F1F-4FAB-9A7A-6C42E18AC262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8A666-C23B-4F7B-A08C-DF6FF04EAC39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F1622-BD80-4AD4-B0F3-F68EF1942DF4}">
      <dsp:nvSpPr>
        <dsp:cNvPr id="0" name=""/>
        <dsp:cNvSpPr/>
      </dsp:nvSpPr>
      <dsp:spPr>
        <a:xfrm>
          <a:off x="1435590" y="531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Real-Time Analytics Dashboard</a:t>
          </a:r>
        </a:p>
      </dsp:txBody>
      <dsp:txXfrm>
        <a:off x="1435590" y="531"/>
        <a:ext cx="4732020" cy="1242935"/>
      </dsp:txXfrm>
    </dsp:sp>
    <dsp:sp modelId="{9F005783-6DD3-46AE-B883-F7C94ABD5FD8}">
      <dsp:nvSpPr>
        <dsp:cNvPr id="0" name=""/>
        <dsp:cNvSpPr/>
      </dsp:nvSpPr>
      <dsp:spPr>
        <a:xfrm>
          <a:off x="6167610" y="531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Integrate with Amazon QuickSight or Grafana for live visualization of streaming data.</a:t>
          </a:r>
        </a:p>
      </dsp:txBody>
      <dsp:txXfrm>
        <a:off x="6167610" y="531"/>
        <a:ext cx="4347989" cy="1242935"/>
      </dsp:txXfrm>
    </dsp:sp>
    <dsp:sp modelId="{6B71FFC4-CE36-4402-A5ED-BCA0DFDE9DD6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764724-530D-4D2B-8463-56E26C35CC87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1031B8-823A-4B9A-B77B-9BE9A00D4EBC}">
      <dsp:nvSpPr>
        <dsp:cNvPr id="0" name=""/>
        <dsp:cNvSpPr/>
      </dsp:nvSpPr>
      <dsp:spPr>
        <a:xfrm>
          <a:off x="1435590" y="1554201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 Quality &amp; Validation Layer</a:t>
          </a:r>
        </a:p>
      </dsp:txBody>
      <dsp:txXfrm>
        <a:off x="1435590" y="1554201"/>
        <a:ext cx="4732020" cy="1242935"/>
      </dsp:txXfrm>
    </dsp:sp>
    <dsp:sp modelId="{21F28D03-155A-4071-9D67-5C47B793C9F4}">
      <dsp:nvSpPr>
        <dsp:cNvPr id="0" name=""/>
        <dsp:cNvSpPr/>
      </dsp:nvSpPr>
      <dsp:spPr>
        <a:xfrm>
          <a:off x="6167610" y="1554201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Add AWS Lambda or Glue triggers to validate and cleanse data before storage.</a:t>
          </a:r>
        </a:p>
      </dsp:txBody>
      <dsp:txXfrm>
        <a:off x="6167610" y="1554201"/>
        <a:ext cx="4347989" cy="1242935"/>
      </dsp:txXfrm>
    </dsp:sp>
    <dsp:sp modelId="{2AAA2690-4507-4EA5-B927-A87C17036440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44ED6-3982-4A4D-BA06-0F61B295B612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188DA9-03B3-49F9-A18A-BA6D97A9B477}">
      <dsp:nvSpPr>
        <dsp:cNvPr id="0" name=""/>
        <dsp:cNvSpPr/>
      </dsp:nvSpPr>
      <dsp:spPr>
        <a:xfrm>
          <a:off x="1435590" y="3107870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Scalable Multi-Stream Integration</a:t>
          </a:r>
        </a:p>
      </dsp:txBody>
      <dsp:txXfrm>
        <a:off x="1435590" y="3107870"/>
        <a:ext cx="4732020" cy="1242935"/>
      </dsp:txXfrm>
    </dsp:sp>
    <dsp:sp modelId="{117A92CF-0D0C-44D9-B3E1-C1C9F8F54276}">
      <dsp:nvSpPr>
        <dsp:cNvPr id="0" name=""/>
        <dsp:cNvSpPr/>
      </dsp:nvSpPr>
      <dsp:spPr>
        <a:xfrm>
          <a:off x="6167610" y="3107870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Extend the pipeline to handle multiple Kinesis streams for different data sources or applications.</a:t>
          </a:r>
        </a:p>
      </dsp:txBody>
      <dsp:txXfrm>
        <a:off x="6167610" y="3107870"/>
        <a:ext cx="434798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D7290A8-C7CA-4A86-92B0-CF43A115FDC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7B8D544-1094-44AC-945A-825F4ED59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14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Problem Statement</a:t>
            </a:r>
          </a:p>
          <a:p>
            <a:r>
              <a:rPr lang="en-GB" dirty="0"/>
              <a:t>Telecom companies receive millions of mobile signal and network logs every day — showing how users experience their network in different locations.</a:t>
            </a:r>
            <a:br>
              <a:rPr lang="en-GB" dirty="0"/>
            </a:br>
            <a:r>
              <a:rPr lang="en-GB" dirty="0"/>
              <a:t>However, </a:t>
            </a:r>
            <a:r>
              <a:rPr lang="en-GB" dirty="0" err="1"/>
              <a:t>analyzing</a:t>
            </a:r>
            <a:r>
              <a:rPr lang="en-GB" dirty="0"/>
              <a:t> this huge volume of data in </a:t>
            </a:r>
            <a:r>
              <a:rPr lang="en-GB" b="1" dirty="0"/>
              <a:t>real time</a:t>
            </a:r>
            <a:r>
              <a:rPr lang="en-GB" dirty="0"/>
              <a:t> is difficult.</a:t>
            </a:r>
            <a:br>
              <a:rPr lang="en-GB" dirty="0"/>
            </a:br>
            <a:r>
              <a:rPr lang="en-GB" dirty="0"/>
              <a:t>By the time reports are generated manually, </a:t>
            </a:r>
            <a:r>
              <a:rPr lang="en-GB" b="1" dirty="0"/>
              <a:t>network issues and outages are already affecting customers</a:t>
            </a:r>
            <a:r>
              <a:rPr lang="en-GB" dirty="0"/>
              <a:t>.</a:t>
            </a:r>
          </a:p>
          <a:p>
            <a:r>
              <a:rPr lang="en-GB" dirty="0"/>
              <a:t>Our challenge was to </a:t>
            </a:r>
            <a:r>
              <a:rPr lang="en-GB" b="1" dirty="0"/>
              <a:t>build a system that can process and </a:t>
            </a:r>
            <a:r>
              <a:rPr lang="en-GB" b="1" dirty="0" err="1"/>
              <a:t>analyze</a:t>
            </a:r>
            <a:r>
              <a:rPr lang="en-GB" b="1" dirty="0"/>
              <a:t> this data live</a:t>
            </a:r>
            <a:r>
              <a:rPr lang="en-GB" dirty="0"/>
              <a:t>, so that network performance problems can be detected and resolved faster.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Use Case (Business Perspective)</a:t>
            </a:r>
          </a:p>
          <a:p>
            <a:r>
              <a:rPr lang="en-GB" dirty="0"/>
              <a:t>Imagine a telecom operator wants to </a:t>
            </a:r>
            <a:r>
              <a:rPr lang="en-GB" b="1" dirty="0"/>
              <a:t>monitor signal quality</a:t>
            </a:r>
            <a:r>
              <a:rPr lang="en-GB" dirty="0"/>
              <a:t> across different cities in real time.</a:t>
            </a:r>
            <a:br>
              <a:rPr lang="en-GB" dirty="0"/>
            </a:br>
            <a:r>
              <a:rPr lang="en-GB" dirty="0"/>
              <a:t>Our pipeline takes </a:t>
            </a:r>
            <a:r>
              <a:rPr lang="en-GB" b="1" dirty="0"/>
              <a:t>mobile network logs</a:t>
            </a:r>
            <a:r>
              <a:rPr lang="en-GB" dirty="0"/>
              <a:t> (like signal strength, GPS accuracy, and connection status) and processes them instantly using AWS services.</a:t>
            </a:r>
          </a:p>
          <a:p>
            <a:r>
              <a:rPr lang="en-GB" dirty="0"/>
              <a:t>The data is first </a:t>
            </a:r>
            <a:r>
              <a:rPr lang="en-GB" b="1" dirty="0"/>
              <a:t>streamed live</a:t>
            </a:r>
            <a:r>
              <a:rPr lang="en-GB" dirty="0"/>
              <a:t> from a simulated mobile log feed (as if coming from real users).</a:t>
            </a:r>
          </a:p>
          <a:p>
            <a:r>
              <a:rPr lang="en-GB" dirty="0"/>
              <a:t>It is then </a:t>
            </a:r>
            <a:r>
              <a:rPr lang="en-GB" b="1" dirty="0"/>
              <a:t>processed and cleaned automatically</a:t>
            </a:r>
            <a:r>
              <a:rPr lang="en-GB" dirty="0"/>
              <a:t> using AWS Glue (ETL engine).</a:t>
            </a:r>
          </a:p>
          <a:p>
            <a:r>
              <a:rPr lang="en-GB" dirty="0"/>
              <a:t>The results are </a:t>
            </a:r>
            <a:r>
              <a:rPr lang="en-GB" b="1" dirty="0"/>
              <a:t>stored and made ready for analysis</a:t>
            </a:r>
            <a:r>
              <a:rPr lang="en-GB" dirty="0"/>
              <a:t> in AWS Athena, where reports can show metrics such as:</a:t>
            </a:r>
          </a:p>
          <a:p>
            <a:pPr lvl="1"/>
            <a:r>
              <a:rPr lang="en-GB" dirty="0"/>
              <a:t>Average signal strength by postal code</a:t>
            </a:r>
          </a:p>
          <a:p>
            <a:pPr lvl="1"/>
            <a:r>
              <a:rPr lang="en-GB" dirty="0"/>
              <a:t>Network status distribution (Good, Moderate, Poor)</a:t>
            </a:r>
          </a:p>
          <a:p>
            <a:pPr lvl="1"/>
            <a:r>
              <a:rPr lang="en-GB" dirty="0"/>
              <a:t>GPS accuracy by provider or region</a:t>
            </a:r>
          </a:p>
          <a:p>
            <a:r>
              <a:rPr lang="en-GB" dirty="0"/>
              <a:t>This helps the company </a:t>
            </a:r>
            <a:r>
              <a:rPr lang="en-GB" b="1" dirty="0"/>
              <a:t>see where the network is weak or unstable</a:t>
            </a:r>
            <a:r>
              <a:rPr lang="en-GB" dirty="0"/>
              <a:t> almost immediately — allowing faster decision-making and </a:t>
            </a:r>
            <a:r>
              <a:rPr lang="en-GB" b="1" dirty="0"/>
              <a:t>better customer experience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59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Purpose</a:t>
            </a:r>
          </a:p>
          <a:p>
            <a:r>
              <a:rPr lang="en-US" dirty="0"/>
              <a:t>To build a </a:t>
            </a:r>
            <a:r>
              <a:rPr lang="en-US" b="1" dirty="0"/>
              <a:t>real-time data ingestion and processing pipeline</a:t>
            </a:r>
            <a:r>
              <a:rPr lang="en-US" dirty="0"/>
              <a:t> using AWS services for mobile log data — ensuring scalability, automation, and analytical insights.</a:t>
            </a:r>
          </a:p>
          <a:p>
            <a:br>
              <a:rPr lang="en-US" dirty="0"/>
            </a:br>
            <a:r>
              <a:rPr lang="en-US" b="1" dirty="0"/>
              <a:t>Architecture Overview</a:t>
            </a:r>
          </a:p>
          <a:p>
            <a:r>
              <a:rPr lang="en-US" dirty="0"/>
              <a:t>This pipeline automates the </a:t>
            </a:r>
            <a:r>
              <a:rPr lang="en-US" b="1" dirty="0"/>
              <a:t>flow of data</a:t>
            </a:r>
            <a:r>
              <a:rPr lang="en-US" dirty="0"/>
              <a:t> from a CSV dataset to real-time analytics through five major layers: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Data Source Layer</a:t>
            </a:r>
          </a:p>
          <a:p>
            <a:r>
              <a:rPr lang="en-US" dirty="0"/>
              <a:t>The raw dataset (</a:t>
            </a:r>
            <a:r>
              <a:rPr lang="en-US" sz="1300" dirty="0"/>
              <a:t>Mobile Logs CSV</a:t>
            </a:r>
            <a:r>
              <a:rPr lang="en-US" dirty="0"/>
              <a:t>) acts as the data source.</a:t>
            </a:r>
          </a:p>
          <a:p>
            <a:r>
              <a:rPr lang="en-US" dirty="0"/>
              <a:t>A </a:t>
            </a:r>
            <a:r>
              <a:rPr lang="en-US" b="1" dirty="0"/>
              <a:t>Python Producer Script</a:t>
            </a:r>
            <a:r>
              <a:rPr lang="en-US" dirty="0"/>
              <a:t> (using </a:t>
            </a:r>
            <a:r>
              <a:rPr lang="en-US" sz="1300" dirty="0"/>
              <a:t>boto3</a:t>
            </a:r>
            <a:r>
              <a:rPr lang="en-US" dirty="0"/>
              <a:t>) reads the dataset and sends records as </a:t>
            </a:r>
            <a:r>
              <a:rPr lang="en-US" b="1" dirty="0"/>
              <a:t>JSON streams</a:t>
            </a:r>
            <a:r>
              <a:rPr lang="en-US" dirty="0"/>
              <a:t>.</a:t>
            </a:r>
          </a:p>
          <a:p>
            <a:r>
              <a:rPr lang="en-US" dirty="0"/>
              <a:t>This simulates live log events being pushed into AWS.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Ingestion Layer</a:t>
            </a:r>
          </a:p>
          <a:p>
            <a:r>
              <a:rPr lang="en-US" b="1" dirty="0"/>
              <a:t>Amazon Kinesis Data Stream</a:t>
            </a:r>
            <a:r>
              <a:rPr lang="en-US" dirty="0"/>
              <a:t> receives and buffers streaming data in real time.</a:t>
            </a:r>
          </a:p>
          <a:p>
            <a:r>
              <a:rPr lang="en-US" dirty="0"/>
              <a:t>It can handle high-throughput streams and ensure message durability.</a:t>
            </a:r>
          </a:p>
          <a:p>
            <a:r>
              <a:rPr lang="en-US" dirty="0"/>
              <a:t>Data is then forwarded for ETL processing.</a:t>
            </a:r>
          </a:p>
          <a:p>
            <a:br>
              <a:rPr lang="en-US" dirty="0"/>
            </a:br>
            <a:r>
              <a:rPr lang="en-US" b="1" dirty="0"/>
              <a:t>Processing Layer</a:t>
            </a:r>
          </a:p>
          <a:p>
            <a:r>
              <a:rPr lang="en-US" b="1" dirty="0"/>
              <a:t>AWS Glue Streaming Job</a:t>
            </a:r>
            <a:r>
              <a:rPr lang="en-US" dirty="0"/>
              <a:t> (</a:t>
            </a:r>
            <a:r>
              <a:rPr lang="en-US" dirty="0" err="1"/>
              <a:t>PySpark</a:t>
            </a:r>
            <a:r>
              <a:rPr lang="en-US" dirty="0"/>
              <a:t> ETL) processes incoming JSON data continuously.</a:t>
            </a:r>
          </a:p>
          <a:p>
            <a:pPr lvl="1"/>
            <a:r>
              <a:rPr lang="en-US" dirty="0"/>
              <a:t>Cleans and transforms records.</a:t>
            </a:r>
          </a:p>
          <a:p>
            <a:pPr lvl="1"/>
            <a:r>
              <a:rPr lang="en-US" dirty="0"/>
              <a:t>Applies schema mapping and filtering.</a:t>
            </a:r>
          </a:p>
          <a:p>
            <a:r>
              <a:rPr lang="en-US" b="1" dirty="0"/>
              <a:t>AWS Glue Crawler</a:t>
            </a:r>
            <a:r>
              <a:rPr lang="en-US" dirty="0"/>
              <a:t> automatically updates the </a:t>
            </a:r>
            <a:r>
              <a:rPr lang="en-US" b="1" dirty="0"/>
              <a:t>Data Catalog</a:t>
            </a:r>
            <a:r>
              <a:rPr lang="en-US" dirty="0"/>
              <a:t>, ensuring schemas are inferred dynamically.</a:t>
            </a:r>
          </a:p>
          <a:p>
            <a:r>
              <a:rPr lang="en-US" dirty="0"/>
              <a:t>Output: </a:t>
            </a:r>
            <a:r>
              <a:rPr lang="en-US" b="1" dirty="0"/>
              <a:t>Cleaned &amp; Structured CSV data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 Storage Layer</a:t>
            </a:r>
          </a:p>
          <a:p>
            <a:r>
              <a:rPr lang="en-US" b="1" dirty="0"/>
              <a:t>Amazon S3</a:t>
            </a:r>
            <a:r>
              <a:rPr lang="en-US" dirty="0"/>
              <a:t> acts as the central data lake.</a:t>
            </a:r>
          </a:p>
          <a:p>
            <a:pPr lvl="1"/>
            <a:r>
              <a:rPr lang="en-US" sz="1300" dirty="0"/>
              <a:t>raw/</a:t>
            </a:r>
            <a:r>
              <a:rPr lang="en-US" dirty="0"/>
              <a:t> → raw incoming data</a:t>
            </a:r>
          </a:p>
          <a:p>
            <a:pPr lvl="1"/>
            <a:r>
              <a:rPr lang="en-US" sz="1300" dirty="0"/>
              <a:t>processed/</a:t>
            </a:r>
            <a:r>
              <a:rPr lang="en-US" dirty="0"/>
              <a:t> → transformed/cleaned data</a:t>
            </a:r>
          </a:p>
          <a:p>
            <a:pPr lvl="1"/>
            <a:r>
              <a:rPr lang="en-US" sz="1300" dirty="0"/>
              <a:t>query-results/</a:t>
            </a:r>
            <a:r>
              <a:rPr lang="en-US" dirty="0"/>
              <a:t> → Athena query outputs</a:t>
            </a:r>
          </a:p>
          <a:p>
            <a:r>
              <a:rPr lang="en-US" dirty="0"/>
              <a:t>Enables data versioning and future reprocessing.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Query Layer</a:t>
            </a:r>
          </a:p>
          <a:p>
            <a:r>
              <a:rPr lang="en-US" b="1" dirty="0"/>
              <a:t>Amazon Athena</a:t>
            </a:r>
            <a:r>
              <a:rPr lang="en-US" dirty="0"/>
              <a:t> performs </a:t>
            </a:r>
            <a:r>
              <a:rPr lang="en-US" b="1" dirty="0"/>
              <a:t>SQL-based analytics</a:t>
            </a:r>
            <a:r>
              <a:rPr lang="en-US" dirty="0"/>
              <a:t> directly on S3 data (via the Glue Data Catalog).</a:t>
            </a:r>
          </a:p>
          <a:p>
            <a:r>
              <a:rPr lang="en-US" dirty="0"/>
              <a:t>Query results are stored back in S3 for further visualization or reporting.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 Monitoring Layer</a:t>
            </a:r>
          </a:p>
          <a:p>
            <a:r>
              <a:rPr lang="en-US" b="1" dirty="0"/>
              <a:t>Amazon CloudWatch</a:t>
            </a:r>
            <a:r>
              <a:rPr lang="en-US" dirty="0"/>
              <a:t> collects and visualizes:</a:t>
            </a:r>
          </a:p>
          <a:p>
            <a:pPr lvl="1"/>
            <a:r>
              <a:rPr lang="en-US" dirty="0"/>
              <a:t>Stream metrics (from Kinesis)</a:t>
            </a:r>
          </a:p>
          <a:p>
            <a:pPr lvl="1"/>
            <a:r>
              <a:rPr lang="en-US" dirty="0"/>
              <a:t>ETL job logs (from Glue)</a:t>
            </a:r>
          </a:p>
          <a:p>
            <a:pPr lvl="1"/>
            <a:r>
              <a:rPr lang="en-US" dirty="0"/>
              <a:t>Operational alerts (failures, latency, etc.)</a:t>
            </a:r>
          </a:p>
          <a:p>
            <a:r>
              <a:rPr lang="en-US" dirty="0"/>
              <a:t>Ensures continuous visibility and debugging support.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Key Benefits</a:t>
            </a:r>
          </a:p>
          <a:p>
            <a:r>
              <a:rPr lang="en-US" dirty="0"/>
              <a:t>Fully </a:t>
            </a:r>
            <a:r>
              <a:rPr lang="en-US" b="1" dirty="0"/>
              <a:t>Serverless</a:t>
            </a:r>
            <a:r>
              <a:rPr lang="en-US" dirty="0"/>
              <a:t> — no infrastructure management</a:t>
            </a:r>
          </a:p>
          <a:p>
            <a:r>
              <a:rPr lang="en-US" b="1" dirty="0"/>
              <a:t>Real-time</a:t>
            </a:r>
            <a:r>
              <a:rPr lang="en-US" dirty="0"/>
              <a:t> streaming and transformation</a:t>
            </a:r>
          </a:p>
          <a:p>
            <a:r>
              <a:rPr lang="en-US" b="1" dirty="0"/>
              <a:t>Schema automation</a:t>
            </a:r>
            <a:r>
              <a:rPr lang="en-US" dirty="0"/>
              <a:t> via Glue Crawler</a:t>
            </a:r>
          </a:p>
          <a:p>
            <a:r>
              <a:rPr lang="en-US" b="1" dirty="0"/>
              <a:t>Pay-per-query</a:t>
            </a:r>
            <a:r>
              <a:rPr lang="en-US" dirty="0"/>
              <a:t> analytics with Athena</a:t>
            </a:r>
          </a:p>
          <a:p>
            <a:r>
              <a:rPr lang="en-US" b="1" dirty="0"/>
              <a:t>End-to-end monitoring</a:t>
            </a:r>
            <a:r>
              <a:rPr lang="en-US" dirty="0"/>
              <a:t> with CloudWatch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38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🗒️ Talking Notes:</a:t>
            </a:r>
          </a:p>
          <a:p>
            <a:r>
              <a:rPr lang="en-GB" b="1" dirty="0"/>
              <a:t>1. Data Source (📱 Mobile Logs CSV)</a:t>
            </a:r>
          </a:p>
          <a:p>
            <a:r>
              <a:rPr lang="en-GB" dirty="0"/>
              <a:t>The pipeline begins with a </a:t>
            </a:r>
            <a:r>
              <a:rPr lang="en-GB" b="1" dirty="0"/>
              <a:t>mobile logs dataset</a:t>
            </a:r>
            <a:r>
              <a:rPr lang="en-GB" dirty="0"/>
              <a:t> (CSV) that simulates real telecom network data — signal strength, GPS coordinates, and network status.</a:t>
            </a:r>
          </a:p>
          <a:p>
            <a:r>
              <a:rPr lang="en-GB" dirty="0"/>
              <a:t>A </a:t>
            </a:r>
            <a:r>
              <a:rPr lang="en-GB" b="1" dirty="0"/>
              <a:t>Python producer script</a:t>
            </a:r>
            <a:r>
              <a:rPr lang="en-GB" dirty="0"/>
              <a:t> streams this data in real-time to AWS.</a:t>
            </a:r>
          </a:p>
          <a:p>
            <a:r>
              <a:rPr lang="en-GB" b="1" dirty="0"/>
              <a:t>2. Ingestion Layer (🌀 Kinesis Data Stream)</a:t>
            </a:r>
          </a:p>
          <a:p>
            <a:r>
              <a:rPr lang="en-GB" b="1" dirty="0"/>
              <a:t>Amazon Kinesis</a:t>
            </a:r>
            <a:r>
              <a:rPr lang="en-GB" dirty="0"/>
              <a:t> acts as the real-time ingestion point.</a:t>
            </a:r>
          </a:p>
          <a:p>
            <a:r>
              <a:rPr lang="en-GB" dirty="0"/>
              <a:t>It receives streaming records continuously and ensures </a:t>
            </a:r>
            <a:r>
              <a:rPr lang="en-GB" b="1" dirty="0"/>
              <a:t>scalable, fault-tolerant data capture</a:t>
            </a:r>
            <a:r>
              <a:rPr lang="en-GB" dirty="0"/>
              <a:t>.</a:t>
            </a:r>
          </a:p>
          <a:p>
            <a:r>
              <a:rPr lang="en-GB" dirty="0"/>
              <a:t>Helps handle </a:t>
            </a:r>
            <a:r>
              <a:rPr lang="en-GB" b="1" dirty="0"/>
              <a:t>high velocity and volume</a:t>
            </a:r>
            <a:r>
              <a:rPr lang="en-GB" dirty="0"/>
              <a:t> of telecom signal logs.</a:t>
            </a:r>
          </a:p>
          <a:p>
            <a:r>
              <a:rPr lang="en-GB" b="1" dirty="0"/>
              <a:t>3. Storage Layer (🪣 S3 Raw → Processed)</a:t>
            </a:r>
          </a:p>
          <a:p>
            <a:r>
              <a:rPr lang="en-GB" dirty="0"/>
              <a:t>Incoming data is first stored in </a:t>
            </a:r>
            <a:r>
              <a:rPr lang="en-GB" b="1" dirty="0"/>
              <a:t>S3 (Raw Zone)</a:t>
            </a:r>
            <a:r>
              <a:rPr lang="en-GB" dirty="0"/>
              <a:t> for reliability and traceability.</a:t>
            </a:r>
          </a:p>
          <a:p>
            <a:r>
              <a:rPr lang="en-GB" dirty="0"/>
              <a:t>After transformation, it’s moved to </a:t>
            </a:r>
            <a:r>
              <a:rPr lang="en-GB" b="1" dirty="0"/>
              <a:t>S3 (Processed Zone)</a:t>
            </a:r>
            <a:r>
              <a:rPr lang="en-GB" dirty="0"/>
              <a:t> — organized and cleaned for analysis.</a:t>
            </a:r>
          </a:p>
          <a:p>
            <a:r>
              <a:rPr lang="en-GB" dirty="0"/>
              <a:t>Acts as a </a:t>
            </a:r>
            <a:r>
              <a:rPr lang="en-GB" b="1" dirty="0"/>
              <a:t>central data lake</a:t>
            </a:r>
            <a:r>
              <a:rPr lang="en-GB" dirty="0"/>
              <a:t>.</a:t>
            </a:r>
          </a:p>
          <a:p>
            <a:r>
              <a:rPr lang="en-GB" b="1" dirty="0"/>
              <a:t>4. Processing Layer (⚙️ Glue ETL + Crawler)</a:t>
            </a:r>
          </a:p>
          <a:p>
            <a:r>
              <a:rPr lang="en-GB" b="1" dirty="0"/>
              <a:t>AWS Glue Streaming Job (</a:t>
            </a:r>
            <a:r>
              <a:rPr lang="en-GB" b="1" dirty="0" err="1"/>
              <a:t>PySpark</a:t>
            </a:r>
            <a:r>
              <a:rPr lang="en-GB" b="1" dirty="0"/>
              <a:t>)</a:t>
            </a:r>
            <a:r>
              <a:rPr lang="en-GB" dirty="0"/>
              <a:t> cleans and transforms raw JSON data into structured format.</a:t>
            </a:r>
          </a:p>
          <a:p>
            <a:r>
              <a:rPr lang="en-GB" dirty="0"/>
              <a:t>A </a:t>
            </a:r>
            <a:r>
              <a:rPr lang="en-GB" b="1" dirty="0"/>
              <a:t>Glue Crawler</a:t>
            </a:r>
            <a:r>
              <a:rPr lang="en-GB" dirty="0"/>
              <a:t> updates the </a:t>
            </a:r>
            <a:r>
              <a:rPr lang="en-GB" b="1" dirty="0"/>
              <a:t>Data </a:t>
            </a:r>
            <a:r>
              <a:rPr lang="en-GB" b="1" dirty="0" err="1"/>
              <a:t>Catalog</a:t>
            </a:r>
            <a:r>
              <a:rPr lang="en-GB" dirty="0"/>
              <a:t>, automatically detecting schema and data types.</a:t>
            </a:r>
          </a:p>
          <a:p>
            <a:r>
              <a:rPr lang="en-GB" dirty="0"/>
              <a:t>Key metrics like </a:t>
            </a:r>
            <a:r>
              <a:rPr lang="en-GB" b="1" dirty="0"/>
              <a:t>average signal strength</a:t>
            </a:r>
            <a:r>
              <a:rPr lang="en-GB" dirty="0"/>
              <a:t> and </a:t>
            </a:r>
            <a:r>
              <a:rPr lang="en-GB" b="1" dirty="0"/>
              <a:t>network status</a:t>
            </a:r>
            <a:r>
              <a:rPr lang="en-GB" dirty="0"/>
              <a:t> are computed here.</a:t>
            </a:r>
          </a:p>
          <a:p>
            <a:r>
              <a:rPr lang="en-GB" b="1" dirty="0"/>
              <a:t>5. Query Layer (🔍 Athena)</a:t>
            </a:r>
          </a:p>
          <a:p>
            <a:r>
              <a:rPr lang="en-GB" b="1" dirty="0"/>
              <a:t>Amazon Athena</a:t>
            </a:r>
            <a:r>
              <a:rPr lang="en-GB" dirty="0"/>
              <a:t> runs SQL queries directly on processed S3 data.</a:t>
            </a:r>
          </a:p>
          <a:p>
            <a:r>
              <a:rPr lang="en-GB" dirty="0"/>
              <a:t>Enables analysts to get </a:t>
            </a:r>
            <a:r>
              <a:rPr lang="en-GB" b="1" dirty="0"/>
              <a:t>on-demand insights</a:t>
            </a:r>
            <a:r>
              <a:rPr lang="en-GB" dirty="0"/>
              <a:t> without complex setup.</a:t>
            </a:r>
          </a:p>
          <a:p>
            <a:r>
              <a:rPr lang="en-GB" dirty="0"/>
              <a:t>Example queries: </a:t>
            </a:r>
            <a:r>
              <a:rPr lang="en-GB" i="1" dirty="0"/>
              <a:t>“Average signal per region”</a:t>
            </a:r>
            <a:r>
              <a:rPr lang="en-GB" dirty="0"/>
              <a:t>, </a:t>
            </a:r>
            <a:r>
              <a:rPr lang="en-GB" i="1" dirty="0"/>
              <a:t>“GPS accuracy by postal code”</a:t>
            </a:r>
            <a:r>
              <a:rPr lang="en-GB" dirty="0"/>
              <a:t>.</a:t>
            </a:r>
          </a:p>
          <a:p>
            <a:r>
              <a:rPr lang="en-GB" b="1" dirty="0"/>
              <a:t>6. Result Storage (📊 S3 Query Results)</a:t>
            </a:r>
          </a:p>
          <a:p>
            <a:r>
              <a:rPr lang="en-GB" dirty="0"/>
              <a:t>Query results are stored back in </a:t>
            </a:r>
            <a:r>
              <a:rPr lang="en-GB" b="1" dirty="0"/>
              <a:t>S3</a:t>
            </a:r>
            <a:r>
              <a:rPr lang="en-GB" dirty="0"/>
              <a:t> for easy visualization and reuse.</a:t>
            </a:r>
          </a:p>
          <a:p>
            <a:r>
              <a:rPr lang="en-GB" dirty="0"/>
              <a:t>Can be connected to </a:t>
            </a:r>
            <a:r>
              <a:rPr lang="en-GB" b="1" dirty="0" err="1"/>
              <a:t>QuickSight</a:t>
            </a:r>
            <a:r>
              <a:rPr lang="en-GB" b="1" dirty="0"/>
              <a:t> or dashboards</a:t>
            </a:r>
            <a:r>
              <a:rPr lang="en-GB" dirty="0"/>
              <a:t> for reporting.</a:t>
            </a:r>
          </a:p>
          <a:p>
            <a:r>
              <a:rPr lang="en-GB" b="1" dirty="0"/>
              <a:t>7. Monitoring Layer (📉 CloudWatch)</a:t>
            </a:r>
          </a:p>
          <a:p>
            <a:r>
              <a:rPr lang="en-GB" b="1" dirty="0"/>
              <a:t>AWS CloudWatch</a:t>
            </a:r>
            <a:r>
              <a:rPr lang="en-GB" dirty="0"/>
              <a:t> tracks ETL job metrics, Kinesis stream health, and system alerts.</a:t>
            </a:r>
          </a:p>
          <a:p>
            <a:r>
              <a:rPr lang="en-GB" dirty="0"/>
              <a:t>Ensures </a:t>
            </a:r>
            <a:r>
              <a:rPr lang="en-GB" b="1" dirty="0"/>
              <a:t>pipeline reliability</a:t>
            </a:r>
            <a:r>
              <a:rPr lang="en-GB" dirty="0"/>
              <a:t> and early detection of data flow issues.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This section demonstrates how we implemented each AWS component step-by-step — from streaming data to generating analytical insights.</a:t>
            </a:r>
            <a:br>
              <a:rPr lang="en-GB" dirty="0"/>
            </a:br>
            <a:br>
              <a:rPr lang="en-GB" dirty="0"/>
            </a:b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57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300" dirty="0"/>
              <a:t>This Python script is designed to </a:t>
            </a:r>
            <a:r>
              <a:rPr lang="en-GB" sz="1300" b="1" dirty="0"/>
              <a:t>simulate streaming data</a:t>
            </a:r>
            <a:r>
              <a:rPr lang="en-GB" sz="1300" dirty="0"/>
              <a:t> from a local </a:t>
            </a:r>
            <a:r>
              <a:rPr lang="en-GB" sz="1300" b="1" dirty="0"/>
              <a:t>CSV file</a:t>
            </a:r>
            <a:r>
              <a:rPr lang="en-GB" sz="1300" dirty="0"/>
              <a:t> into an </a:t>
            </a:r>
            <a:r>
              <a:rPr lang="en-GB" sz="1300" b="1" dirty="0"/>
              <a:t>Amazon Kinesis Data Stream</a:t>
            </a:r>
            <a:r>
              <a:rPr lang="en-GB" sz="1300" dirty="0"/>
              <a:t>. It processes the CSV data, converts each row into a JSON object, and then sends it as a record to the Kinesis stream.</a:t>
            </a:r>
          </a:p>
          <a:p>
            <a:pPr rtl="0"/>
            <a:r>
              <a:rPr lang="en-GB" sz="1300" dirty="0"/>
              <a:t>Here is a breakdown of the script's components and actions:</a:t>
            </a:r>
          </a:p>
          <a:p>
            <a:pPr rtl="0"/>
            <a:br>
              <a:rPr lang="en-GB" sz="1300" dirty="0"/>
            </a:br>
            <a:endParaRPr lang="en-GB" sz="1300" dirty="0"/>
          </a:p>
          <a:p>
            <a:pPr rtl="0"/>
            <a:r>
              <a:rPr lang="en-GB" sz="1300" b="1" dirty="0"/>
              <a:t>💻 Dependencies and Setup</a:t>
            </a:r>
          </a:p>
          <a:p>
            <a:pPr rtl="0"/>
            <a:r>
              <a:rPr lang="en-GB" sz="1300" b="1" dirty="0"/>
              <a:t>import csv, </a:t>
            </a:r>
            <a:r>
              <a:rPr lang="en-GB" sz="1300" b="1" dirty="0" err="1"/>
              <a:t>json</a:t>
            </a:r>
            <a:r>
              <a:rPr lang="en-GB" sz="1300" b="1" dirty="0"/>
              <a:t>, time, boto3</a:t>
            </a:r>
            <a:r>
              <a:rPr lang="en-GB" sz="1300" dirty="0"/>
              <a:t>: Imports necessary Python modules:</a:t>
            </a:r>
          </a:p>
          <a:p>
            <a:pPr lvl="1" rtl="0"/>
            <a:r>
              <a:rPr lang="en-GB" sz="1300" dirty="0"/>
              <a:t>csv: To read and process the CSV file.</a:t>
            </a:r>
          </a:p>
          <a:p>
            <a:pPr lvl="1" rtl="0"/>
            <a:r>
              <a:rPr lang="en-GB" sz="1300" dirty="0" err="1"/>
              <a:t>json</a:t>
            </a:r>
            <a:r>
              <a:rPr lang="en-GB" sz="1300" dirty="0"/>
              <a:t>: To convert the CSV row (dictionary) into a JSON string for the Kinesis record.</a:t>
            </a:r>
          </a:p>
          <a:p>
            <a:pPr lvl="1" rtl="0"/>
            <a:r>
              <a:rPr lang="en-GB" sz="1300" dirty="0"/>
              <a:t>time: To introduce a delay between sending records (simulating a stream).</a:t>
            </a:r>
          </a:p>
          <a:p>
            <a:pPr lvl="1" rtl="0"/>
            <a:r>
              <a:rPr lang="en-GB" sz="1300" dirty="0"/>
              <a:t>boto3: The </a:t>
            </a:r>
            <a:r>
              <a:rPr lang="en-GB" sz="1300" b="1" dirty="0"/>
              <a:t>Amazon Web Services (AWS) SDK for Python</a:t>
            </a:r>
            <a:r>
              <a:rPr lang="en-GB" sz="1300" dirty="0"/>
              <a:t>, used to interact with Kinesis.</a:t>
            </a:r>
          </a:p>
          <a:p>
            <a:pPr rtl="0"/>
            <a:r>
              <a:rPr lang="en-GB" sz="1300" b="1" dirty="0"/>
              <a:t>Constants</a:t>
            </a:r>
            <a:r>
              <a:rPr lang="en-GB" sz="1300" dirty="0"/>
              <a:t>:</a:t>
            </a:r>
          </a:p>
          <a:p>
            <a:pPr lvl="1" rtl="0"/>
            <a:r>
              <a:rPr lang="en-GB" sz="1300" dirty="0"/>
              <a:t>STREAM_NAME = "kinesis-mobile-log-stream": Specifies the name of the target Kinesis Data Stream.</a:t>
            </a:r>
          </a:p>
          <a:p>
            <a:pPr lvl="1" rtl="0"/>
            <a:r>
              <a:rPr lang="en-GB" sz="1300" dirty="0"/>
              <a:t>CSV_PATH = "mobile-logs.csv": Specifies the path to the local data file.</a:t>
            </a:r>
          </a:p>
          <a:p>
            <a:pPr lvl="1" rtl="0"/>
            <a:r>
              <a:rPr lang="en-GB" sz="1300" dirty="0"/>
              <a:t>SLEEP = 0.05: Defines the pause (in seconds) between sending each record.</a:t>
            </a:r>
          </a:p>
          <a:p>
            <a:pPr rtl="0"/>
            <a:r>
              <a:rPr lang="en-GB" sz="1300" b="1" dirty="0"/>
              <a:t>Kinesis Client Initialization</a:t>
            </a:r>
            <a:r>
              <a:rPr lang="en-GB" sz="1300" dirty="0"/>
              <a:t>:</a:t>
            </a:r>
          </a:p>
          <a:p>
            <a:pPr lvl="1" rtl="0"/>
            <a:r>
              <a:rPr lang="en-GB" sz="1300" dirty="0"/>
              <a:t>kinesis = boto3.client("kinesis", </a:t>
            </a:r>
            <a:r>
              <a:rPr lang="en-GB" sz="1300" dirty="0" err="1"/>
              <a:t>region_name</a:t>
            </a:r>
            <a:r>
              <a:rPr lang="en-GB" sz="1300" dirty="0"/>
              <a:t>="us-east-1"): Creates a client object to interact with the Kinesis service, specifically in the us-east-1 region.</a:t>
            </a:r>
          </a:p>
          <a:p>
            <a:pPr rtl="0"/>
            <a:br>
              <a:rPr lang="en-GB" sz="1300" dirty="0"/>
            </a:br>
            <a:endParaRPr lang="en-GB" sz="1300" dirty="0"/>
          </a:p>
          <a:p>
            <a:pPr rtl="0"/>
            <a:r>
              <a:rPr lang="en-GB" sz="1300" b="1" dirty="0"/>
              <a:t>🚀 Data Processing and Streaming Logic</a:t>
            </a:r>
          </a:p>
          <a:p>
            <a:pPr rtl="0"/>
            <a:r>
              <a:rPr lang="en-GB" sz="1300" dirty="0"/>
              <a:t>The core of the script is the loop that reads the file and sends data:</a:t>
            </a:r>
          </a:p>
          <a:p>
            <a:pPr rtl="0"/>
            <a:r>
              <a:rPr lang="en-GB" sz="1300" b="1" dirty="0"/>
              <a:t>Open and Read CSV</a:t>
            </a:r>
            <a:r>
              <a:rPr lang="en-GB" sz="1300" dirty="0"/>
              <a:t>:</a:t>
            </a:r>
          </a:p>
          <a:p>
            <a:pPr rtl="0"/>
            <a:r>
              <a:rPr lang="en-GB" sz="1300" dirty="0"/>
              <a:t>Python</a:t>
            </a:r>
          </a:p>
          <a:p>
            <a:pPr rtl="0"/>
            <a:r>
              <a:rPr lang="en-GB" sz="1300" dirty="0"/>
              <a:t>with open(CSV_PATH, 'r') as f:</a:t>
            </a:r>
          </a:p>
          <a:p>
            <a:pPr rtl="0"/>
            <a:r>
              <a:rPr lang="en-GB" sz="1300" dirty="0"/>
              <a:t>    reader = </a:t>
            </a:r>
            <a:r>
              <a:rPr lang="en-GB" sz="1300" dirty="0" err="1"/>
              <a:t>csv.DictReader</a:t>
            </a:r>
            <a:r>
              <a:rPr lang="en-GB" sz="1300" dirty="0"/>
              <a:t>(f)</a:t>
            </a:r>
          </a:p>
          <a:p>
            <a:pPr lvl="1" rtl="0"/>
            <a:r>
              <a:rPr lang="en-GB" sz="1300" dirty="0"/>
              <a:t>Opens the file at CSV_PATH for reading.</a:t>
            </a:r>
          </a:p>
          <a:p>
            <a:pPr lvl="1" rtl="0"/>
            <a:r>
              <a:rPr lang="en-GB" sz="1300" dirty="0" err="1"/>
              <a:t>csv.DictReader</a:t>
            </a:r>
            <a:r>
              <a:rPr lang="en-GB" sz="1300" dirty="0"/>
              <a:t>(f) treats each row in the CSV as a </a:t>
            </a:r>
            <a:r>
              <a:rPr lang="en-GB" sz="1300" b="1" dirty="0"/>
              <a:t>dictionary</a:t>
            </a:r>
            <a:r>
              <a:rPr lang="en-GB" sz="1300" dirty="0"/>
              <a:t> where the keys are the column headers.</a:t>
            </a:r>
          </a:p>
          <a:p>
            <a:pPr rtl="0"/>
            <a:r>
              <a:rPr lang="en-GB" sz="1300" b="1" dirty="0"/>
              <a:t>Iterate and Send Records</a:t>
            </a:r>
            <a:r>
              <a:rPr lang="en-GB" sz="1300" dirty="0"/>
              <a:t>:</a:t>
            </a:r>
          </a:p>
          <a:p>
            <a:pPr rtl="0"/>
            <a:r>
              <a:rPr lang="en-GB" sz="1300" dirty="0"/>
              <a:t>Python</a:t>
            </a:r>
          </a:p>
          <a:p>
            <a:pPr rtl="0"/>
            <a:r>
              <a:rPr lang="en-GB" sz="1300" dirty="0"/>
              <a:t>for </a:t>
            </a:r>
            <a:r>
              <a:rPr lang="en-GB" sz="1300" dirty="0" err="1"/>
              <a:t>i</a:t>
            </a:r>
            <a:r>
              <a:rPr lang="en-GB" sz="1300" dirty="0"/>
              <a:t>, row in enumerate(reader):</a:t>
            </a:r>
          </a:p>
          <a:p>
            <a:pPr rtl="0"/>
            <a:r>
              <a:rPr lang="en-GB" sz="1300" dirty="0"/>
              <a:t>    data = </a:t>
            </a:r>
            <a:r>
              <a:rPr lang="en-GB" sz="1300" dirty="0" err="1"/>
              <a:t>json.dumps</a:t>
            </a:r>
            <a:r>
              <a:rPr lang="en-GB" sz="1300" dirty="0"/>
              <a:t>(row)</a:t>
            </a:r>
          </a:p>
          <a:p>
            <a:pPr rtl="0"/>
            <a:r>
              <a:rPr lang="en-GB" sz="1300" dirty="0"/>
              <a:t>    </a:t>
            </a:r>
            <a:r>
              <a:rPr lang="en-GB" sz="1300" dirty="0" err="1"/>
              <a:t>kinesis.put_record</a:t>
            </a:r>
            <a:r>
              <a:rPr lang="en-GB" sz="1300" dirty="0"/>
              <a:t>(</a:t>
            </a:r>
            <a:r>
              <a:rPr lang="en-GB" sz="1300" dirty="0" err="1"/>
              <a:t>StreamName</a:t>
            </a:r>
            <a:r>
              <a:rPr lang="en-GB" sz="1300" dirty="0"/>
              <a:t>=STREAM_NAME, Data=</a:t>
            </a:r>
            <a:r>
              <a:rPr lang="en-GB" sz="1300" dirty="0" err="1"/>
              <a:t>data.encode</a:t>
            </a:r>
            <a:r>
              <a:rPr lang="en-GB" sz="1300" dirty="0"/>
              <a:t>('utf-8'), </a:t>
            </a:r>
            <a:r>
              <a:rPr lang="en-GB" sz="1300" dirty="0" err="1"/>
              <a:t>PartitionKey</a:t>
            </a:r>
            <a:r>
              <a:rPr lang="en-GB" sz="1300" dirty="0"/>
              <a:t>=str(i%10))</a:t>
            </a:r>
          </a:p>
          <a:p>
            <a:pPr rtl="0"/>
            <a:r>
              <a:rPr lang="en-GB" sz="1300" dirty="0"/>
              <a:t>    # ... (logging and sleep)</a:t>
            </a:r>
          </a:p>
          <a:p>
            <a:pPr lvl="1" rtl="0"/>
            <a:r>
              <a:rPr lang="en-GB" sz="1300" b="1" dirty="0"/>
              <a:t>for </a:t>
            </a:r>
            <a:r>
              <a:rPr lang="en-GB" sz="1300" b="1" dirty="0" err="1"/>
              <a:t>i</a:t>
            </a:r>
            <a:r>
              <a:rPr lang="en-GB" sz="1300" b="1" dirty="0"/>
              <a:t>, row in enumerate(reader):</a:t>
            </a:r>
            <a:r>
              <a:rPr lang="en-GB" sz="1300" dirty="0"/>
              <a:t>: Loops through each row (row is a dictionary) and keeps track of the record index (</a:t>
            </a:r>
            <a:r>
              <a:rPr lang="en-GB" sz="1300" dirty="0" err="1"/>
              <a:t>i</a:t>
            </a:r>
            <a:r>
              <a:rPr lang="en-GB" sz="1300" dirty="0"/>
              <a:t>).</a:t>
            </a:r>
          </a:p>
          <a:p>
            <a:pPr lvl="1" rtl="0"/>
            <a:r>
              <a:rPr lang="en-GB" sz="1300" b="1" dirty="0"/>
              <a:t>data = </a:t>
            </a:r>
            <a:r>
              <a:rPr lang="en-GB" sz="1300" b="1" dirty="0" err="1"/>
              <a:t>json.dumps</a:t>
            </a:r>
            <a:r>
              <a:rPr lang="en-GB" sz="1300" b="1" dirty="0"/>
              <a:t>(row)</a:t>
            </a:r>
            <a:r>
              <a:rPr lang="en-GB" sz="1300" dirty="0"/>
              <a:t>: Converts the dictionary (row) into a JSON formatted string. Kinesis records typically contain JSON or similar serialized data.</a:t>
            </a:r>
          </a:p>
          <a:p>
            <a:pPr lvl="1" rtl="0"/>
            <a:r>
              <a:rPr lang="en-GB" sz="1300" b="1" dirty="0" err="1"/>
              <a:t>kinesis.put_record</a:t>
            </a:r>
            <a:r>
              <a:rPr lang="en-GB" sz="1300" b="1" dirty="0"/>
              <a:t>(...)</a:t>
            </a:r>
            <a:r>
              <a:rPr lang="en-GB" sz="1300" dirty="0"/>
              <a:t>: This is the crucial AWS SDK call that sends the data:</a:t>
            </a:r>
          </a:p>
          <a:p>
            <a:pPr lvl="2" rtl="0"/>
            <a:r>
              <a:rPr lang="en-GB" sz="1300" dirty="0" err="1"/>
              <a:t>StreamName</a:t>
            </a:r>
            <a:r>
              <a:rPr lang="en-GB" sz="1300" dirty="0"/>
              <a:t>=STREAM_NAME: Targets the specified Kinesis stream.</a:t>
            </a:r>
          </a:p>
          <a:p>
            <a:pPr lvl="2" rtl="0"/>
            <a:r>
              <a:rPr lang="en-GB" sz="1300" dirty="0"/>
              <a:t>Data=</a:t>
            </a:r>
            <a:r>
              <a:rPr lang="en-GB" sz="1300" dirty="0" err="1"/>
              <a:t>data.encode</a:t>
            </a:r>
            <a:r>
              <a:rPr lang="en-GB" sz="1300" dirty="0"/>
              <a:t>('utf-8'): The JSON string is encoded into bytes (UTF-8) before being sent, as Kinesis expects a byte array.</a:t>
            </a:r>
          </a:p>
          <a:p>
            <a:pPr lvl="2" rtl="0"/>
            <a:r>
              <a:rPr lang="en-GB" sz="1300" dirty="0" err="1"/>
              <a:t>PartitionKey</a:t>
            </a:r>
            <a:r>
              <a:rPr lang="en-GB" sz="1300" dirty="0"/>
              <a:t>=str(i%10): Assigns a </a:t>
            </a:r>
            <a:r>
              <a:rPr lang="en-GB" sz="1300" b="1" dirty="0"/>
              <a:t>Partition Key</a:t>
            </a:r>
            <a:r>
              <a:rPr lang="en-GB" sz="1300" dirty="0"/>
              <a:t> to the record. The modulo operation (</a:t>
            </a:r>
            <a:r>
              <a:rPr lang="en-GB" sz="1300" dirty="0" err="1"/>
              <a:t>i</a:t>
            </a:r>
            <a:r>
              <a:rPr lang="en-GB" sz="1300" dirty="0"/>
              <a:t> % 10) ensures that records are distributed across 10 different partition keys (e.g., "0", "1", "2", ..., "9"). The Partition Key is essential for Kinesis to determine which </a:t>
            </a:r>
            <a:r>
              <a:rPr lang="en-GB" sz="1300" b="1" dirty="0"/>
              <a:t>shard</a:t>
            </a:r>
            <a:r>
              <a:rPr lang="en-GB" sz="1300" dirty="0"/>
              <a:t> (a logical partition of the stream) the record will be written to, ensuring even data distribution.</a:t>
            </a:r>
          </a:p>
          <a:p>
            <a:pPr rtl="0"/>
            <a:r>
              <a:rPr lang="en-GB" sz="1300" b="1" dirty="0"/>
              <a:t>Flow Control and Monitoring</a:t>
            </a:r>
            <a:r>
              <a:rPr lang="en-GB" sz="1300" dirty="0"/>
              <a:t>:</a:t>
            </a:r>
          </a:p>
          <a:p>
            <a:pPr rtl="0"/>
            <a:r>
              <a:rPr lang="en-GB" sz="1300" dirty="0"/>
              <a:t>Python</a:t>
            </a:r>
          </a:p>
          <a:p>
            <a:pPr rtl="0"/>
            <a:r>
              <a:rPr lang="en-GB" sz="1300" dirty="0"/>
              <a:t>if </a:t>
            </a:r>
            <a:r>
              <a:rPr lang="en-GB" sz="1300" dirty="0" err="1"/>
              <a:t>i</a:t>
            </a:r>
            <a:r>
              <a:rPr lang="en-GB" sz="1300" dirty="0"/>
              <a:t> % 50 == 0:</a:t>
            </a:r>
          </a:p>
          <a:p>
            <a:pPr rtl="0"/>
            <a:r>
              <a:rPr lang="en-GB" sz="1300" dirty="0"/>
              <a:t>    print("sent", </a:t>
            </a:r>
            <a:r>
              <a:rPr lang="en-GB" sz="1300" dirty="0" err="1"/>
              <a:t>i</a:t>
            </a:r>
            <a:r>
              <a:rPr lang="en-GB" sz="1300" dirty="0"/>
              <a:t>)</a:t>
            </a:r>
          </a:p>
          <a:p>
            <a:pPr rtl="0"/>
            <a:r>
              <a:rPr lang="en-GB" sz="1300" dirty="0" err="1"/>
              <a:t>time.sleep</a:t>
            </a:r>
            <a:r>
              <a:rPr lang="en-GB" sz="1300" dirty="0"/>
              <a:t>(SLEEP)</a:t>
            </a:r>
          </a:p>
          <a:p>
            <a:pPr lvl="1" rtl="0"/>
            <a:r>
              <a:rPr lang="en-GB" sz="1300" b="1" dirty="0"/>
              <a:t>Logging</a:t>
            </a:r>
            <a:r>
              <a:rPr lang="en-GB" sz="1300" dirty="0"/>
              <a:t>: Prints a status update every 50 records to show progress.</a:t>
            </a:r>
          </a:p>
          <a:p>
            <a:pPr lvl="1" rtl="0"/>
            <a:r>
              <a:rPr lang="en-GB" sz="1300" b="1" dirty="0"/>
              <a:t>Delay</a:t>
            </a:r>
            <a:r>
              <a:rPr lang="en-GB" sz="1300" dirty="0"/>
              <a:t>: The </a:t>
            </a:r>
            <a:r>
              <a:rPr lang="en-GB" sz="1300" dirty="0" err="1"/>
              <a:t>time.sleep</a:t>
            </a:r>
            <a:r>
              <a:rPr lang="en-GB" sz="1300" dirty="0"/>
              <a:t>(0.05) ensures the records are sent at a slow, controlled rate, mimicking a steady stream of data rather than a bulk upload, which is a common pattern for data stream producers.</a:t>
            </a:r>
          </a:p>
          <a:p>
            <a:pPr rtl="0"/>
            <a:r>
              <a:rPr lang="en-GB" sz="1300" dirty="0"/>
              <a:t>In essence, the script acts as a </a:t>
            </a:r>
            <a:r>
              <a:rPr lang="en-GB" sz="1300" b="1" dirty="0"/>
              <a:t>Producer</a:t>
            </a:r>
            <a:r>
              <a:rPr lang="en-GB" sz="1300" dirty="0"/>
              <a:t> sending records to the Kinesis Data Stream, which can then be processed by a </a:t>
            </a:r>
            <a:r>
              <a:rPr lang="en-GB" sz="1300" b="1" dirty="0"/>
              <a:t>Consumer</a:t>
            </a:r>
            <a:r>
              <a:rPr lang="en-GB" sz="1300" dirty="0"/>
              <a:t> application (not shown here).</a:t>
            </a:r>
          </a:p>
          <a:p>
            <a:pPr rtl="0"/>
            <a:r>
              <a:rPr lang="en-GB" sz="1300" dirty="0"/>
              <a:t>Would you like to know more about </a:t>
            </a:r>
            <a:r>
              <a:rPr lang="en-GB" sz="1300" b="1" dirty="0"/>
              <a:t>Amazon Kinesis Data Streams</a:t>
            </a:r>
            <a:r>
              <a:rPr lang="en-GB" sz="1300" dirty="0"/>
              <a:t> or see an example of how the </a:t>
            </a:r>
            <a:r>
              <a:rPr lang="en-GB" sz="1300" b="1" dirty="0"/>
              <a:t>Partition Key</a:t>
            </a:r>
            <a:r>
              <a:rPr lang="en-GB" sz="1300" dirty="0"/>
              <a:t> affects record distribution?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95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5C780-F223-32CC-4A1C-9E757E60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17AA0-8D76-AD2D-DE5A-9D5133362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15D6F-30E5-BDB4-12C7-80156B6F9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CCA22-0C87-38E3-5415-739454D4D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33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9D127-622C-A507-AAA1-355B88849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F0C53-F4CE-C1FC-50FE-77DAD1681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A0685-CAAC-3BD7-825C-48D971401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18196-44B7-0073-324C-CAB8099C5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98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49E8C-0F44-2AD9-414C-A513752A2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00908-0B27-3FF9-4DC2-EFD2F5390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EEE85F-49C4-9948-6238-89C107AA8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79E3F-8FDB-6D63-012F-76FA1A993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95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B9ECB-4FFA-696D-1ED4-2BDCE75FB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AC533-20DD-790A-52E4-9D5B1ED73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75096-4D94-991B-60FB-0064F914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30D14-0163-C26C-D805-D6148BA8B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57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2F919-4671-CB50-1624-5BB673BC1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DFC47-F9A2-BF79-4A8C-0DEF969D1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FE18D-D449-A73F-A60D-81AC575A9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3C147-922C-89A1-ECDB-869F07E35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52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BD05F-1BED-F08A-CDB8-97FB954F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22B9D-5768-66D5-9E79-9AB789B80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69B1-959D-5A50-D553-09954C77E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8049D-B589-4AB0-12B0-A8488C186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68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A44E1-F5B9-A3C4-8E12-BD2BFA12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C3200C-71A2-4E8B-B217-7D4B52906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90F40-F593-38B3-915D-05DE7097C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97EC2-D8BF-9BEF-6A66-D835CE686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14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8521D-6B19-ACB0-EFC2-915302420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F54C2-BBD3-4958-519E-50BFD92CF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A8F1F-CA6D-2CA2-CDD2-59CB2561B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BEF95-763A-7E30-DE89-288C6EA8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E365E-908C-A13C-EDBA-B3293D73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883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D19EF-F52A-4DB9-25CF-06595CE5E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B53D3-3C4B-109B-B5B0-53A7BEB28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6F7EF-C027-98A9-DC6E-A609F212E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543C7-4D02-C22B-DFCD-F383E37EB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E0D91-A666-3F3C-0027-E26495DCB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9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5EB3-B3C3-6808-0E2D-6E45B244A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26D3F-0C84-B2F7-7904-3532C9F39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01E7A-D42C-5C22-5E53-7163CF2FE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49CF7-4FD4-2AC1-A004-61D3514E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27BAC-F0B9-50B1-0C0A-DEEDA5036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239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75F67-D06D-DA92-0B7F-74265A2A0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A41B8-AE6D-13C1-198F-6E2E20BFD7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F184C-C570-3454-6810-5D2897871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76AD9-BE7D-0A9C-3B52-CD900743D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3E0A-A4D7-05FB-1689-0ABDC948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C380B-84C9-CC50-03EF-2DF06F12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433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0B3D-DBA4-B92F-6D92-19AE6C7A2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48911-1CE7-966D-864F-1038F378E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6C883-BD7E-46D6-23B2-22864F559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DFD4C0-F3AC-5254-A051-66D700D96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BE85C-A1C9-77E3-99AB-C67EC9ED9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DE4BF8-DD0F-7B99-E1CF-A0296F4B4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96E9D-E8EA-EB8F-68CD-95D16B57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B8DA2-1D86-19D3-C7A2-9CBDA5000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9C935-97C3-558C-B600-69A1A3C5D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920710-10C4-AA0E-F8B4-BDF0C6E3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F29551-A30F-EF5F-9AE8-A60D6B45A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7F693-581E-5DF1-213B-B932A163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919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263C8B-E38A-DFE2-4ACE-93F84C30B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EB31B1-016C-86EE-2A6B-0CFFB855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82AEE-85C9-20D4-11DA-D173CA5C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786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C5CDD-B80D-9784-EA1C-C37D3F7A9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80745-D46D-2A68-CD7B-A675AA4E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87FE9-C663-7ACB-34C1-E89D5EB4F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DD143-D2B6-7222-BAB2-730B4CF2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2925F-45C8-3865-3A18-43BDE3BD8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7B7EB-405F-E003-DECD-81B75B07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649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90D04-DBA8-15D4-1893-01E81FBB5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159742-BD91-0376-43E1-80638E14F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324CD-9125-C692-EABB-21A589B1D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2CF3F-DA83-181A-A188-E89A5B88D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1F18C-05FA-1FD4-BD86-B4ACF87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26BEB-D872-E386-F2A0-2316A29D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458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58AE6-337E-21B2-A10F-75C9FA531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51174-C4A3-4E87-8D45-297733A27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608B-0666-9958-E5DF-50EE11DF7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45C01-B6B6-10DB-39F5-B0698E4D7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B1245-F664-C0DC-4D2D-1D7FBB64D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251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4A12ED-46D9-2607-C8C8-C16F0321B1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FC252-4166-7E43-F4FC-9880B695B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B9C95-C237-14FE-3756-25E5BCCF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176EB-D6BC-8855-BE7F-4919C4B6C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A4B3F-1215-242F-6D55-0A58ADB9C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064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520239-92C6-873C-986A-40EA4F554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8AE8C-3B85-68C4-9BEA-9F661E38E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77FEF-FF99-ACB8-B09D-5D056C23B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BD6A9-A395-44A7-B4A3-31518BFD952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9FB3E-FB79-B435-C1C2-7D2146E25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EE1EE-C3CA-B238-4089-36FDAE64F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462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AB1C56-F180-B6EA-6323-B61100B98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045" y="2307866"/>
            <a:ext cx="6692827" cy="3892669"/>
          </a:xfrm>
        </p:spPr>
        <p:txBody>
          <a:bodyPr>
            <a:normAutofit/>
          </a:bodyPr>
          <a:lstStyle/>
          <a:p>
            <a:pPr algn="l"/>
            <a:r>
              <a:rPr lang="en-US" sz="6600"/>
              <a:t>Telecom Signal </a:t>
            </a:r>
            <a:r>
              <a:rPr lang="en-US" sz="6600" dirty="0"/>
              <a:t>Stream</a:t>
            </a:r>
            <a:br>
              <a:rPr lang="en-US" sz="6600" dirty="0"/>
            </a:br>
            <a:br>
              <a:rPr lang="en-US" sz="6600" dirty="0"/>
            </a:br>
            <a:r>
              <a:rPr lang="en-US" sz="5400" dirty="0"/>
              <a:t>Data Forge</a:t>
            </a:r>
            <a:endParaRPr lang="en-US" sz="6600" dirty="0"/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ignal tower - Free communications icons">
            <a:extLst>
              <a:ext uri="{FF2B5EF4-FFF2-40B4-BE49-F238E27FC236}">
                <a16:creationId xmlns:a16="http://schemas.microsoft.com/office/drawing/2014/main" id="{6F05D2DD-BF3E-A825-C441-6A2E117EE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81544" y="1267079"/>
            <a:ext cx="4087368" cy="408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146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Team Members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dirty="0"/>
              <a:t>Ijaz Ahmad S</a:t>
            </a:r>
          </a:p>
          <a:p>
            <a:r>
              <a:rPr lang="en-IN" dirty="0"/>
              <a:t>Kavya Bhatta S</a:t>
            </a:r>
          </a:p>
          <a:p>
            <a:r>
              <a:rPr lang="en-IN" dirty="0"/>
              <a:t>Rakesh Kumar    </a:t>
            </a:r>
          </a:p>
          <a:p>
            <a:r>
              <a:rPr lang="en-IN" dirty="0"/>
              <a:t>Sahana J Upadhyaya 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6150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41" y="799498"/>
            <a:ext cx="5013129" cy="530318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1400" b="1" dirty="0"/>
              <a:t>Problem Statement</a:t>
            </a:r>
          </a:p>
          <a:p>
            <a:pPr lvl="1"/>
            <a:r>
              <a:rPr lang="en-GB" sz="1400" dirty="0"/>
              <a:t>Telecom companies generate huge volumes of mobile-signal data every day.</a:t>
            </a:r>
          </a:p>
          <a:p>
            <a:pPr lvl="1"/>
            <a:r>
              <a:rPr lang="en-GB" sz="1400" dirty="0"/>
              <a:t>Delayed or manual analysis slows down issue detection and response.</a:t>
            </a:r>
          </a:p>
          <a:p>
            <a:pPr lvl="1"/>
            <a:r>
              <a:rPr lang="en-GB" sz="1400" dirty="0"/>
              <a:t>Need a real-time solution to monitor and analyse network health instantly.</a:t>
            </a:r>
          </a:p>
          <a:p>
            <a:pPr marL="457200" lvl="1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US" sz="1400" b="1" dirty="0"/>
              <a:t>Objective</a:t>
            </a:r>
          </a:p>
          <a:p>
            <a:pPr lvl="1"/>
            <a:r>
              <a:rPr lang="en-GB" sz="1400" dirty="0"/>
              <a:t>Build a real-time analytics pipeline using AWS Kinesis, Glue, Athena, and CloudWatch.</a:t>
            </a:r>
          </a:p>
          <a:p>
            <a:pPr lvl="1"/>
            <a:r>
              <a:rPr lang="en-GB" sz="1400" dirty="0"/>
              <a:t>Enable continuous tracking of key metrics like signal strength, GPS precision, and network status.</a:t>
            </a:r>
          </a:p>
          <a:p>
            <a:pPr lvl="1"/>
            <a:endParaRPr lang="en-IN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/>
              <a:t>Use Case</a:t>
            </a:r>
          </a:p>
          <a:p>
            <a:pPr lvl="1"/>
            <a:r>
              <a:rPr lang="en-US" sz="1400" dirty="0"/>
              <a:t>Simulate mobile log data (CSV) as live stream via Kinesis.</a:t>
            </a:r>
          </a:p>
          <a:p>
            <a:pPr lvl="1"/>
            <a:r>
              <a:rPr lang="en-US" sz="1400" dirty="0"/>
              <a:t>Perform ETL and cleaning using AWS Glue.</a:t>
            </a:r>
          </a:p>
          <a:p>
            <a:pPr lvl="1"/>
            <a:r>
              <a:rPr lang="en-US" sz="1400" dirty="0"/>
              <a:t>Store curated data in S3 and query insights with Athena.</a:t>
            </a:r>
          </a:p>
          <a:p>
            <a:pPr lvl="1"/>
            <a:r>
              <a:rPr lang="en-US" sz="1400" dirty="0"/>
              <a:t>Key Metrics:</a:t>
            </a:r>
          </a:p>
          <a:p>
            <a:pPr lvl="2"/>
            <a:r>
              <a:rPr lang="en-US" sz="1400" dirty="0"/>
              <a:t> Avg. Signal Strength per Region</a:t>
            </a:r>
          </a:p>
          <a:p>
            <a:pPr lvl="2"/>
            <a:r>
              <a:rPr lang="en-US" sz="1400" dirty="0"/>
              <a:t>GPS Accuracy per Postal Area and Operator</a:t>
            </a:r>
          </a:p>
          <a:p>
            <a:pPr lvl="2"/>
            <a:r>
              <a:rPr lang="en-US" sz="1400" dirty="0"/>
              <a:t>Network activity (</a:t>
            </a:r>
            <a:r>
              <a:rPr lang="en-GB" sz="1400" dirty="0"/>
              <a:t>Still, Tilting, Unknown, </a:t>
            </a:r>
            <a:r>
              <a:rPr lang="en-GB" sz="1400" dirty="0" err="1"/>
              <a:t>On_Foot</a:t>
            </a:r>
            <a:r>
              <a:rPr lang="en-GB" sz="1400" dirty="0"/>
              <a:t>, </a:t>
            </a:r>
            <a:r>
              <a:rPr lang="en-GB" sz="1400" dirty="0" err="1"/>
              <a:t>In_Vehicle</a:t>
            </a:r>
            <a:r>
              <a:rPr lang="en-US" sz="1400" dirty="0"/>
              <a:t>)</a:t>
            </a:r>
          </a:p>
          <a:p>
            <a:pPr marL="457200" lvl="1" indent="0">
              <a:buNone/>
            </a:pPr>
            <a:endParaRPr lang="en-GB" sz="10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7A1E39-DFBF-120D-432E-065E01A4AE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57"/>
          <a:stretch>
            <a:fillRect/>
          </a:stretch>
        </p:blipFill>
        <p:spPr>
          <a:xfrm>
            <a:off x="6578686" y="1523401"/>
            <a:ext cx="5470894" cy="328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60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D3CE2-756B-7AAF-5ABC-2CC95C8F6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C601-16B9-13C6-2A8F-0BDF13581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49BD7-F02D-92AD-7ADB-21202A6D5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/>
          <a:lstStyle/>
          <a:p>
            <a:r>
              <a:rPr lang="en-IN" sz="2400" dirty="0"/>
              <a:t>Schema &amp; Sample</a:t>
            </a:r>
          </a:p>
          <a:p>
            <a:pPr lvl="1"/>
            <a:r>
              <a:rPr lang="en-IN" sz="1600" dirty="0"/>
              <a:t>Dataset :  </a:t>
            </a:r>
            <a:r>
              <a:rPr lang="en-IN" sz="1600" dirty="0" err="1"/>
              <a:t>mobile_logs</a:t>
            </a:r>
            <a:endParaRPr lang="en-IN" sz="1600" dirty="0"/>
          </a:p>
          <a:p>
            <a:pPr lvl="1"/>
            <a:r>
              <a:rPr lang="en-IN" sz="1600" dirty="0"/>
              <a:t>Format – csv</a:t>
            </a:r>
          </a:p>
          <a:p>
            <a:pPr lvl="1"/>
            <a:r>
              <a:rPr lang="en-IN" sz="1600" dirty="0"/>
              <a:t>Streaming Data</a:t>
            </a:r>
          </a:p>
          <a:p>
            <a:pPr lvl="1"/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39EC4F-4B53-3EC8-D45D-AF8D75BD9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948222"/>
              </p:ext>
            </p:extLst>
          </p:nvPr>
        </p:nvGraphicFramePr>
        <p:xfrm>
          <a:off x="74645" y="3135086"/>
          <a:ext cx="11924523" cy="2416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034">
                  <a:extLst>
                    <a:ext uri="{9D8B030D-6E8A-4147-A177-3AD203B41FA5}">
                      <a16:colId xmlns:a16="http://schemas.microsoft.com/office/drawing/2014/main" val="535083237"/>
                    </a:ext>
                  </a:extLst>
                </a:gridCol>
                <a:gridCol w="838034">
                  <a:extLst>
                    <a:ext uri="{9D8B030D-6E8A-4147-A177-3AD203B41FA5}">
                      <a16:colId xmlns:a16="http://schemas.microsoft.com/office/drawing/2014/main" val="1621273078"/>
                    </a:ext>
                  </a:extLst>
                </a:gridCol>
                <a:gridCol w="838034">
                  <a:extLst>
                    <a:ext uri="{9D8B030D-6E8A-4147-A177-3AD203B41FA5}">
                      <a16:colId xmlns:a16="http://schemas.microsoft.com/office/drawing/2014/main" val="2859347965"/>
                    </a:ext>
                  </a:extLst>
                </a:gridCol>
                <a:gridCol w="838034">
                  <a:extLst>
                    <a:ext uri="{9D8B030D-6E8A-4147-A177-3AD203B41FA5}">
                      <a16:colId xmlns:a16="http://schemas.microsoft.com/office/drawing/2014/main" val="2845933281"/>
                    </a:ext>
                  </a:extLst>
                </a:gridCol>
                <a:gridCol w="907870">
                  <a:extLst>
                    <a:ext uri="{9D8B030D-6E8A-4147-A177-3AD203B41FA5}">
                      <a16:colId xmlns:a16="http://schemas.microsoft.com/office/drawing/2014/main" val="3906503538"/>
                    </a:ext>
                  </a:extLst>
                </a:gridCol>
                <a:gridCol w="942788">
                  <a:extLst>
                    <a:ext uri="{9D8B030D-6E8A-4147-A177-3AD203B41FA5}">
                      <a16:colId xmlns:a16="http://schemas.microsoft.com/office/drawing/2014/main" val="2478612237"/>
                    </a:ext>
                  </a:extLst>
                </a:gridCol>
                <a:gridCol w="838034">
                  <a:extLst>
                    <a:ext uri="{9D8B030D-6E8A-4147-A177-3AD203B41FA5}">
                      <a16:colId xmlns:a16="http://schemas.microsoft.com/office/drawing/2014/main" val="3240543566"/>
                    </a:ext>
                  </a:extLst>
                </a:gridCol>
                <a:gridCol w="1283703">
                  <a:extLst>
                    <a:ext uri="{9D8B030D-6E8A-4147-A177-3AD203B41FA5}">
                      <a16:colId xmlns:a16="http://schemas.microsoft.com/office/drawing/2014/main" val="1253564795"/>
                    </a:ext>
                  </a:extLst>
                </a:gridCol>
                <a:gridCol w="724086">
                  <a:extLst>
                    <a:ext uri="{9D8B030D-6E8A-4147-A177-3AD203B41FA5}">
                      <a16:colId xmlns:a16="http://schemas.microsoft.com/office/drawing/2014/main" val="143757552"/>
                    </a:ext>
                  </a:extLst>
                </a:gridCol>
                <a:gridCol w="1012625">
                  <a:extLst>
                    <a:ext uri="{9D8B030D-6E8A-4147-A177-3AD203B41FA5}">
                      <a16:colId xmlns:a16="http://schemas.microsoft.com/office/drawing/2014/main" val="1625629666"/>
                    </a:ext>
                  </a:extLst>
                </a:gridCol>
                <a:gridCol w="1082460">
                  <a:extLst>
                    <a:ext uri="{9D8B030D-6E8A-4147-A177-3AD203B41FA5}">
                      <a16:colId xmlns:a16="http://schemas.microsoft.com/office/drawing/2014/main" val="2969076721"/>
                    </a:ext>
                  </a:extLst>
                </a:gridCol>
                <a:gridCol w="925329">
                  <a:extLst>
                    <a:ext uri="{9D8B030D-6E8A-4147-A177-3AD203B41FA5}">
                      <a16:colId xmlns:a16="http://schemas.microsoft.com/office/drawing/2014/main" val="2269514046"/>
                    </a:ext>
                  </a:extLst>
                </a:gridCol>
                <a:gridCol w="855492">
                  <a:extLst>
                    <a:ext uri="{9D8B030D-6E8A-4147-A177-3AD203B41FA5}">
                      <a16:colId xmlns:a16="http://schemas.microsoft.com/office/drawing/2014/main" val="2109370144"/>
                    </a:ext>
                  </a:extLst>
                </a:gridCol>
              </a:tblGrid>
              <a:tr h="546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hour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u="none" strike="noStrike" dirty="0" err="1">
                          <a:effectLst/>
                        </a:rPr>
                        <a:t>lat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long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signal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network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operator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status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description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speed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satellites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precision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provider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activity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422348"/>
                  </a:ext>
                </a:extLst>
              </a:tr>
              <a:tr h="3741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00:36:07.000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9.7028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-16.9857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DTAC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JAZZTEL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STATE_IN_SERVICE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35.6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5.6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144.1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fused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STILL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80387548"/>
                  </a:ext>
                </a:extLst>
              </a:tr>
              <a:tr h="3741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00:36:08.000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3.68379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-2.76099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movistar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DTAC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STATE_IN_SERVICE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128.9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6.3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14.6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fused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STILL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59506813"/>
                  </a:ext>
                </a:extLst>
              </a:tr>
              <a:tr h="3741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00:36:09.000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28.02161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-3.30627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orange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RACC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STATE_IN_SERVICE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134.9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126.4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fused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UNKNOWN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6954234"/>
                  </a:ext>
                </a:extLst>
              </a:tr>
              <a:tr h="3741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00:36:10.000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16.51063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-9.35435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orange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vodafone</a:t>
                      </a:r>
                      <a:r>
                        <a:rPr lang="en-IN" sz="1100" u="none" strike="noStrike" dirty="0">
                          <a:effectLst/>
                        </a:rPr>
                        <a:t> ES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STATE_IN_SERVICE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45.3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139.9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fused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UNKNOWN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89661150"/>
                  </a:ext>
                </a:extLst>
              </a:tr>
              <a:tr h="3741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00:36:11.000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16.803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-12.9745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vodafone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Orange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STATE_IN_SERVICE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14.7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gps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IN_VEHICLE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70291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5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High-Level Architecture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4D4794-8148-60E5-6862-BE4F80B23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9" t="5891" r="2550" b="3194"/>
          <a:stretch>
            <a:fillRect/>
          </a:stretch>
        </p:blipFill>
        <p:spPr>
          <a:xfrm>
            <a:off x="25518" y="1483567"/>
            <a:ext cx="12113610" cy="500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76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CA5C-B9BB-3C3C-910A-A0A760C49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Services Used: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0A16E8-D37E-357B-B6FE-FA45045C7A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805104"/>
              </p:ext>
            </p:extLst>
          </p:nvPr>
        </p:nvGraphicFramePr>
        <p:xfrm>
          <a:off x="838200" y="1898174"/>
          <a:ext cx="10515600" cy="42062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6113556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88467985"/>
                    </a:ext>
                  </a:extLst>
                </a:gridCol>
              </a:tblGrid>
              <a:tr h="363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268936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Amazon S3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Central data lake (stores raw, processed, scripts, checkpoints, and query outputs).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277186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Amazon Kinesis Data Stream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Real-time ingestion of mobile log data (acts as the streaming data source).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286027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AWS Glue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Performs ETL processing (Spark Streaming job reads from Kinesis, writes to S3 in Parquet).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436824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AWS IAM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Provides roles and permissions for Glue, Kinesis, and S3 access control.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892023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Amazon Athena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Serverless query engine to analyze processed data stored in S3 using SQL.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276946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Amazon CloudWatch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Monitors Glue job execution and logs for troubleshooting.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54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8698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4234"/>
            <a:ext cx="10515600" cy="1325563"/>
          </a:xfrm>
        </p:spPr>
        <p:txBody>
          <a:bodyPr/>
          <a:lstStyle/>
          <a:p>
            <a:r>
              <a:rPr lang="en-IN" dirty="0"/>
              <a:t>Detailed Pipeline Flow</a:t>
            </a:r>
          </a:p>
        </p:txBody>
      </p:sp>
      <p:pic>
        <p:nvPicPr>
          <p:cNvPr id="9" name="Picture 8" descr="A diagram of a diagram&#10;&#10;AI-generated content may be incorrect.">
            <a:extLst>
              <a:ext uri="{FF2B5EF4-FFF2-40B4-BE49-F238E27FC236}">
                <a16:creationId xmlns:a16="http://schemas.microsoft.com/office/drawing/2014/main" id="{491A21BF-DD3A-8099-DE14-168849DB97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5" y="2170600"/>
            <a:ext cx="12192000" cy="348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72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Ingestion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949189-C870-8F61-4B48-11EA5F2EF3EC}"/>
              </a:ext>
            </a:extLst>
          </p:cNvPr>
          <p:cNvSpPr txBox="1"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Python Data Ingestion Script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Simulates real-time telecom data from CSV.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Converts each row to JSON and sends it to Kinesis Data Stream.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ABB397-E040-F1EC-A4F7-9FC9CC792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72" y="1452958"/>
            <a:ext cx="6389346" cy="396139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1644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4E778-F27E-551D-302F-6F69CA8A4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DAE93-AE44-C328-E458-48A2D5182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S3 Bucket Setup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87BCF-FFF3-671F-C552-83E41530D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endParaRPr lang="en-IN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2B4F9E-89F4-8EEB-AFC7-2851E4743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93" y="1827256"/>
            <a:ext cx="4743450" cy="14129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6887F8-2522-9E76-2B9F-19142D5BCA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01"/>
          <a:stretch>
            <a:fillRect/>
          </a:stretch>
        </p:blipFill>
        <p:spPr>
          <a:xfrm>
            <a:off x="5904740" y="1825625"/>
            <a:ext cx="5449060" cy="14861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A120F7-6455-9CDE-81BE-1CB55F121F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164"/>
          <a:stretch>
            <a:fillRect/>
          </a:stretch>
        </p:blipFill>
        <p:spPr>
          <a:xfrm>
            <a:off x="838200" y="3546195"/>
            <a:ext cx="10604500" cy="3086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1448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F0EA37-81B0-E0A9-1896-38B070BCF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6CB3E-15F9-E95F-8AC7-09C0E611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38328"/>
            <a:ext cx="5011473" cy="1773936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Kinesis Data Stream</a:t>
            </a:r>
            <a:endParaRPr lang="en-IN" sz="360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23F78-B9D4-82CE-34D3-BAE889E6E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5641" y="338328"/>
            <a:ext cx="5029200" cy="1773936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800">
                <a:solidFill>
                  <a:schemeClr val="tx2"/>
                </a:solidFill>
              </a:rPr>
              <a:t>Serverless Amazon Web Services (AWS) service for processing and analyzing real-time streaming data at scale.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9B6D62-5F75-8418-F0D2-4920763ED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43" y="3013170"/>
            <a:ext cx="6345894" cy="28547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74DD7E-0D77-3AE4-CC97-C5B70AFBF8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418"/>
          <a:stretch>
            <a:fillRect/>
          </a:stretch>
        </p:blipFill>
        <p:spPr>
          <a:xfrm>
            <a:off x="6668792" y="3988435"/>
            <a:ext cx="5166360" cy="144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90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64B034-0BA3-13B9-2E23-14E051989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6A777-CD35-1F94-E64F-7E889407C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AWS Glue Job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6F94A6-49ED-1FE1-A5F3-10704E5D51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666"/>
          <a:stretch>
            <a:fillRect/>
          </a:stretch>
        </p:blipFill>
        <p:spPr>
          <a:xfrm>
            <a:off x="423439" y="2353710"/>
            <a:ext cx="4649369" cy="3938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F6C0DB-9100-BF3D-4861-2D81CC3B3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481" y="3009418"/>
            <a:ext cx="6744285" cy="215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02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CDA6D-3411-F365-A3C9-239F41C86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8E91FF8-FCC2-3FA5-A160-4755EEEFC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77" y="1782147"/>
            <a:ext cx="11212072" cy="4408715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A795EB34-D50E-36A8-DA99-5A5174FD2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AWS Glue Streaming ETL Job (Status)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5855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8425F-65ED-3E64-71FD-BC2CFA956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2FC51-3CA2-D0F3-9B60-9181C7B59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KPI’s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EC3DD2-F8D5-A33C-E959-72D221DB74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58586" y="2141537"/>
            <a:ext cx="4810609" cy="390048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2E8E8-B894-A610-732A-9352D08D1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1115" y="1690688"/>
            <a:ext cx="5181600" cy="4351338"/>
          </a:xfrm>
        </p:spPr>
        <p:txBody>
          <a:bodyPr/>
          <a:lstStyle/>
          <a:p>
            <a:r>
              <a:rPr lang="en-IN" sz="1800" dirty="0"/>
              <a:t>Average signal by operator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4FFF34-03D0-23A3-2BEA-0118B7ACB0C3}"/>
              </a:ext>
            </a:extLst>
          </p:cNvPr>
          <p:cNvSpPr txBox="1">
            <a:spLocks/>
          </p:cNvSpPr>
          <p:nvPr/>
        </p:nvSpPr>
        <p:spPr>
          <a:xfrm>
            <a:off x="5935825" y="1690688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Average signal by postal code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7BFB48-9931-D621-AB98-DF9793A3E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623" y="2141537"/>
            <a:ext cx="5474577" cy="3641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A39638-32A9-0361-55EA-3C6BE5548C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314179" y="2560320"/>
            <a:ext cx="220475" cy="166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F32B51-975D-4A25-4AD4-91FB40BD1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320275" y="2890299"/>
            <a:ext cx="220475" cy="166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8D0794-E560-A53F-EF78-FA075227B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326371" y="3224784"/>
            <a:ext cx="220475" cy="1665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382989-7579-207E-CFFE-305313E48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326371" y="3553968"/>
            <a:ext cx="220475" cy="1665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135977-3465-99DC-1B8F-BE537C7650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326371" y="3883152"/>
            <a:ext cx="220475" cy="1665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104611-7D7E-3CC3-7F61-D25D1D8AAB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326371" y="4218432"/>
            <a:ext cx="220475" cy="1665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7A44D5-10E8-4660-919B-670B8A392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326371" y="4553712"/>
            <a:ext cx="220475" cy="1665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5BCFB94-A579-FA3C-4839-0207F3A42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326371" y="4888992"/>
            <a:ext cx="220475" cy="1665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7A0F8C7-F474-8393-20B6-482A4FCAA8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326371" y="5224272"/>
            <a:ext cx="220475" cy="1665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DF91A9C-096E-AEEF-FB11-438CE143F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320275" y="5553456"/>
            <a:ext cx="220475" cy="1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034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4A377-A202-74E8-9265-D4675FBA3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33BE4-DFCF-8C39-83A8-548BB280A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KPI’s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750A1-598B-C158-A6A2-5C7505B66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1115" y="1690688"/>
            <a:ext cx="5181600" cy="4351338"/>
          </a:xfrm>
        </p:spPr>
        <p:txBody>
          <a:bodyPr/>
          <a:lstStyle/>
          <a:p>
            <a:r>
              <a:rPr lang="en-US" sz="1800" dirty="0"/>
              <a:t>Average signal by operator and postal code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33882A-6E54-9394-EFD5-EDCF894A89BD}"/>
              </a:ext>
            </a:extLst>
          </p:cNvPr>
          <p:cNvSpPr txBox="1">
            <a:spLocks/>
          </p:cNvSpPr>
          <p:nvPr/>
        </p:nvSpPr>
        <p:spPr>
          <a:xfrm>
            <a:off x="5935825" y="1690688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Average GPS precision by provider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5BE9DB0-56EB-F8DD-2A68-35B84D8F52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2220686"/>
            <a:ext cx="4956110" cy="38213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3FE195-6246-1CE0-51CD-0C200AE346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197"/>
          <a:stretch>
            <a:fillRect/>
          </a:stretch>
        </p:blipFill>
        <p:spPr>
          <a:xfrm>
            <a:off x="6215743" y="2220686"/>
            <a:ext cx="4822371" cy="38213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2E2512-CB41-2487-D269-DEAAC7BC98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5581" y="2547373"/>
            <a:ext cx="147669" cy="342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76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9B05A-3D1F-D8D0-59A4-D2A104F74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D4DA2A-380B-456F-E4C0-357EDED8B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KPI’s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E4CDC-144D-684F-7D22-62A175BA6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88" y="1311818"/>
            <a:ext cx="8426823" cy="39756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Activity Count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D37AA1-3102-D395-44B6-34BE9D676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421186"/>
            <a:ext cx="10744200" cy="381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30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IN" dirty="0"/>
              <a:t>Business Output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IN" sz="2000" dirty="0"/>
              <a:t>Real-time data availability : Incoming mobile log data instantly processed and stored in S3.</a:t>
            </a:r>
          </a:p>
          <a:p>
            <a:r>
              <a:rPr lang="en-IN" sz="2000" dirty="0"/>
              <a:t>Clean &amp; structured datasets : JSON stream transformed into timestamped, analytics-ready CSV files.</a:t>
            </a:r>
          </a:p>
          <a:p>
            <a:r>
              <a:rPr lang="en-IN" sz="2000" dirty="0"/>
              <a:t>Faster insights : Teams can query live data using Amazon Athena without manual ETL steps.</a:t>
            </a:r>
          </a:p>
          <a:p>
            <a:r>
              <a:rPr lang="en-IN" sz="2000" dirty="0"/>
              <a:t>Scalable foundation : The pipeline can easily integrate new data sources or analytics dashboards (</a:t>
            </a:r>
            <a:r>
              <a:rPr lang="en-IN" sz="2000" dirty="0" err="1"/>
              <a:t>QuickSight</a:t>
            </a:r>
            <a:r>
              <a:rPr lang="en-IN" sz="2000" dirty="0"/>
              <a:t>, Power BI).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22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Key Learnings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 dirty="0"/>
              <a:t>AWS Data Pipeline Design : Learned how to build a real-time data pipeline connecting Kinesis Data Stream → AWS Glue → S3 → Athena for end-to-end data processing.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Spark Structured Streaming : Gained hands-on experience with reading continuous streams and </a:t>
            </a:r>
            <a:r>
              <a:rPr lang="en-US" sz="2200"/>
              <a:t>writing results.</a:t>
            </a:r>
            <a:endParaRPr lang="en-US" sz="2200" dirty="0"/>
          </a:p>
          <a:p>
            <a:pPr marL="342900" indent="-342900">
              <a:buFont typeface="+mj-lt"/>
              <a:buAutoNum type="arabicPeriod"/>
            </a:pPr>
            <a:r>
              <a:rPr lang="en-IN" sz="2200" dirty="0"/>
              <a:t>Schema Handling &amp; Data Transformation : Practiced defining JSON schemas, parsing dynamic data, and transforming raw data into structured CSV output.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Offline Testing &amp; Local Simulation : Developed a local test setup using Docker + Spark to simulate streaming with JSON files before deploying to AWS.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AWS Cloud Integration : Explored Glue Catalog, Athena, and S3 as a seamless ecosystem for data storage, querying, and analytics.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600551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7920EA-0CE3-18A6-2BF2-4B3B790906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6940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81061-7B10-1ED3-0DA6-AE7214A7E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9184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1894</TotalTime>
  <Words>2606</Words>
  <Application>Microsoft Office PowerPoint</Application>
  <PresentationFormat>Widescreen</PresentationFormat>
  <Paragraphs>313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Aptos Narrow</vt:lpstr>
      <vt:lpstr>Arial</vt:lpstr>
      <vt:lpstr>Calibri</vt:lpstr>
      <vt:lpstr>Office Theme</vt:lpstr>
      <vt:lpstr>Telecom Signal Stream  Data Forge</vt:lpstr>
      <vt:lpstr>Team Members</vt:lpstr>
      <vt:lpstr>PowerPoint Presentation</vt:lpstr>
      <vt:lpstr>Input Data Overview</vt:lpstr>
      <vt:lpstr>High-Level Architecture</vt:lpstr>
      <vt:lpstr>Tools &amp; Services Used:</vt:lpstr>
      <vt:lpstr>Detailed Pipeline Flow</vt:lpstr>
      <vt:lpstr>Data Ingestion</vt:lpstr>
      <vt:lpstr>S3 Bucket Setup</vt:lpstr>
      <vt:lpstr>Kinesis Data Stream</vt:lpstr>
      <vt:lpstr>AWS Glue Job</vt:lpstr>
      <vt:lpstr>AWS Glue Streaming ETL Job (Status)</vt:lpstr>
      <vt:lpstr>KPI’s</vt:lpstr>
      <vt:lpstr>KPI’s</vt:lpstr>
      <vt:lpstr>KPI’s</vt:lpstr>
      <vt:lpstr>Business Output</vt:lpstr>
      <vt:lpstr>Key Learnings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Nagabhushan Mamadapur</dc:creator>
  <cp:lastModifiedBy>Sahana J</cp:lastModifiedBy>
  <cp:revision>64</cp:revision>
  <cp:lastPrinted>2025-11-05T05:49:23Z</cp:lastPrinted>
  <dcterms:created xsi:type="dcterms:W3CDTF">2025-10-27T09:00:12Z</dcterms:created>
  <dcterms:modified xsi:type="dcterms:W3CDTF">2025-11-06T05:46:24Z</dcterms:modified>
</cp:coreProperties>
</file>