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72" r:id="rId5"/>
    <p:sldId id="260" r:id="rId6"/>
    <p:sldId id="277" r:id="rId7"/>
    <p:sldId id="261" r:id="rId8"/>
    <p:sldId id="271" r:id="rId9"/>
    <p:sldId id="273" r:id="rId10"/>
    <p:sldId id="274" r:id="rId11"/>
    <p:sldId id="275" r:id="rId12"/>
    <p:sldId id="285" r:id="rId13"/>
    <p:sldId id="276" r:id="rId14"/>
    <p:sldId id="286" r:id="rId15"/>
    <p:sldId id="281" r:id="rId16"/>
    <p:sldId id="266" r:id="rId17"/>
    <p:sldId id="268" r:id="rId18"/>
    <p:sldId id="269" r:id="rId19"/>
    <p:sldId id="287" r:id="rId20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1D8B1-491A-4C08-93E8-8963BEF7EDFB}" v="26" dt="2025-11-08T05:38:32.47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82092" autoAdjust="0"/>
  </p:normalViewPr>
  <p:slideViewPr>
    <p:cSldViewPr snapToGrid="0">
      <p:cViewPr varScale="1">
        <p:scale>
          <a:sx n="67" d="100"/>
          <a:sy n="67" d="100"/>
        </p:scale>
        <p:origin x="128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hana J" userId="f4b95838ecef290e" providerId="LiveId" clId="{2C5FA4CF-9274-40E8-93DA-4F79EFBFAACA}"/>
    <pc:docChg chg="undo custSel modSld">
      <pc:chgData name="Sahana J" userId="f4b95838ecef290e" providerId="LiveId" clId="{2C5FA4CF-9274-40E8-93DA-4F79EFBFAACA}" dt="2025-11-08T05:45:35.740" v="681" actId="1440"/>
      <pc:docMkLst>
        <pc:docMk/>
      </pc:docMkLst>
      <pc:sldChg chg="modSp mod">
        <pc:chgData name="Sahana J" userId="f4b95838ecef290e" providerId="LiveId" clId="{2C5FA4CF-9274-40E8-93DA-4F79EFBFAACA}" dt="2025-11-07T08:28:55.331" v="65" actId="20577"/>
        <pc:sldMkLst>
          <pc:docMk/>
          <pc:sldMk cId="1637146212" sldId="256"/>
        </pc:sldMkLst>
        <pc:spChg chg="mod">
          <ac:chgData name="Sahana J" userId="f4b95838ecef290e" providerId="LiveId" clId="{2C5FA4CF-9274-40E8-93DA-4F79EFBFAACA}" dt="2025-11-07T08:28:55.331" v="65" actId="20577"/>
          <ac:spMkLst>
            <pc:docMk/>
            <pc:sldMk cId="1637146212" sldId="256"/>
            <ac:spMk id="2" creationId="{D7AB1C56-F180-B6EA-6323-B61100B98F1D}"/>
          </ac:spMkLst>
        </pc:spChg>
      </pc:sldChg>
      <pc:sldChg chg="modSp mod">
        <pc:chgData name="Sahana J" userId="f4b95838ecef290e" providerId="LiveId" clId="{2C5FA4CF-9274-40E8-93DA-4F79EFBFAACA}" dt="2025-11-07T05:55:27.067" v="63"/>
        <pc:sldMkLst>
          <pc:docMk/>
          <pc:sldMk cId="576150750" sldId="257"/>
        </pc:sldMkLst>
        <pc:spChg chg="mod">
          <ac:chgData name="Sahana J" userId="f4b95838ecef290e" providerId="LiveId" clId="{2C5FA4CF-9274-40E8-93DA-4F79EFBFAACA}" dt="2025-11-07T05:55:27.067" v="63"/>
          <ac:spMkLst>
            <pc:docMk/>
            <pc:sldMk cId="576150750" sldId="257"/>
            <ac:spMk id="3" creationId="{20E1909F-10F6-BF5D-5104-203F79C5755D}"/>
          </ac:spMkLst>
        </pc:spChg>
      </pc:sldChg>
      <pc:sldChg chg="modNotesTx">
        <pc:chgData name="Sahana J" userId="f4b95838ecef290e" providerId="LiveId" clId="{2C5FA4CF-9274-40E8-93DA-4F79EFBFAACA}" dt="2025-11-08T05:14:19.828" v="622" actId="20577"/>
        <pc:sldMkLst>
          <pc:docMk/>
          <pc:sldMk cId="3216276847" sldId="260"/>
        </pc:sldMkLst>
      </pc:sldChg>
      <pc:sldChg chg="addSp modSp mod">
        <pc:chgData name="Sahana J" userId="f4b95838ecef290e" providerId="LiveId" clId="{2C5FA4CF-9274-40E8-93DA-4F79EFBFAACA}" dt="2025-11-07T11:24:07.477" v="363" actId="20577"/>
        <pc:sldMkLst>
          <pc:docMk/>
          <pc:sldMk cId="2692272064" sldId="261"/>
        </pc:sldMkLst>
        <pc:spChg chg="mod">
          <ac:chgData name="Sahana J" userId="f4b95838ecef290e" providerId="LiveId" clId="{2C5FA4CF-9274-40E8-93DA-4F79EFBFAACA}" dt="2025-11-07T11:24:07.477" v="363" actId="20577"/>
          <ac:spMkLst>
            <pc:docMk/>
            <pc:sldMk cId="2692272064" sldId="261"/>
            <ac:spMk id="2" creationId="{30615C13-C16B-BC33-C6AE-0E47749BD463}"/>
          </ac:spMkLst>
        </pc:spChg>
        <pc:picChg chg="add mod">
          <ac:chgData name="Sahana J" userId="f4b95838ecef290e" providerId="LiveId" clId="{2C5FA4CF-9274-40E8-93DA-4F79EFBFAACA}" dt="2025-11-07T11:22:16.430" v="93" actId="1035"/>
          <ac:picMkLst>
            <pc:docMk/>
            <pc:sldMk cId="2692272064" sldId="261"/>
            <ac:picMk id="4" creationId="{FB0E4384-977C-8E2E-54D2-39BE8BBB3F63}"/>
          </ac:picMkLst>
        </pc:picChg>
        <pc:picChg chg="add mod">
          <ac:chgData name="Sahana J" userId="f4b95838ecef290e" providerId="LiveId" clId="{2C5FA4CF-9274-40E8-93DA-4F79EFBFAACA}" dt="2025-11-07T11:23:01.380" v="229" actId="1037"/>
          <ac:picMkLst>
            <pc:docMk/>
            <pc:sldMk cId="2692272064" sldId="261"/>
            <ac:picMk id="6" creationId="{0EE77854-66FC-5474-22C0-EDC057EC1A30}"/>
          </ac:picMkLst>
        </pc:picChg>
        <pc:picChg chg="add mod">
          <ac:chgData name="Sahana J" userId="f4b95838ecef290e" providerId="LiveId" clId="{2C5FA4CF-9274-40E8-93DA-4F79EFBFAACA}" dt="2025-11-07T11:23:04.735" v="232" actId="1038"/>
          <ac:picMkLst>
            <pc:docMk/>
            <pc:sldMk cId="2692272064" sldId="261"/>
            <ac:picMk id="7" creationId="{F161E58F-409B-067A-89A0-A0595011277B}"/>
          </ac:picMkLst>
        </pc:picChg>
        <pc:picChg chg="add mod">
          <ac:chgData name="Sahana J" userId="f4b95838ecef290e" providerId="LiveId" clId="{2C5FA4CF-9274-40E8-93DA-4F79EFBFAACA}" dt="2025-11-07T11:23:34.207" v="347" actId="1037"/>
          <ac:picMkLst>
            <pc:docMk/>
            <pc:sldMk cId="2692272064" sldId="261"/>
            <ac:picMk id="8" creationId="{FADF7805-5BFE-22C6-A853-488A828C4B2F}"/>
          </ac:picMkLst>
        </pc:picChg>
        <pc:picChg chg="mod">
          <ac:chgData name="Sahana J" userId="f4b95838ecef290e" providerId="LiveId" clId="{2C5FA4CF-9274-40E8-93DA-4F79EFBFAACA}" dt="2025-11-05T07:09:33.375" v="0" actId="1038"/>
          <ac:picMkLst>
            <pc:docMk/>
            <pc:sldMk cId="2692272064" sldId="261"/>
            <ac:picMk id="9" creationId="{491A21BF-DD3A-8099-DE14-168849DB97BE}"/>
          </ac:picMkLst>
        </pc:picChg>
        <pc:picChg chg="add mod">
          <ac:chgData name="Sahana J" userId="f4b95838ecef290e" providerId="LiveId" clId="{2C5FA4CF-9274-40E8-93DA-4F79EFBFAACA}" dt="2025-11-07T11:23:52.807" v="358" actId="1036"/>
          <ac:picMkLst>
            <pc:docMk/>
            <pc:sldMk cId="2692272064" sldId="261"/>
            <ac:picMk id="10" creationId="{C01DB29D-104D-3EC3-4E3A-4EB0B5D1910D}"/>
          </ac:picMkLst>
        </pc:picChg>
      </pc:sldChg>
      <pc:sldChg chg="modSp mod modNotesTx">
        <pc:chgData name="Sahana J" userId="f4b95838ecef290e" providerId="LiveId" clId="{2C5FA4CF-9274-40E8-93DA-4F79EFBFAACA}" dt="2025-11-07T12:59:20.027" v="611" actId="20577"/>
        <pc:sldMkLst>
          <pc:docMk/>
          <pc:sldMk cId="2286722330" sldId="266"/>
        </pc:sldMkLst>
        <pc:spChg chg="mod">
          <ac:chgData name="Sahana J" userId="f4b95838ecef290e" providerId="LiveId" clId="{2C5FA4CF-9274-40E8-93DA-4F79EFBFAACA}" dt="2025-11-07T12:59:20.027" v="611" actId="20577"/>
          <ac:spMkLst>
            <pc:docMk/>
            <pc:sldMk cId="2286722330" sldId="266"/>
            <ac:spMk id="3" creationId="{20E1909F-10F6-BF5D-5104-203F79C5755D}"/>
          </ac:spMkLst>
        </pc:spChg>
      </pc:sldChg>
      <pc:sldChg chg="modSp mod modNotesTx">
        <pc:chgData name="Sahana J" userId="f4b95838ecef290e" providerId="LiveId" clId="{2C5FA4CF-9274-40E8-93DA-4F79EFBFAACA}" dt="2025-11-07T13:00:32.343" v="619" actId="20577"/>
        <pc:sldMkLst>
          <pc:docMk/>
          <pc:sldMk cId="3600551870" sldId="268"/>
        </pc:sldMkLst>
        <pc:spChg chg="mod">
          <ac:chgData name="Sahana J" userId="f4b95838ecef290e" providerId="LiveId" clId="{2C5FA4CF-9274-40E8-93DA-4F79EFBFAACA}" dt="2025-11-07T13:00:32.343" v="619" actId="20577"/>
          <ac:spMkLst>
            <pc:docMk/>
            <pc:sldMk cId="3600551870" sldId="268"/>
            <ac:spMk id="3" creationId="{20E1909F-10F6-BF5D-5104-203F79C5755D}"/>
          </ac:spMkLst>
        </pc:spChg>
      </pc:sldChg>
      <pc:sldChg chg="modSp mod">
        <pc:chgData name="Sahana J" userId="f4b95838ecef290e" providerId="LiveId" clId="{2C5FA4CF-9274-40E8-93DA-4F79EFBFAACA}" dt="2025-11-07T11:47:00.135" v="594" actId="20577"/>
        <pc:sldMkLst>
          <pc:docMk/>
          <pc:sldMk cId="1896940940" sldId="269"/>
        </pc:sldMkLst>
        <pc:graphicFrameChg chg="mod modGraphic">
          <ac:chgData name="Sahana J" userId="f4b95838ecef290e" providerId="LiveId" clId="{2C5FA4CF-9274-40E8-93DA-4F79EFBFAACA}" dt="2025-11-07T11:47:00.135" v="594" actId="20577"/>
          <ac:graphicFrameMkLst>
            <pc:docMk/>
            <pc:sldMk cId="1896940940" sldId="269"/>
            <ac:graphicFrameMk id="5" creationId="{4B7920EA-0CE3-18A6-2BF2-4B3B79090666}"/>
          </ac:graphicFrameMkLst>
        </pc:graphicFrameChg>
      </pc:sldChg>
      <pc:sldChg chg="modSp mod">
        <pc:chgData name="Sahana J" userId="f4b95838ecef290e" providerId="LiveId" clId="{2C5FA4CF-9274-40E8-93DA-4F79EFBFAACA}" dt="2025-11-07T09:34:51.103" v="81" actId="5793"/>
        <pc:sldMkLst>
          <pc:docMk/>
          <pc:sldMk cId="323554631" sldId="272"/>
        </pc:sldMkLst>
        <pc:spChg chg="mod">
          <ac:chgData name="Sahana J" userId="f4b95838ecef290e" providerId="LiveId" clId="{2C5FA4CF-9274-40E8-93DA-4F79EFBFAACA}" dt="2025-11-07T09:34:51.103" v="81" actId="5793"/>
          <ac:spMkLst>
            <pc:docMk/>
            <pc:sldMk cId="323554631" sldId="272"/>
            <ac:spMk id="3" creationId="{19D49BD7-F02D-92AD-7ADB-21202A6D538F}"/>
          </ac:spMkLst>
        </pc:spChg>
      </pc:sldChg>
      <pc:sldChg chg="modSp mod">
        <pc:chgData name="Sahana J" userId="f4b95838ecef290e" providerId="LiveId" clId="{2C5FA4CF-9274-40E8-93DA-4F79EFBFAACA}" dt="2025-11-05T07:16:12.551" v="16" actId="20577"/>
        <pc:sldMkLst>
          <pc:docMk/>
          <pc:sldMk cId="3629102095" sldId="275"/>
        </pc:sldMkLst>
        <pc:spChg chg="mod">
          <ac:chgData name="Sahana J" userId="f4b95838ecef290e" providerId="LiveId" clId="{2C5FA4CF-9274-40E8-93DA-4F79EFBFAACA}" dt="2025-11-05T07:16:12.551" v="16" actId="20577"/>
          <ac:spMkLst>
            <pc:docMk/>
            <pc:sldMk cId="3629102095" sldId="275"/>
            <ac:spMk id="2" creationId="{BAD6A777-CD35-1F94-E64F-7E889407C2E6}"/>
          </ac:spMkLst>
        </pc:spChg>
      </pc:sldChg>
      <pc:sldChg chg="addSp delSp modSp mod">
        <pc:chgData name="Sahana J" userId="f4b95838ecef290e" providerId="LiveId" clId="{2C5FA4CF-9274-40E8-93DA-4F79EFBFAACA}" dt="2025-11-08T05:42:59.230" v="659" actId="1440"/>
        <pc:sldMkLst>
          <pc:docMk/>
          <pc:sldMk cId="2347034606" sldId="276"/>
        </pc:sldMkLst>
        <pc:spChg chg="add del mod">
          <ac:chgData name="Sahana J" userId="f4b95838ecef290e" providerId="LiveId" clId="{2C5FA4CF-9274-40E8-93DA-4F79EFBFAACA}" dt="2025-11-08T05:39:02.866" v="642" actId="478"/>
          <ac:spMkLst>
            <pc:docMk/>
            <pc:sldMk cId="2347034606" sldId="276"/>
            <ac:spMk id="19" creationId="{282E03CD-AE86-D8C8-7603-AA172B05698A}"/>
          </ac:spMkLst>
        </pc:spChg>
        <pc:picChg chg="add mod">
          <ac:chgData name="Sahana J" userId="f4b95838ecef290e" providerId="LiveId" clId="{2C5FA4CF-9274-40E8-93DA-4F79EFBFAACA}" dt="2025-11-08T05:42:59.230" v="659" actId="1440"/>
          <ac:picMkLst>
            <pc:docMk/>
            <pc:sldMk cId="2347034606" sldId="276"/>
            <ac:picMk id="4" creationId="{2779ECFB-87EB-1684-CD5F-917B3C8D782E}"/>
          </ac:picMkLst>
        </pc:picChg>
        <pc:picChg chg="del">
          <ac:chgData name="Sahana J" userId="f4b95838ecef290e" providerId="LiveId" clId="{2C5FA4CF-9274-40E8-93DA-4F79EFBFAACA}" dt="2025-11-08T05:39:00.519" v="641" actId="478"/>
          <ac:picMkLst>
            <pc:docMk/>
            <pc:sldMk cId="2347034606" sldId="276"/>
            <ac:picMk id="5" creationId="{65EC3DD2-F8D5-A33C-E959-72D221DB7406}"/>
          </ac:picMkLst>
        </pc:picChg>
        <pc:picChg chg="del">
          <ac:chgData name="Sahana J" userId="f4b95838ecef290e" providerId="LiveId" clId="{2C5FA4CF-9274-40E8-93DA-4F79EFBFAACA}" dt="2025-11-08T05:38:31.901" v="636" actId="478"/>
          <ac:picMkLst>
            <pc:docMk/>
            <pc:sldMk cId="2347034606" sldId="276"/>
            <ac:picMk id="7" creationId="{047BFB48-9931-D621-AB98-DF9793A3E87C}"/>
          </ac:picMkLst>
        </pc:picChg>
        <pc:picChg chg="del">
          <ac:chgData name="Sahana J" userId="f4b95838ecef290e" providerId="LiveId" clId="{2C5FA4CF-9274-40E8-93DA-4F79EFBFAACA}" dt="2025-11-08T05:38:45.982" v="639" actId="478"/>
          <ac:picMkLst>
            <pc:docMk/>
            <pc:sldMk cId="2347034606" sldId="276"/>
            <ac:picMk id="8" creationId="{E2A39638-32A9-0361-55EA-3C6BE5548CCE}"/>
          </ac:picMkLst>
        </pc:picChg>
        <pc:picChg chg="del">
          <ac:chgData name="Sahana J" userId="f4b95838ecef290e" providerId="LiveId" clId="{2C5FA4CF-9274-40E8-93DA-4F79EFBFAACA}" dt="2025-11-08T05:38:45.982" v="639" actId="478"/>
          <ac:picMkLst>
            <pc:docMk/>
            <pc:sldMk cId="2347034606" sldId="276"/>
            <ac:picMk id="9" creationId="{66F32B51-975D-4A25-4AD4-91FB40BD1DBD}"/>
          </ac:picMkLst>
        </pc:picChg>
        <pc:picChg chg="del">
          <ac:chgData name="Sahana J" userId="f4b95838ecef290e" providerId="LiveId" clId="{2C5FA4CF-9274-40E8-93DA-4F79EFBFAACA}" dt="2025-11-08T05:38:45.982" v="639" actId="478"/>
          <ac:picMkLst>
            <pc:docMk/>
            <pc:sldMk cId="2347034606" sldId="276"/>
            <ac:picMk id="10" creationId="{F68D0794-E560-A53F-EF78-FA075227B7EC}"/>
          </ac:picMkLst>
        </pc:picChg>
        <pc:picChg chg="del">
          <ac:chgData name="Sahana J" userId="f4b95838ecef290e" providerId="LiveId" clId="{2C5FA4CF-9274-40E8-93DA-4F79EFBFAACA}" dt="2025-11-08T05:38:45.982" v="639" actId="478"/>
          <ac:picMkLst>
            <pc:docMk/>
            <pc:sldMk cId="2347034606" sldId="276"/>
            <ac:picMk id="11" creationId="{B9382989-7579-207E-CFFE-305313E48C1D}"/>
          </ac:picMkLst>
        </pc:picChg>
        <pc:picChg chg="del">
          <ac:chgData name="Sahana J" userId="f4b95838ecef290e" providerId="LiveId" clId="{2C5FA4CF-9274-40E8-93DA-4F79EFBFAACA}" dt="2025-11-08T05:38:45.982" v="639" actId="478"/>
          <ac:picMkLst>
            <pc:docMk/>
            <pc:sldMk cId="2347034606" sldId="276"/>
            <ac:picMk id="12" creationId="{4B135977-3465-99DC-1B8F-BE537C765073}"/>
          </ac:picMkLst>
        </pc:picChg>
        <pc:picChg chg="del">
          <ac:chgData name="Sahana J" userId="f4b95838ecef290e" providerId="LiveId" clId="{2C5FA4CF-9274-40E8-93DA-4F79EFBFAACA}" dt="2025-11-08T05:38:45.982" v="639" actId="478"/>
          <ac:picMkLst>
            <pc:docMk/>
            <pc:sldMk cId="2347034606" sldId="276"/>
            <ac:picMk id="13" creationId="{8E104611-7D7E-3CC3-7F61-D25D1D8AAB07}"/>
          </ac:picMkLst>
        </pc:picChg>
        <pc:picChg chg="del">
          <ac:chgData name="Sahana J" userId="f4b95838ecef290e" providerId="LiveId" clId="{2C5FA4CF-9274-40E8-93DA-4F79EFBFAACA}" dt="2025-11-08T05:38:45.982" v="639" actId="478"/>
          <ac:picMkLst>
            <pc:docMk/>
            <pc:sldMk cId="2347034606" sldId="276"/>
            <ac:picMk id="14" creationId="{B47A44D5-10E8-4660-919B-670B8A392253}"/>
          </ac:picMkLst>
        </pc:picChg>
        <pc:picChg chg="del">
          <ac:chgData name="Sahana J" userId="f4b95838ecef290e" providerId="LiveId" clId="{2C5FA4CF-9274-40E8-93DA-4F79EFBFAACA}" dt="2025-11-08T05:38:45.982" v="639" actId="478"/>
          <ac:picMkLst>
            <pc:docMk/>
            <pc:sldMk cId="2347034606" sldId="276"/>
            <ac:picMk id="15" creationId="{A5BCFB94-A579-FA3C-4839-0207F3A42B5A}"/>
          </ac:picMkLst>
        </pc:picChg>
        <pc:picChg chg="del">
          <ac:chgData name="Sahana J" userId="f4b95838ecef290e" providerId="LiveId" clId="{2C5FA4CF-9274-40E8-93DA-4F79EFBFAACA}" dt="2025-11-08T05:38:45.982" v="639" actId="478"/>
          <ac:picMkLst>
            <pc:docMk/>
            <pc:sldMk cId="2347034606" sldId="276"/>
            <ac:picMk id="16" creationId="{07A0F8C7-F474-8393-20B6-482A4FCAA842}"/>
          </ac:picMkLst>
        </pc:picChg>
        <pc:picChg chg="del">
          <ac:chgData name="Sahana J" userId="f4b95838ecef290e" providerId="LiveId" clId="{2C5FA4CF-9274-40E8-93DA-4F79EFBFAACA}" dt="2025-11-08T05:38:45.982" v="639" actId="478"/>
          <ac:picMkLst>
            <pc:docMk/>
            <pc:sldMk cId="2347034606" sldId="276"/>
            <ac:picMk id="17" creationId="{FDF91A9C-096E-AEEF-FB11-438CE143FCBA}"/>
          </ac:picMkLst>
        </pc:picChg>
        <pc:picChg chg="add mod">
          <ac:chgData name="Sahana J" userId="f4b95838ecef290e" providerId="LiveId" clId="{2C5FA4CF-9274-40E8-93DA-4F79EFBFAACA}" dt="2025-11-08T05:42:55.247" v="658" actId="1440"/>
          <ac:picMkLst>
            <pc:docMk/>
            <pc:sldMk cId="2347034606" sldId="276"/>
            <ac:picMk id="21" creationId="{16678153-7A3C-4D20-17DB-944F22A0CAD3}"/>
          </ac:picMkLst>
        </pc:picChg>
      </pc:sldChg>
      <pc:sldChg chg="modSp mod">
        <pc:chgData name="Sahana J" userId="f4b95838ecef290e" providerId="LiveId" clId="{2C5FA4CF-9274-40E8-93DA-4F79EFBFAACA}" dt="2025-11-07T09:24:27.164" v="66" actId="2164"/>
        <pc:sldMkLst>
          <pc:docMk/>
          <pc:sldMk cId="2978698901" sldId="277"/>
        </pc:sldMkLst>
        <pc:graphicFrameChg chg="modGraphic">
          <ac:chgData name="Sahana J" userId="f4b95838ecef290e" providerId="LiveId" clId="{2C5FA4CF-9274-40E8-93DA-4F79EFBFAACA}" dt="2025-11-07T09:24:27.164" v="66" actId="2164"/>
          <ac:graphicFrameMkLst>
            <pc:docMk/>
            <pc:sldMk cId="2978698901" sldId="277"/>
            <ac:graphicFrameMk id="4" creationId="{980A16E8-D37E-357B-B6FE-FA45045C7ACA}"/>
          </ac:graphicFrameMkLst>
        </pc:graphicFrameChg>
      </pc:sldChg>
      <pc:sldChg chg="modSp mod">
        <pc:chgData name="Sahana J" userId="f4b95838ecef290e" providerId="LiveId" clId="{2C5FA4CF-9274-40E8-93DA-4F79EFBFAACA}" dt="2025-11-08T05:45:35.740" v="681" actId="1440"/>
        <pc:sldMkLst>
          <pc:docMk/>
          <pc:sldMk cId="1586730784" sldId="281"/>
        </pc:sldMkLst>
        <pc:picChg chg="mod">
          <ac:chgData name="Sahana J" userId="f4b95838ecef290e" providerId="LiveId" clId="{2C5FA4CF-9274-40E8-93DA-4F79EFBFAACA}" dt="2025-11-08T05:45:35.740" v="681" actId="1440"/>
          <ac:picMkLst>
            <pc:docMk/>
            <pc:sldMk cId="1586730784" sldId="281"/>
            <ac:picMk id="5" creationId="{5AD37AA1-3102-D395-44B6-34BE9D676853}"/>
          </ac:picMkLst>
        </pc:picChg>
      </pc:sldChg>
      <pc:sldChg chg="addSp delSp modSp mod">
        <pc:chgData name="Sahana J" userId="f4b95838ecef290e" providerId="LiveId" clId="{2C5FA4CF-9274-40E8-93DA-4F79EFBFAACA}" dt="2025-11-08T05:45:28.441" v="680" actId="1440"/>
        <pc:sldMkLst>
          <pc:docMk/>
          <pc:sldMk cId="3563076512" sldId="286"/>
        </pc:sldMkLst>
        <pc:spChg chg="add del mod">
          <ac:chgData name="Sahana J" userId="f4b95838ecef290e" providerId="LiveId" clId="{2C5FA4CF-9274-40E8-93DA-4F79EFBFAACA}" dt="2025-11-08T05:38:08.967" v="631" actId="478"/>
          <ac:spMkLst>
            <pc:docMk/>
            <pc:sldMk cId="3563076512" sldId="286"/>
            <ac:spMk id="11" creationId="{FF1A995E-BD05-9FD6-405A-01A85ABE302F}"/>
          </ac:spMkLst>
        </pc:spChg>
        <pc:picChg chg="add del">
          <ac:chgData name="Sahana J" userId="f4b95838ecef290e" providerId="LiveId" clId="{2C5FA4CF-9274-40E8-93DA-4F79EFBFAACA}" dt="2025-11-08T05:37:49.386" v="624" actId="22"/>
          <ac:picMkLst>
            <pc:docMk/>
            <pc:sldMk cId="3563076512" sldId="286"/>
            <ac:picMk id="5" creationId="{0A0E81EE-C861-F197-8803-F73A06BF28C8}"/>
          </ac:picMkLst>
        </pc:picChg>
        <pc:picChg chg="del">
          <ac:chgData name="Sahana J" userId="f4b95838ecef290e" providerId="LiveId" clId="{2C5FA4CF-9274-40E8-93DA-4F79EFBFAACA}" dt="2025-11-08T05:37:50.490" v="625" actId="478"/>
          <ac:picMkLst>
            <pc:docMk/>
            <pc:sldMk cId="3563076512" sldId="286"/>
            <ac:picMk id="9" creationId="{45BE9DB0-56EB-F8DD-2A68-35B84D8F5248}"/>
          </ac:picMkLst>
        </pc:picChg>
        <pc:picChg chg="del">
          <ac:chgData name="Sahana J" userId="f4b95838ecef290e" providerId="LiveId" clId="{2C5FA4CF-9274-40E8-93DA-4F79EFBFAACA}" dt="2025-11-08T05:38:19.812" v="634" actId="478"/>
          <ac:picMkLst>
            <pc:docMk/>
            <pc:sldMk cId="3563076512" sldId="286"/>
            <ac:picMk id="10" creationId="{9E3FE195-6246-1CE0-51CD-0C200AE346EE}"/>
          </ac:picMkLst>
        </pc:picChg>
        <pc:picChg chg="add del mod">
          <ac:chgData name="Sahana J" userId="f4b95838ecef290e" providerId="LiveId" clId="{2C5FA4CF-9274-40E8-93DA-4F79EFBFAACA}" dt="2025-11-08T05:38:23.319" v="635" actId="21"/>
          <ac:picMkLst>
            <pc:docMk/>
            <pc:sldMk cId="3563076512" sldId="286"/>
            <ac:picMk id="13" creationId="{2779ECFB-87EB-1684-CD5F-917B3C8D782E}"/>
          </ac:picMkLst>
        </pc:picChg>
        <pc:picChg chg="add mod">
          <ac:chgData name="Sahana J" userId="f4b95838ecef290e" providerId="LiveId" clId="{2C5FA4CF-9274-40E8-93DA-4F79EFBFAACA}" dt="2025-11-08T05:43:09.938" v="661" actId="14100"/>
          <ac:picMkLst>
            <pc:docMk/>
            <pc:sldMk cId="3563076512" sldId="286"/>
            <ac:picMk id="15" creationId="{E7D25687-8183-C3D5-2650-CD533338DAA5}"/>
          </ac:picMkLst>
        </pc:picChg>
        <pc:picChg chg="add del mod modCrop">
          <ac:chgData name="Sahana J" userId="f4b95838ecef290e" providerId="LiveId" clId="{2C5FA4CF-9274-40E8-93DA-4F79EFBFAACA}" dt="2025-11-08T05:44:17.333" v="672" actId="478"/>
          <ac:picMkLst>
            <pc:docMk/>
            <pc:sldMk cId="3563076512" sldId="286"/>
            <ac:picMk id="17" creationId="{8D31977E-4400-19CD-7B0D-E9FB10D6BDEB}"/>
          </ac:picMkLst>
        </pc:picChg>
        <pc:picChg chg="add mod">
          <ac:chgData name="Sahana J" userId="f4b95838ecef290e" providerId="LiveId" clId="{2C5FA4CF-9274-40E8-93DA-4F79EFBFAACA}" dt="2025-11-08T05:45:28.441" v="680" actId="1440"/>
          <ac:picMkLst>
            <pc:docMk/>
            <pc:sldMk cId="3563076512" sldId="286"/>
            <ac:picMk id="19" creationId="{CC4ABAD3-ECD5-05FD-6202-4996D87E4C46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4" Type="http://schemas.openxmlformats.org/officeDocument/2006/relationships/image" Target="../media/image2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4" Type="http://schemas.openxmlformats.org/officeDocument/2006/relationships/image" Target="../media/image2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BEB6A6-727D-4ED1-90DF-6BB9352193D0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3B8F59-8782-4FB4-BFF7-D7636212075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Real-Time Analytics Dashboard</a:t>
          </a:r>
        </a:p>
      </dgm:t>
    </dgm:pt>
    <dgm:pt modelId="{D0517087-D0DE-4207-8FAD-66E8836138B8}" type="parTrans" cxnId="{7E064A0B-A579-4C5F-895B-0F9A443ABB3B}">
      <dgm:prSet/>
      <dgm:spPr/>
      <dgm:t>
        <a:bodyPr/>
        <a:lstStyle/>
        <a:p>
          <a:endParaRPr lang="en-US"/>
        </a:p>
      </dgm:t>
    </dgm:pt>
    <dgm:pt modelId="{6E066054-BEAB-4BDC-A582-A0E0E34D4D54}" type="sibTrans" cxnId="{7E064A0B-A579-4C5F-895B-0F9A443ABB3B}">
      <dgm:prSet/>
      <dgm:spPr/>
      <dgm:t>
        <a:bodyPr/>
        <a:lstStyle/>
        <a:p>
          <a:endParaRPr lang="en-US"/>
        </a:p>
      </dgm:t>
    </dgm:pt>
    <dgm:pt modelId="{403BF13F-6FC5-4FD5-863F-6ECD7E32F20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Integrate with Amazon </a:t>
          </a:r>
          <a:r>
            <a:rPr lang="en-US" dirty="0" err="1"/>
            <a:t>QuickSight</a:t>
          </a:r>
          <a:r>
            <a:rPr lang="en-US" dirty="0"/>
            <a:t> or </a:t>
          </a:r>
          <a:r>
            <a:rPr lang="en-US" dirty="0" err="1"/>
            <a:t>Streamlit</a:t>
          </a:r>
          <a:r>
            <a:rPr lang="en-US" dirty="0"/>
            <a:t> for live visualization of streaming data.</a:t>
          </a:r>
        </a:p>
      </dgm:t>
    </dgm:pt>
    <dgm:pt modelId="{BFF4D87E-9DDD-45DC-B2B2-39D9A6BA01FF}" type="parTrans" cxnId="{92732FA9-5802-4FF6-829E-901BF4D799AE}">
      <dgm:prSet/>
      <dgm:spPr/>
      <dgm:t>
        <a:bodyPr/>
        <a:lstStyle/>
        <a:p>
          <a:endParaRPr lang="en-US"/>
        </a:p>
      </dgm:t>
    </dgm:pt>
    <dgm:pt modelId="{832D82C7-F64D-4C8D-8AB3-FFE1E2ACF376}" type="sibTrans" cxnId="{92732FA9-5802-4FF6-829E-901BF4D799AE}">
      <dgm:prSet/>
      <dgm:spPr/>
      <dgm:t>
        <a:bodyPr/>
        <a:lstStyle/>
        <a:p>
          <a:endParaRPr lang="en-US"/>
        </a:p>
      </dgm:t>
    </dgm:pt>
    <dgm:pt modelId="{60185A80-1092-431F-8D9E-0798FFF4488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Data Storage Format</a:t>
          </a:r>
        </a:p>
      </dgm:t>
    </dgm:pt>
    <dgm:pt modelId="{07E4088D-26B5-4BCE-B782-9D0CB8BA4959}" type="parTrans" cxnId="{40849BD8-F2A4-4B86-887F-5E0ED4121391}">
      <dgm:prSet/>
      <dgm:spPr/>
      <dgm:t>
        <a:bodyPr/>
        <a:lstStyle/>
        <a:p>
          <a:endParaRPr lang="en-US"/>
        </a:p>
      </dgm:t>
    </dgm:pt>
    <dgm:pt modelId="{D2225306-CCCA-4C4D-B19B-9E0A42C88DD2}" type="sibTrans" cxnId="{40849BD8-F2A4-4B86-887F-5E0ED4121391}">
      <dgm:prSet/>
      <dgm:spPr/>
      <dgm:t>
        <a:bodyPr/>
        <a:lstStyle/>
        <a:p>
          <a:endParaRPr lang="en-US"/>
        </a:p>
      </dgm:t>
    </dgm:pt>
    <dgm:pt modelId="{52FB958B-8448-49AB-ACBB-330D56FCFE6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Storing data in parquet format for better performance</a:t>
          </a:r>
        </a:p>
      </dgm:t>
    </dgm:pt>
    <dgm:pt modelId="{1C8D3003-E1A6-4AFC-889F-9221EE45B6C6}" type="parTrans" cxnId="{844DE9FE-2E77-4276-A794-8CE4D238D1F9}">
      <dgm:prSet/>
      <dgm:spPr/>
      <dgm:t>
        <a:bodyPr/>
        <a:lstStyle/>
        <a:p>
          <a:endParaRPr lang="en-US"/>
        </a:p>
      </dgm:t>
    </dgm:pt>
    <dgm:pt modelId="{7B25F95F-7A90-49BE-AACC-91BEDD795BE1}" type="sibTrans" cxnId="{844DE9FE-2E77-4276-A794-8CE4D238D1F9}">
      <dgm:prSet/>
      <dgm:spPr/>
      <dgm:t>
        <a:bodyPr/>
        <a:lstStyle/>
        <a:p>
          <a:endParaRPr lang="en-US"/>
        </a:p>
      </dgm:t>
    </dgm:pt>
    <dgm:pt modelId="{313A786B-827A-4104-8755-896AD4ECED5A}" type="pres">
      <dgm:prSet presAssocID="{08BEB6A6-727D-4ED1-90DF-6BB9352193D0}" presName="root" presStyleCnt="0">
        <dgm:presLayoutVars>
          <dgm:dir/>
          <dgm:resizeHandles val="exact"/>
        </dgm:presLayoutVars>
      </dgm:prSet>
      <dgm:spPr/>
    </dgm:pt>
    <dgm:pt modelId="{4982CD7F-4CE3-4F55-BE10-5C1B166A215C}" type="pres">
      <dgm:prSet presAssocID="{933B8F59-8782-4FB4-BFF7-D76362120757}" presName="compNode" presStyleCnt="0"/>
      <dgm:spPr/>
    </dgm:pt>
    <dgm:pt modelId="{C4FF63E9-5F1F-4FAB-9A7A-6C42E18AC262}" type="pres">
      <dgm:prSet presAssocID="{933B8F59-8782-4FB4-BFF7-D76362120757}" presName="bgRect" presStyleLbl="bgShp" presStyleIdx="0" presStyleCnt="2"/>
      <dgm:spPr/>
    </dgm:pt>
    <dgm:pt modelId="{95D8A666-C23B-4F7B-A08C-DF6FF04EAC39}" type="pres">
      <dgm:prSet presAssocID="{933B8F59-8782-4FB4-BFF7-D76362120757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34C92198-022F-4EC4-8A8F-CA51472946F6}" type="pres">
      <dgm:prSet presAssocID="{933B8F59-8782-4FB4-BFF7-D76362120757}" presName="spaceRect" presStyleCnt="0"/>
      <dgm:spPr/>
    </dgm:pt>
    <dgm:pt modelId="{803F1622-BD80-4AD4-B0F3-F68EF1942DF4}" type="pres">
      <dgm:prSet presAssocID="{933B8F59-8782-4FB4-BFF7-D76362120757}" presName="parTx" presStyleLbl="revTx" presStyleIdx="0" presStyleCnt="4">
        <dgm:presLayoutVars>
          <dgm:chMax val="0"/>
          <dgm:chPref val="0"/>
        </dgm:presLayoutVars>
      </dgm:prSet>
      <dgm:spPr/>
    </dgm:pt>
    <dgm:pt modelId="{9F005783-6DD3-46AE-B883-F7C94ABD5FD8}" type="pres">
      <dgm:prSet presAssocID="{933B8F59-8782-4FB4-BFF7-D76362120757}" presName="desTx" presStyleLbl="revTx" presStyleIdx="1" presStyleCnt="4">
        <dgm:presLayoutVars/>
      </dgm:prSet>
      <dgm:spPr/>
    </dgm:pt>
    <dgm:pt modelId="{55F94E87-433C-40C2-AF1D-93124FA06DDC}" type="pres">
      <dgm:prSet presAssocID="{6E066054-BEAB-4BDC-A582-A0E0E34D4D54}" presName="sibTrans" presStyleCnt="0"/>
      <dgm:spPr/>
    </dgm:pt>
    <dgm:pt modelId="{3D1E7F56-69D3-476E-89EA-72D44C1B0365}" type="pres">
      <dgm:prSet presAssocID="{60185A80-1092-431F-8D9E-0798FFF4488C}" presName="compNode" presStyleCnt="0"/>
      <dgm:spPr/>
    </dgm:pt>
    <dgm:pt modelId="{6B71FFC4-CE36-4402-A5ED-BCA0DFDE9DD6}" type="pres">
      <dgm:prSet presAssocID="{60185A80-1092-431F-8D9E-0798FFF4488C}" presName="bgRect" presStyleLbl="bgShp" presStyleIdx="1" presStyleCnt="2"/>
      <dgm:spPr/>
    </dgm:pt>
    <dgm:pt modelId="{6B764724-530D-4D2B-8463-56E26C35CC87}" type="pres">
      <dgm:prSet presAssocID="{60185A80-1092-431F-8D9E-0798FFF4488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3FE9F861-22DE-48AA-8B7F-8799C9EB5FEA}" type="pres">
      <dgm:prSet presAssocID="{60185A80-1092-431F-8D9E-0798FFF4488C}" presName="spaceRect" presStyleCnt="0"/>
      <dgm:spPr/>
    </dgm:pt>
    <dgm:pt modelId="{EE1031B8-823A-4B9A-B77B-9BE9A00D4EBC}" type="pres">
      <dgm:prSet presAssocID="{60185A80-1092-431F-8D9E-0798FFF4488C}" presName="parTx" presStyleLbl="revTx" presStyleIdx="2" presStyleCnt="4">
        <dgm:presLayoutVars>
          <dgm:chMax val="0"/>
          <dgm:chPref val="0"/>
        </dgm:presLayoutVars>
      </dgm:prSet>
      <dgm:spPr/>
    </dgm:pt>
    <dgm:pt modelId="{21F28D03-155A-4071-9D67-5C47B793C9F4}" type="pres">
      <dgm:prSet presAssocID="{60185A80-1092-431F-8D9E-0798FFF4488C}" presName="desTx" presStyleLbl="revTx" presStyleIdx="3" presStyleCnt="4">
        <dgm:presLayoutVars/>
      </dgm:prSet>
      <dgm:spPr/>
    </dgm:pt>
  </dgm:ptLst>
  <dgm:cxnLst>
    <dgm:cxn modelId="{7E064A0B-A579-4C5F-895B-0F9A443ABB3B}" srcId="{08BEB6A6-727D-4ED1-90DF-6BB9352193D0}" destId="{933B8F59-8782-4FB4-BFF7-D76362120757}" srcOrd="0" destOrd="0" parTransId="{D0517087-D0DE-4207-8FAD-66E8836138B8}" sibTransId="{6E066054-BEAB-4BDC-A582-A0E0E34D4D54}"/>
    <dgm:cxn modelId="{06346720-FF34-414B-81C0-16ED0196B938}" type="presOf" srcId="{52FB958B-8448-49AB-ACBB-330D56FCFE6B}" destId="{21F28D03-155A-4071-9D67-5C47B793C9F4}" srcOrd="0" destOrd="0" presId="urn:microsoft.com/office/officeart/2018/2/layout/IconVerticalSolidList"/>
    <dgm:cxn modelId="{EE98CF66-7984-428F-A985-B4F7178D182B}" type="presOf" srcId="{403BF13F-6FC5-4FD5-863F-6ECD7E32F200}" destId="{9F005783-6DD3-46AE-B883-F7C94ABD5FD8}" srcOrd="0" destOrd="0" presId="urn:microsoft.com/office/officeart/2018/2/layout/IconVerticalSolidList"/>
    <dgm:cxn modelId="{3B90B450-E20B-4940-AA9A-C0EA516B7540}" type="presOf" srcId="{60185A80-1092-431F-8D9E-0798FFF4488C}" destId="{EE1031B8-823A-4B9A-B77B-9BE9A00D4EBC}" srcOrd="0" destOrd="0" presId="urn:microsoft.com/office/officeart/2018/2/layout/IconVerticalSolidList"/>
    <dgm:cxn modelId="{92732FA9-5802-4FF6-829E-901BF4D799AE}" srcId="{933B8F59-8782-4FB4-BFF7-D76362120757}" destId="{403BF13F-6FC5-4FD5-863F-6ECD7E32F200}" srcOrd="0" destOrd="0" parTransId="{BFF4D87E-9DDD-45DC-B2B2-39D9A6BA01FF}" sibTransId="{832D82C7-F64D-4C8D-8AB3-FFE1E2ACF376}"/>
    <dgm:cxn modelId="{1CD39BBA-FE48-4A7D-8318-E3F36464E49A}" type="presOf" srcId="{08BEB6A6-727D-4ED1-90DF-6BB9352193D0}" destId="{313A786B-827A-4104-8755-896AD4ECED5A}" srcOrd="0" destOrd="0" presId="urn:microsoft.com/office/officeart/2018/2/layout/IconVerticalSolidList"/>
    <dgm:cxn modelId="{651474C6-3CAC-467A-873C-BE7790EC37AF}" type="presOf" srcId="{933B8F59-8782-4FB4-BFF7-D76362120757}" destId="{803F1622-BD80-4AD4-B0F3-F68EF1942DF4}" srcOrd="0" destOrd="0" presId="urn:microsoft.com/office/officeart/2018/2/layout/IconVerticalSolidList"/>
    <dgm:cxn modelId="{40849BD8-F2A4-4B86-887F-5E0ED4121391}" srcId="{08BEB6A6-727D-4ED1-90DF-6BB9352193D0}" destId="{60185A80-1092-431F-8D9E-0798FFF4488C}" srcOrd="1" destOrd="0" parTransId="{07E4088D-26B5-4BCE-B782-9D0CB8BA4959}" sibTransId="{D2225306-CCCA-4C4D-B19B-9E0A42C88DD2}"/>
    <dgm:cxn modelId="{844DE9FE-2E77-4276-A794-8CE4D238D1F9}" srcId="{60185A80-1092-431F-8D9E-0798FFF4488C}" destId="{52FB958B-8448-49AB-ACBB-330D56FCFE6B}" srcOrd="0" destOrd="0" parTransId="{1C8D3003-E1A6-4AFC-889F-9221EE45B6C6}" sibTransId="{7B25F95F-7A90-49BE-AACC-91BEDD795BE1}"/>
    <dgm:cxn modelId="{BE335CF3-3D96-4AE8-B85D-D80E0D41D887}" type="presParOf" srcId="{313A786B-827A-4104-8755-896AD4ECED5A}" destId="{4982CD7F-4CE3-4F55-BE10-5C1B166A215C}" srcOrd="0" destOrd="0" presId="urn:microsoft.com/office/officeart/2018/2/layout/IconVerticalSolidList"/>
    <dgm:cxn modelId="{46A72F58-ADBF-45F1-BFE6-B1A75A46CA6A}" type="presParOf" srcId="{4982CD7F-4CE3-4F55-BE10-5C1B166A215C}" destId="{C4FF63E9-5F1F-4FAB-9A7A-6C42E18AC262}" srcOrd="0" destOrd="0" presId="urn:microsoft.com/office/officeart/2018/2/layout/IconVerticalSolidList"/>
    <dgm:cxn modelId="{598341CF-D98D-4478-B35B-23AAB1E3A0A8}" type="presParOf" srcId="{4982CD7F-4CE3-4F55-BE10-5C1B166A215C}" destId="{95D8A666-C23B-4F7B-A08C-DF6FF04EAC39}" srcOrd="1" destOrd="0" presId="urn:microsoft.com/office/officeart/2018/2/layout/IconVerticalSolidList"/>
    <dgm:cxn modelId="{008EFBE5-A12F-4B1F-8A3C-EB22F5F2FF21}" type="presParOf" srcId="{4982CD7F-4CE3-4F55-BE10-5C1B166A215C}" destId="{34C92198-022F-4EC4-8A8F-CA51472946F6}" srcOrd="2" destOrd="0" presId="urn:microsoft.com/office/officeart/2018/2/layout/IconVerticalSolidList"/>
    <dgm:cxn modelId="{8F3FEC61-15CD-4EF9-AA94-F80917BC4697}" type="presParOf" srcId="{4982CD7F-4CE3-4F55-BE10-5C1B166A215C}" destId="{803F1622-BD80-4AD4-B0F3-F68EF1942DF4}" srcOrd="3" destOrd="0" presId="urn:microsoft.com/office/officeart/2018/2/layout/IconVerticalSolidList"/>
    <dgm:cxn modelId="{B7CA554C-071E-434D-8E5B-DB0D93EDDE79}" type="presParOf" srcId="{4982CD7F-4CE3-4F55-BE10-5C1B166A215C}" destId="{9F005783-6DD3-46AE-B883-F7C94ABD5FD8}" srcOrd="4" destOrd="0" presId="urn:microsoft.com/office/officeart/2018/2/layout/IconVerticalSolidList"/>
    <dgm:cxn modelId="{9B324099-2112-44E4-9A74-4CB88E4B5007}" type="presParOf" srcId="{313A786B-827A-4104-8755-896AD4ECED5A}" destId="{55F94E87-433C-40C2-AF1D-93124FA06DDC}" srcOrd="1" destOrd="0" presId="urn:microsoft.com/office/officeart/2018/2/layout/IconVerticalSolidList"/>
    <dgm:cxn modelId="{A167DFD5-6986-4684-BE39-588DE0B661C0}" type="presParOf" srcId="{313A786B-827A-4104-8755-896AD4ECED5A}" destId="{3D1E7F56-69D3-476E-89EA-72D44C1B0365}" srcOrd="2" destOrd="0" presId="urn:microsoft.com/office/officeart/2018/2/layout/IconVerticalSolidList"/>
    <dgm:cxn modelId="{D83F2908-CE9E-41A9-9584-964BA2DED22C}" type="presParOf" srcId="{3D1E7F56-69D3-476E-89EA-72D44C1B0365}" destId="{6B71FFC4-CE36-4402-A5ED-BCA0DFDE9DD6}" srcOrd="0" destOrd="0" presId="urn:microsoft.com/office/officeart/2018/2/layout/IconVerticalSolidList"/>
    <dgm:cxn modelId="{A105DB51-0274-41DB-B07E-42FE5776B84B}" type="presParOf" srcId="{3D1E7F56-69D3-476E-89EA-72D44C1B0365}" destId="{6B764724-530D-4D2B-8463-56E26C35CC87}" srcOrd="1" destOrd="0" presId="urn:microsoft.com/office/officeart/2018/2/layout/IconVerticalSolidList"/>
    <dgm:cxn modelId="{6AF7106E-3FFC-430C-811A-ABCF72599C69}" type="presParOf" srcId="{3D1E7F56-69D3-476E-89EA-72D44C1B0365}" destId="{3FE9F861-22DE-48AA-8B7F-8799C9EB5FEA}" srcOrd="2" destOrd="0" presId="urn:microsoft.com/office/officeart/2018/2/layout/IconVerticalSolidList"/>
    <dgm:cxn modelId="{E5D613A9-8AEC-40C3-8517-BC4A71CBD2B2}" type="presParOf" srcId="{3D1E7F56-69D3-476E-89EA-72D44C1B0365}" destId="{EE1031B8-823A-4B9A-B77B-9BE9A00D4EBC}" srcOrd="3" destOrd="0" presId="urn:microsoft.com/office/officeart/2018/2/layout/IconVerticalSolidList"/>
    <dgm:cxn modelId="{8FA5AFAC-8A50-43CE-94D1-EFDA4D5BBFE3}" type="presParOf" srcId="{3D1E7F56-69D3-476E-89EA-72D44C1B0365}" destId="{21F28D03-155A-4071-9D67-5C47B793C9F4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FF63E9-5F1F-4FAB-9A7A-6C42E18AC262}">
      <dsp:nvSpPr>
        <dsp:cNvPr id="0" name=""/>
        <dsp:cNvSpPr/>
      </dsp:nvSpPr>
      <dsp:spPr>
        <a:xfrm>
          <a:off x="0" y="707092"/>
          <a:ext cx="1051560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8A666-C23B-4F7B-A08C-DF6FF04EAC39}">
      <dsp:nvSpPr>
        <dsp:cNvPr id="0" name=""/>
        <dsp:cNvSpPr/>
      </dsp:nvSpPr>
      <dsp:spPr>
        <a:xfrm>
          <a:off x="394883" y="1000807"/>
          <a:ext cx="717970" cy="7179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3F1622-BD80-4AD4-B0F3-F68EF1942DF4}">
      <dsp:nvSpPr>
        <dsp:cNvPr id="0" name=""/>
        <dsp:cNvSpPr/>
      </dsp:nvSpPr>
      <dsp:spPr>
        <a:xfrm>
          <a:off x="1507738" y="707092"/>
          <a:ext cx="4732020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Real-Time Analytics Dashboard</a:t>
          </a:r>
        </a:p>
      </dsp:txBody>
      <dsp:txXfrm>
        <a:off x="1507738" y="707092"/>
        <a:ext cx="4732020" cy="1305401"/>
      </dsp:txXfrm>
    </dsp:sp>
    <dsp:sp modelId="{9F005783-6DD3-46AE-B883-F7C94ABD5FD8}">
      <dsp:nvSpPr>
        <dsp:cNvPr id="0" name=""/>
        <dsp:cNvSpPr/>
      </dsp:nvSpPr>
      <dsp:spPr>
        <a:xfrm>
          <a:off x="6239758" y="707092"/>
          <a:ext cx="427584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Integrate with Amazon </a:t>
          </a:r>
          <a:r>
            <a:rPr lang="en-US" sz="1800" kern="1200" dirty="0" err="1"/>
            <a:t>QuickSight</a:t>
          </a:r>
          <a:r>
            <a:rPr lang="en-US" sz="1800" kern="1200" dirty="0"/>
            <a:t> or </a:t>
          </a:r>
          <a:r>
            <a:rPr lang="en-US" sz="1800" kern="1200" dirty="0" err="1"/>
            <a:t>Streamlit</a:t>
          </a:r>
          <a:r>
            <a:rPr lang="en-US" sz="1800" kern="1200" dirty="0"/>
            <a:t> for live visualization of streaming data.</a:t>
          </a:r>
        </a:p>
      </dsp:txBody>
      <dsp:txXfrm>
        <a:off x="6239758" y="707092"/>
        <a:ext cx="4275841" cy="1305401"/>
      </dsp:txXfrm>
    </dsp:sp>
    <dsp:sp modelId="{6B71FFC4-CE36-4402-A5ED-BCA0DFDE9DD6}">
      <dsp:nvSpPr>
        <dsp:cNvPr id="0" name=""/>
        <dsp:cNvSpPr/>
      </dsp:nvSpPr>
      <dsp:spPr>
        <a:xfrm>
          <a:off x="0" y="2338844"/>
          <a:ext cx="1051560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764724-530D-4D2B-8463-56E26C35CC87}">
      <dsp:nvSpPr>
        <dsp:cNvPr id="0" name=""/>
        <dsp:cNvSpPr/>
      </dsp:nvSpPr>
      <dsp:spPr>
        <a:xfrm>
          <a:off x="394883" y="2632559"/>
          <a:ext cx="717970" cy="7179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1031B8-823A-4B9A-B77B-9BE9A00D4EBC}">
      <dsp:nvSpPr>
        <dsp:cNvPr id="0" name=""/>
        <dsp:cNvSpPr/>
      </dsp:nvSpPr>
      <dsp:spPr>
        <a:xfrm>
          <a:off x="1507738" y="2338844"/>
          <a:ext cx="4732020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Data Storage Format</a:t>
          </a:r>
        </a:p>
      </dsp:txBody>
      <dsp:txXfrm>
        <a:off x="1507738" y="2338844"/>
        <a:ext cx="4732020" cy="1305401"/>
      </dsp:txXfrm>
    </dsp:sp>
    <dsp:sp modelId="{21F28D03-155A-4071-9D67-5C47B793C9F4}">
      <dsp:nvSpPr>
        <dsp:cNvPr id="0" name=""/>
        <dsp:cNvSpPr/>
      </dsp:nvSpPr>
      <dsp:spPr>
        <a:xfrm>
          <a:off x="6239758" y="2338844"/>
          <a:ext cx="427584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Storing data in parquet format for better performance</a:t>
          </a:r>
        </a:p>
      </dsp:txBody>
      <dsp:txXfrm>
        <a:off x="6239758" y="2338844"/>
        <a:ext cx="4275841" cy="13054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FD7290A8-C7CA-4A86-92B0-CF43A115FDCB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27B8D544-1094-44AC-945A-825F4ED59B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514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/>
              <a:t>Problem Statement</a:t>
            </a:r>
          </a:p>
          <a:p>
            <a:r>
              <a:rPr lang="en-GB" dirty="0"/>
              <a:t>Telecom companies receive millions of mobile signal and network logs every day — showing how users experience their network in different locations.</a:t>
            </a:r>
            <a:br>
              <a:rPr lang="en-GB" dirty="0"/>
            </a:br>
            <a:r>
              <a:rPr lang="en-GB" dirty="0"/>
              <a:t>However, </a:t>
            </a:r>
            <a:r>
              <a:rPr lang="en-GB" dirty="0" err="1"/>
              <a:t>analyzing</a:t>
            </a:r>
            <a:r>
              <a:rPr lang="en-GB" dirty="0"/>
              <a:t> this huge volume of data in </a:t>
            </a:r>
            <a:r>
              <a:rPr lang="en-GB" b="1" dirty="0"/>
              <a:t>real time</a:t>
            </a:r>
            <a:r>
              <a:rPr lang="en-GB" dirty="0"/>
              <a:t> is difficult.</a:t>
            </a:r>
            <a:br>
              <a:rPr lang="en-GB" dirty="0"/>
            </a:br>
            <a:r>
              <a:rPr lang="en-GB" dirty="0"/>
              <a:t>By the time reports are generated manually, </a:t>
            </a:r>
            <a:r>
              <a:rPr lang="en-GB" b="1" dirty="0"/>
              <a:t>network issues and outages are already affecting customers</a:t>
            </a:r>
            <a:r>
              <a:rPr lang="en-GB" dirty="0"/>
              <a:t>.</a:t>
            </a:r>
          </a:p>
          <a:p>
            <a:r>
              <a:rPr lang="en-GB" dirty="0"/>
              <a:t>Our challenge was to </a:t>
            </a:r>
            <a:r>
              <a:rPr lang="en-GB" b="1" dirty="0"/>
              <a:t>build a system that can process and </a:t>
            </a:r>
            <a:r>
              <a:rPr lang="en-GB" b="1" dirty="0" err="1"/>
              <a:t>analyze</a:t>
            </a:r>
            <a:r>
              <a:rPr lang="en-GB" b="1" dirty="0"/>
              <a:t> this data live</a:t>
            </a:r>
            <a:r>
              <a:rPr lang="en-GB" dirty="0"/>
              <a:t>, so that network performance problems can be detected and resolved faster.</a:t>
            </a:r>
          </a:p>
          <a:p>
            <a:br>
              <a:rPr lang="en-GB" dirty="0"/>
            </a:br>
            <a:endParaRPr lang="en-GB" dirty="0"/>
          </a:p>
          <a:p>
            <a:r>
              <a:rPr lang="en-GB" b="1" dirty="0"/>
              <a:t>Use Case (Business Perspective)</a:t>
            </a:r>
          </a:p>
          <a:p>
            <a:r>
              <a:rPr lang="en-GB" dirty="0"/>
              <a:t>Imagine a telecom operator wants to </a:t>
            </a:r>
            <a:r>
              <a:rPr lang="en-GB" b="1" dirty="0"/>
              <a:t>monitor signal quality</a:t>
            </a:r>
            <a:r>
              <a:rPr lang="en-GB" dirty="0"/>
              <a:t> across different cities in real time.</a:t>
            </a:r>
            <a:br>
              <a:rPr lang="en-GB" dirty="0"/>
            </a:br>
            <a:r>
              <a:rPr lang="en-GB" dirty="0"/>
              <a:t>Our pipeline takes </a:t>
            </a:r>
            <a:r>
              <a:rPr lang="en-GB" b="1" dirty="0"/>
              <a:t>mobile network logs</a:t>
            </a:r>
            <a:r>
              <a:rPr lang="en-GB" dirty="0"/>
              <a:t> (like signal strength, GPS accuracy, and connection status) and processes them instantly using AWS services.</a:t>
            </a:r>
          </a:p>
          <a:p>
            <a:r>
              <a:rPr lang="en-GB" dirty="0"/>
              <a:t>The data is first </a:t>
            </a:r>
            <a:r>
              <a:rPr lang="en-GB" b="1" dirty="0"/>
              <a:t>streamed live</a:t>
            </a:r>
            <a:r>
              <a:rPr lang="en-GB" dirty="0"/>
              <a:t> from a simulated mobile log feed (as if coming from real users).</a:t>
            </a:r>
          </a:p>
          <a:p>
            <a:r>
              <a:rPr lang="en-GB" dirty="0"/>
              <a:t>It is then </a:t>
            </a:r>
            <a:r>
              <a:rPr lang="en-GB" b="1" dirty="0"/>
              <a:t>processed and cleaned automatically</a:t>
            </a:r>
            <a:r>
              <a:rPr lang="en-GB" dirty="0"/>
              <a:t> using AWS Glue (ETL engine).</a:t>
            </a:r>
          </a:p>
          <a:p>
            <a:r>
              <a:rPr lang="en-GB" dirty="0"/>
              <a:t>The results are </a:t>
            </a:r>
            <a:r>
              <a:rPr lang="en-GB" b="1" dirty="0"/>
              <a:t>stored and made ready for analysis</a:t>
            </a:r>
            <a:r>
              <a:rPr lang="en-GB" dirty="0"/>
              <a:t> in AWS Athena, where reports can show metrics such as:</a:t>
            </a:r>
          </a:p>
          <a:p>
            <a:pPr lvl="1"/>
            <a:r>
              <a:rPr lang="en-GB" dirty="0"/>
              <a:t>Average signal strength by postal code</a:t>
            </a:r>
          </a:p>
          <a:p>
            <a:pPr lvl="1"/>
            <a:r>
              <a:rPr lang="en-GB" dirty="0"/>
              <a:t>Network status distribution (Good, Moderate, Poor)</a:t>
            </a:r>
          </a:p>
          <a:p>
            <a:pPr lvl="1"/>
            <a:r>
              <a:rPr lang="en-GB" dirty="0"/>
              <a:t>GPS accuracy by provider or region</a:t>
            </a:r>
          </a:p>
          <a:p>
            <a:r>
              <a:rPr lang="en-GB" dirty="0"/>
              <a:t>This helps the company </a:t>
            </a:r>
            <a:r>
              <a:rPr lang="en-GB" b="1" dirty="0"/>
              <a:t>see where the network is weak or unstable</a:t>
            </a:r>
            <a:r>
              <a:rPr lang="en-GB" dirty="0"/>
              <a:t> almost immediately — allowing faster decision-making and </a:t>
            </a:r>
            <a:r>
              <a:rPr lang="en-GB" b="1" dirty="0"/>
              <a:t>better customer experience</a:t>
            </a:r>
            <a:r>
              <a:rPr lang="en-GB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595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Kinesis - data ingestion __It is getting the data in real time from python producer script</a:t>
            </a:r>
          </a:p>
          <a:p>
            <a:r>
              <a:rPr lang="en-US" b="1" dirty="0"/>
              <a:t>Glue job - reads data continuously from KDS transforms it and performs aggregation. It stores in s3</a:t>
            </a:r>
          </a:p>
          <a:p>
            <a:r>
              <a:rPr lang="en-US" b="1" dirty="0"/>
              <a:t>S3 acts as central data lake which stores the data</a:t>
            </a:r>
          </a:p>
          <a:p>
            <a:r>
              <a:rPr lang="en-US" b="1" dirty="0"/>
              <a:t>Athena-used to query the processed data to obtain insights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9389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="1" dirty="0"/>
              <a:t>🗒️ Talking Notes:</a:t>
            </a:r>
          </a:p>
          <a:p>
            <a:r>
              <a:rPr lang="en-GB" b="1" dirty="0"/>
              <a:t>1. Data Source (📱 Mobile Logs CSV)</a:t>
            </a:r>
          </a:p>
          <a:p>
            <a:r>
              <a:rPr lang="en-GB" dirty="0"/>
              <a:t>The pipeline begins with a </a:t>
            </a:r>
            <a:r>
              <a:rPr lang="en-GB" b="1" dirty="0"/>
              <a:t>mobile logs dataset</a:t>
            </a:r>
            <a:r>
              <a:rPr lang="en-GB" dirty="0"/>
              <a:t> (CSV) that simulates real telecom network data — signal strength, GPS coordinates, and network status.</a:t>
            </a:r>
          </a:p>
          <a:p>
            <a:r>
              <a:rPr lang="en-GB" dirty="0"/>
              <a:t>A </a:t>
            </a:r>
            <a:r>
              <a:rPr lang="en-GB" b="1" dirty="0"/>
              <a:t>Python producer script</a:t>
            </a:r>
            <a:r>
              <a:rPr lang="en-GB" dirty="0"/>
              <a:t> streams this data in real-time to AWS.</a:t>
            </a:r>
          </a:p>
          <a:p>
            <a:r>
              <a:rPr lang="en-GB" b="1" dirty="0"/>
              <a:t>2. Ingestion Layer (🌀 Kinesis Data Stream)</a:t>
            </a:r>
          </a:p>
          <a:p>
            <a:r>
              <a:rPr lang="en-GB" b="1" dirty="0"/>
              <a:t>Amazon Kinesis</a:t>
            </a:r>
            <a:r>
              <a:rPr lang="en-GB" dirty="0"/>
              <a:t> acts as the real-time ingestion point.</a:t>
            </a:r>
          </a:p>
          <a:p>
            <a:r>
              <a:rPr lang="en-GB" dirty="0"/>
              <a:t>It receives streaming records continuously and ensures </a:t>
            </a:r>
            <a:r>
              <a:rPr lang="en-GB" b="1" dirty="0"/>
              <a:t>scalable, fault-tolerant data capture</a:t>
            </a:r>
            <a:r>
              <a:rPr lang="en-GB" dirty="0"/>
              <a:t>.</a:t>
            </a:r>
          </a:p>
          <a:p>
            <a:r>
              <a:rPr lang="en-GB" dirty="0"/>
              <a:t>Helps handle </a:t>
            </a:r>
            <a:r>
              <a:rPr lang="en-GB" b="1" dirty="0"/>
              <a:t>high velocity and volume</a:t>
            </a:r>
            <a:r>
              <a:rPr lang="en-GB" dirty="0"/>
              <a:t> of telecom signal logs.</a:t>
            </a:r>
          </a:p>
          <a:p>
            <a:r>
              <a:rPr lang="en-GB" b="1" dirty="0"/>
              <a:t>3. Storage Layer (🪣 S3 Raw → Processed)</a:t>
            </a:r>
          </a:p>
          <a:p>
            <a:r>
              <a:rPr lang="en-GB" dirty="0"/>
              <a:t>Incoming data is first stored in </a:t>
            </a:r>
            <a:r>
              <a:rPr lang="en-GB" b="1" dirty="0"/>
              <a:t>S3 (Raw Zone)</a:t>
            </a:r>
            <a:r>
              <a:rPr lang="en-GB" dirty="0"/>
              <a:t> for reliability and traceability.</a:t>
            </a:r>
          </a:p>
          <a:p>
            <a:r>
              <a:rPr lang="en-GB" dirty="0"/>
              <a:t>After transformation, it’s moved to </a:t>
            </a:r>
            <a:r>
              <a:rPr lang="en-GB" b="1" dirty="0"/>
              <a:t>S3 (Processed Zone)</a:t>
            </a:r>
            <a:r>
              <a:rPr lang="en-GB" dirty="0"/>
              <a:t> — organized and cleaned for analysis.</a:t>
            </a:r>
          </a:p>
          <a:p>
            <a:r>
              <a:rPr lang="en-GB" dirty="0"/>
              <a:t>Acts as a </a:t>
            </a:r>
            <a:r>
              <a:rPr lang="en-GB" b="1" dirty="0"/>
              <a:t>central data lake</a:t>
            </a:r>
            <a:r>
              <a:rPr lang="en-GB" dirty="0"/>
              <a:t>.</a:t>
            </a:r>
          </a:p>
          <a:p>
            <a:r>
              <a:rPr lang="en-GB" b="1" dirty="0"/>
              <a:t>4. Processing Layer (⚙️ Glue ETL + Crawler)</a:t>
            </a:r>
          </a:p>
          <a:p>
            <a:r>
              <a:rPr lang="en-GB" b="1" dirty="0"/>
              <a:t>AWS Glue Streaming Job (</a:t>
            </a:r>
            <a:r>
              <a:rPr lang="en-GB" b="1" dirty="0" err="1"/>
              <a:t>PySpark</a:t>
            </a:r>
            <a:r>
              <a:rPr lang="en-GB" b="1" dirty="0"/>
              <a:t>)</a:t>
            </a:r>
            <a:r>
              <a:rPr lang="en-GB" dirty="0"/>
              <a:t> cleans and transforms raw JSON data into structured format.</a:t>
            </a:r>
          </a:p>
          <a:p>
            <a:r>
              <a:rPr lang="en-GB" dirty="0"/>
              <a:t>A </a:t>
            </a:r>
            <a:r>
              <a:rPr lang="en-GB" b="1" dirty="0"/>
              <a:t>Glue Crawler</a:t>
            </a:r>
            <a:r>
              <a:rPr lang="en-GB" dirty="0"/>
              <a:t> updates the </a:t>
            </a:r>
            <a:r>
              <a:rPr lang="en-GB" b="1" dirty="0"/>
              <a:t>Data </a:t>
            </a:r>
            <a:r>
              <a:rPr lang="en-GB" b="1" dirty="0" err="1"/>
              <a:t>Catalog</a:t>
            </a:r>
            <a:r>
              <a:rPr lang="en-GB" dirty="0"/>
              <a:t>, automatically detecting schema and data types.</a:t>
            </a:r>
          </a:p>
          <a:p>
            <a:r>
              <a:rPr lang="en-GB" dirty="0"/>
              <a:t>Key metrics like </a:t>
            </a:r>
            <a:r>
              <a:rPr lang="en-GB" b="1" dirty="0"/>
              <a:t>average signal strength</a:t>
            </a:r>
            <a:r>
              <a:rPr lang="en-GB" dirty="0"/>
              <a:t> and </a:t>
            </a:r>
            <a:r>
              <a:rPr lang="en-GB" b="1" dirty="0"/>
              <a:t>network status</a:t>
            </a:r>
            <a:r>
              <a:rPr lang="en-GB" dirty="0"/>
              <a:t> are computed here.</a:t>
            </a:r>
          </a:p>
          <a:p>
            <a:r>
              <a:rPr lang="en-GB" b="1" dirty="0"/>
              <a:t>5. Query Layer (🔍 Athena)</a:t>
            </a:r>
          </a:p>
          <a:p>
            <a:r>
              <a:rPr lang="en-GB" b="1" dirty="0"/>
              <a:t>Amazon Athena</a:t>
            </a:r>
            <a:r>
              <a:rPr lang="en-GB" dirty="0"/>
              <a:t> runs SQL queries directly on processed S3 data.</a:t>
            </a:r>
          </a:p>
          <a:p>
            <a:r>
              <a:rPr lang="en-GB" dirty="0"/>
              <a:t>Enables analysts to get </a:t>
            </a:r>
            <a:r>
              <a:rPr lang="en-GB" b="1" dirty="0"/>
              <a:t>on-demand insights</a:t>
            </a:r>
            <a:r>
              <a:rPr lang="en-GB" dirty="0"/>
              <a:t> without complex setup.</a:t>
            </a:r>
          </a:p>
          <a:p>
            <a:r>
              <a:rPr lang="en-GB" dirty="0"/>
              <a:t>Example queries: </a:t>
            </a:r>
            <a:r>
              <a:rPr lang="en-GB" i="1" dirty="0"/>
              <a:t>“Average signal per region”</a:t>
            </a:r>
            <a:r>
              <a:rPr lang="en-GB" dirty="0"/>
              <a:t>, </a:t>
            </a:r>
            <a:r>
              <a:rPr lang="en-GB" i="1" dirty="0"/>
              <a:t>“GPS accuracy by postal code”</a:t>
            </a:r>
            <a:r>
              <a:rPr lang="en-GB" dirty="0"/>
              <a:t>.</a:t>
            </a:r>
          </a:p>
          <a:p>
            <a:r>
              <a:rPr lang="en-GB" b="1" dirty="0"/>
              <a:t>6. Result Storage (📊 S3 Query Results)</a:t>
            </a:r>
          </a:p>
          <a:p>
            <a:r>
              <a:rPr lang="en-GB" dirty="0"/>
              <a:t>Query results are stored back in </a:t>
            </a:r>
            <a:r>
              <a:rPr lang="en-GB" b="1" dirty="0"/>
              <a:t>S3</a:t>
            </a:r>
            <a:r>
              <a:rPr lang="en-GB" dirty="0"/>
              <a:t> for easy visualization and reuse.</a:t>
            </a:r>
          </a:p>
          <a:p>
            <a:r>
              <a:rPr lang="en-GB" dirty="0"/>
              <a:t>Can be connected to </a:t>
            </a:r>
            <a:r>
              <a:rPr lang="en-GB" b="1" dirty="0" err="1"/>
              <a:t>QuickSight</a:t>
            </a:r>
            <a:r>
              <a:rPr lang="en-GB" b="1" dirty="0"/>
              <a:t> or dashboards</a:t>
            </a:r>
            <a:r>
              <a:rPr lang="en-GB" dirty="0"/>
              <a:t> for reporting.</a:t>
            </a:r>
          </a:p>
          <a:p>
            <a:r>
              <a:rPr lang="en-GB" b="1" dirty="0"/>
              <a:t>7. Monitoring Layer (📉 CloudWatch)</a:t>
            </a:r>
          </a:p>
          <a:p>
            <a:r>
              <a:rPr lang="en-GB" b="1" dirty="0"/>
              <a:t>AWS CloudWatch</a:t>
            </a:r>
            <a:r>
              <a:rPr lang="en-GB" dirty="0"/>
              <a:t> tracks ETL job metrics, Kinesis stream health, and system alerts.</a:t>
            </a:r>
          </a:p>
          <a:p>
            <a:r>
              <a:rPr lang="en-GB" dirty="0"/>
              <a:t>Ensures </a:t>
            </a:r>
            <a:r>
              <a:rPr lang="en-GB" b="1" dirty="0"/>
              <a:t>pipeline reliability</a:t>
            </a:r>
            <a:r>
              <a:rPr lang="en-GB" dirty="0"/>
              <a:t> and early detection of data flow issues.</a:t>
            </a:r>
            <a:br>
              <a:rPr lang="en-GB" dirty="0"/>
            </a:br>
            <a:br>
              <a:rPr lang="en-GB" dirty="0"/>
            </a:br>
            <a:br>
              <a:rPr lang="en-GB" dirty="0"/>
            </a:br>
            <a:br>
              <a:rPr lang="en-GB" dirty="0"/>
            </a:br>
            <a:r>
              <a:rPr lang="en-GB" dirty="0"/>
              <a:t>This section demonstrates how we implemented each AWS component step-by-step — from streaming data to generating analytical insights.</a:t>
            </a:r>
            <a:br>
              <a:rPr lang="en-GB" dirty="0"/>
            </a:br>
            <a:br>
              <a:rPr lang="en-GB" dirty="0"/>
            </a:b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5576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GB" sz="1300" dirty="0"/>
              <a:t>This Python script is designed to </a:t>
            </a:r>
            <a:r>
              <a:rPr lang="en-GB" sz="1300" b="1" dirty="0"/>
              <a:t>simulate streaming data</a:t>
            </a:r>
            <a:r>
              <a:rPr lang="en-GB" sz="1300" dirty="0"/>
              <a:t> from a local </a:t>
            </a:r>
            <a:r>
              <a:rPr lang="en-GB" sz="1300" b="1" dirty="0"/>
              <a:t>CSV file</a:t>
            </a:r>
            <a:r>
              <a:rPr lang="en-GB" sz="1300" dirty="0"/>
              <a:t> into an </a:t>
            </a:r>
            <a:r>
              <a:rPr lang="en-GB" sz="1300" b="1" dirty="0"/>
              <a:t>Amazon Kinesis Data Stream</a:t>
            </a:r>
            <a:r>
              <a:rPr lang="en-GB" sz="1300" dirty="0"/>
              <a:t>. It processes the CSV data, converts each row into a JSON object, and then sends it as a record to the Kinesis stream.</a:t>
            </a:r>
          </a:p>
          <a:p>
            <a:pPr rtl="0"/>
            <a:r>
              <a:rPr lang="en-GB" sz="1300" dirty="0"/>
              <a:t>Here is a breakdown of the script's components and actions:</a:t>
            </a:r>
          </a:p>
          <a:p>
            <a:pPr rtl="0"/>
            <a:br>
              <a:rPr lang="en-GB" sz="1300" dirty="0"/>
            </a:br>
            <a:endParaRPr lang="en-GB" sz="1300" dirty="0"/>
          </a:p>
          <a:p>
            <a:pPr rtl="0"/>
            <a:r>
              <a:rPr lang="en-GB" sz="1300" b="1" dirty="0"/>
              <a:t>💻 Dependencies and Setup</a:t>
            </a:r>
          </a:p>
          <a:p>
            <a:pPr rtl="0"/>
            <a:r>
              <a:rPr lang="en-GB" sz="1300" b="1" dirty="0"/>
              <a:t>import csv, </a:t>
            </a:r>
            <a:r>
              <a:rPr lang="en-GB" sz="1300" b="1" dirty="0" err="1"/>
              <a:t>json</a:t>
            </a:r>
            <a:r>
              <a:rPr lang="en-GB" sz="1300" b="1" dirty="0"/>
              <a:t>, time, boto3</a:t>
            </a:r>
            <a:r>
              <a:rPr lang="en-GB" sz="1300" dirty="0"/>
              <a:t>: Imports necessary Python modules:</a:t>
            </a:r>
          </a:p>
          <a:p>
            <a:pPr lvl="1" rtl="0"/>
            <a:r>
              <a:rPr lang="en-GB" sz="1300" dirty="0"/>
              <a:t>csv: To read and process the CSV file.</a:t>
            </a:r>
          </a:p>
          <a:p>
            <a:pPr lvl="1" rtl="0"/>
            <a:r>
              <a:rPr lang="en-GB" sz="1300" dirty="0" err="1"/>
              <a:t>json</a:t>
            </a:r>
            <a:r>
              <a:rPr lang="en-GB" sz="1300" dirty="0"/>
              <a:t>: To convert the CSV row (dictionary) into a JSON string for the Kinesis record.</a:t>
            </a:r>
          </a:p>
          <a:p>
            <a:pPr lvl="1" rtl="0"/>
            <a:r>
              <a:rPr lang="en-GB" sz="1300" dirty="0"/>
              <a:t>time: To introduce a delay between sending records (simulating a stream).</a:t>
            </a:r>
          </a:p>
          <a:p>
            <a:pPr lvl="1" rtl="0"/>
            <a:r>
              <a:rPr lang="en-GB" sz="1300" dirty="0"/>
              <a:t>boto3: The </a:t>
            </a:r>
            <a:r>
              <a:rPr lang="en-GB" sz="1300" b="1" dirty="0"/>
              <a:t>Amazon Web Services (AWS) SDK for Python</a:t>
            </a:r>
            <a:r>
              <a:rPr lang="en-GB" sz="1300" dirty="0"/>
              <a:t>, used to interact with Kinesis.</a:t>
            </a:r>
          </a:p>
          <a:p>
            <a:pPr rtl="0"/>
            <a:r>
              <a:rPr lang="en-GB" sz="1300" b="1" dirty="0"/>
              <a:t>Constants</a:t>
            </a:r>
            <a:r>
              <a:rPr lang="en-GB" sz="1300" dirty="0"/>
              <a:t>:</a:t>
            </a:r>
          </a:p>
          <a:p>
            <a:pPr lvl="1" rtl="0"/>
            <a:r>
              <a:rPr lang="en-GB" sz="1300" dirty="0"/>
              <a:t>STREAM_NAME = "kinesis-mobile-log-stream": Specifies the name of the target Kinesis Data Stream.</a:t>
            </a:r>
          </a:p>
          <a:p>
            <a:pPr lvl="1" rtl="0"/>
            <a:r>
              <a:rPr lang="en-GB" sz="1300" dirty="0"/>
              <a:t>CSV_PATH = "mobile-logs.csv": Specifies the path to the local data file.</a:t>
            </a:r>
          </a:p>
          <a:p>
            <a:pPr lvl="1" rtl="0"/>
            <a:r>
              <a:rPr lang="en-GB" sz="1300" dirty="0"/>
              <a:t>SLEEP = 0.05: Defines the pause (in seconds) between sending each record.</a:t>
            </a:r>
          </a:p>
          <a:p>
            <a:pPr rtl="0"/>
            <a:r>
              <a:rPr lang="en-GB" sz="1300" b="1" dirty="0"/>
              <a:t>Kinesis Client Initialization</a:t>
            </a:r>
            <a:r>
              <a:rPr lang="en-GB" sz="1300" dirty="0"/>
              <a:t>:</a:t>
            </a:r>
          </a:p>
          <a:p>
            <a:pPr lvl="1" rtl="0"/>
            <a:r>
              <a:rPr lang="en-GB" sz="1300" dirty="0"/>
              <a:t>kinesis = boto3.client("kinesis", </a:t>
            </a:r>
            <a:r>
              <a:rPr lang="en-GB" sz="1300" dirty="0" err="1"/>
              <a:t>region_name</a:t>
            </a:r>
            <a:r>
              <a:rPr lang="en-GB" sz="1300" dirty="0"/>
              <a:t>="us-east-1"): Creates a client object to interact with the Kinesis service, specifically in the us-east-1 region.</a:t>
            </a:r>
          </a:p>
          <a:p>
            <a:pPr rtl="0"/>
            <a:br>
              <a:rPr lang="en-GB" sz="1300" dirty="0"/>
            </a:br>
            <a:endParaRPr lang="en-GB" sz="1300" dirty="0"/>
          </a:p>
          <a:p>
            <a:pPr rtl="0"/>
            <a:r>
              <a:rPr lang="en-GB" sz="1300" b="1" dirty="0"/>
              <a:t>🚀 Data Processing and Streaming Logic</a:t>
            </a:r>
          </a:p>
          <a:p>
            <a:pPr rtl="0"/>
            <a:r>
              <a:rPr lang="en-GB" sz="1300" dirty="0"/>
              <a:t>The core of the script is the loop that reads the file and sends data:</a:t>
            </a:r>
          </a:p>
          <a:p>
            <a:pPr rtl="0"/>
            <a:r>
              <a:rPr lang="en-GB" sz="1300" b="1" dirty="0"/>
              <a:t>Open and Read CSV</a:t>
            </a:r>
            <a:r>
              <a:rPr lang="en-GB" sz="1300" dirty="0"/>
              <a:t>:</a:t>
            </a:r>
          </a:p>
          <a:p>
            <a:pPr rtl="0"/>
            <a:r>
              <a:rPr lang="en-GB" sz="1300" dirty="0"/>
              <a:t>Python</a:t>
            </a:r>
          </a:p>
          <a:p>
            <a:pPr rtl="0"/>
            <a:r>
              <a:rPr lang="en-GB" sz="1300" dirty="0"/>
              <a:t>with open(CSV_PATH, 'r') as f:</a:t>
            </a:r>
          </a:p>
          <a:p>
            <a:pPr rtl="0"/>
            <a:r>
              <a:rPr lang="en-GB" sz="1300" dirty="0"/>
              <a:t>    reader = </a:t>
            </a:r>
            <a:r>
              <a:rPr lang="en-GB" sz="1300" dirty="0" err="1"/>
              <a:t>csv.DictReader</a:t>
            </a:r>
            <a:r>
              <a:rPr lang="en-GB" sz="1300" dirty="0"/>
              <a:t>(f)</a:t>
            </a:r>
          </a:p>
          <a:p>
            <a:pPr lvl="1" rtl="0"/>
            <a:r>
              <a:rPr lang="en-GB" sz="1300" dirty="0"/>
              <a:t>Opens the file at CSV_PATH for reading.</a:t>
            </a:r>
          </a:p>
          <a:p>
            <a:pPr lvl="1" rtl="0"/>
            <a:r>
              <a:rPr lang="en-GB" sz="1300" dirty="0" err="1"/>
              <a:t>csv.DictReader</a:t>
            </a:r>
            <a:r>
              <a:rPr lang="en-GB" sz="1300" dirty="0"/>
              <a:t>(f) treats each row in the CSV as a </a:t>
            </a:r>
            <a:r>
              <a:rPr lang="en-GB" sz="1300" b="1" dirty="0"/>
              <a:t>dictionary</a:t>
            </a:r>
            <a:r>
              <a:rPr lang="en-GB" sz="1300" dirty="0"/>
              <a:t> where the keys are the column headers.</a:t>
            </a:r>
          </a:p>
          <a:p>
            <a:pPr rtl="0"/>
            <a:r>
              <a:rPr lang="en-GB" sz="1300" b="1" dirty="0"/>
              <a:t>Iterate and Send Records</a:t>
            </a:r>
            <a:r>
              <a:rPr lang="en-GB" sz="1300" dirty="0"/>
              <a:t>:</a:t>
            </a:r>
          </a:p>
          <a:p>
            <a:pPr rtl="0"/>
            <a:r>
              <a:rPr lang="en-GB" sz="1300" dirty="0"/>
              <a:t>Python</a:t>
            </a:r>
          </a:p>
          <a:p>
            <a:pPr rtl="0"/>
            <a:r>
              <a:rPr lang="en-GB" sz="1300" dirty="0"/>
              <a:t>for </a:t>
            </a:r>
            <a:r>
              <a:rPr lang="en-GB" sz="1300" dirty="0" err="1"/>
              <a:t>i</a:t>
            </a:r>
            <a:r>
              <a:rPr lang="en-GB" sz="1300" dirty="0"/>
              <a:t>, row in enumerate(reader):</a:t>
            </a:r>
          </a:p>
          <a:p>
            <a:pPr rtl="0"/>
            <a:r>
              <a:rPr lang="en-GB" sz="1300" dirty="0"/>
              <a:t>    data = </a:t>
            </a:r>
            <a:r>
              <a:rPr lang="en-GB" sz="1300" dirty="0" err="1"/>
              <a:t>json.dumps</a:t>
            </a:r>
            <a:r>
              <a:rPr lang="en-GB" sz="1300" dirty="0"/>
              <a:t>(row)</a:t>
            </a:r>
          </a:p>
          <a:p>
            <a:pPr rtl="0"/>
            <a:r>
              <a:rPr lang="en-GB" sz="1300" dirty="0"/>
              <a:t>    </a:t>
            </a:r>
            <a:r>
              <a:rPr lang="en-GB" sz="1300" dirty="0" err="1"/>
              <a:t>kinesis.put_record</a:t>
            </a:r>
            <a:r>
              <a:rPr lang="en-GB" sz="1300" dirty="0"/>
              <a:t>(</a:t>
            </a:r>
            <a:r>
              <a:rPr lang="en-GB" sz="1300" dirty="0" err="1"/>
              <a:t>StreamName</a:t>
            </a:r>
            <a:r>
              <a:rPr lang="en-GB" sz="1300" dirty="0"/>
              <a:t>=STREAM_NAME, Data=</a:t>
            </a:r>
            <a:r>
              <a:rPr lang="en-GB" sz="1300" dirty="0" err="1"/>
              <a:t>data.encode</a:t>
            </a:r>
            <a:r>
              <a:rPr lang="en-GB" sz="1300" dirty="0"/>
              <a:t>('utf-8'), </a:t>
            </a:r>
            <a:r>
              <a:rPr lang="en-GB" sz="1300" dirty="0" err="1"/>
              <a:t>PartitionKey</a:t>
            </a:r>
            <a:r>
              <a:rPr lang="en-GB" sz="1300" dirty="0"/>
              <a:t>=str(i%10))</a:t>
            </a:r>
          </a:p>
          <a:p>
            <a:pPr rtl="0"/>
            <a:r>
              <a:rPr lang="en-GB" sz="1300" dirty="0"/>
              <a:t>    # ... (logging and sleep)</a:t>
            </a:r>
          </a:p>
          <a:p>
            <a:pPr lvl="1" rtl="0"/>
            <a:r>
              <a:rPr lang="en-GB" sz="1300" b="1" dirty="0"/>
              <a:t>for </a:t>
            </a:r>
            <a:r>
              <a:rPr lang="en-GB" sz="1300" b="1" dirty="0" err="1"/>
              <a:t>i</a:t>
            </a:r>
            <a:r>
              <a:rPr lang="en-GB" sz="1300" b="1" dirty="0"/>
              <a:t>, row in enumerate(reader):</a:t>
            </a:r>
            <a:r>
              <a:rPr lang="en-GB" sz="1300" dirty="0"/>
              <a:t>: Loops through each row (row is a dictionary) and keeps track of the record index (</a:t>
            </a:r>
            <a:r>
              <a:rPr lang="en-GB" sz="1300" dirty="0" err="1"/>
              <a:t>i</a:t>
            </a:r>
            <a:r>
              <a:rPr lang="en-GB" sz="1300" dirty="0"/>
              <a:t>).</a:t>
            </a:r>
          </a:p>
          <a:p>
            <a:pPr lvl="1" rtl="0"/>
            <a:r>
              <a:rPr lang="en-GB" sz="1300" b="1" dirty="0"/>
              <a:t>data = </a:t>
            </a:r>
            <a:r>
              <a:rPr lang="en-GB" sz="1300" b="1" dirty="0" err="1"/>
              <a:t>json.dumps</a:t>
            </a:r>
            <a:r>
              <a:rPr lang="en-GB" sz="1300" b="1" dirty="0"/>
              <a:t>(row)</a:t>
            </a:r>
            <a:r>
              <a:rPr lang="en-GB" sz="1300" dirty="0"/>
              <a:t>: Converts the dictionary (row) into a JSON formatted string. Kinesis records typically contain JSON or similar serialized data.</a:t>
            </a:r>
          </a:p>
          <a:p>
            <a:pPr lvl="1" rtl="0"/>
            <a:r>
              <a:rPr lang="en-GB" sz="1300" b="1" dirty="0" err="1"/>
              <a:t>kinesis.put_record</a:t>
            </a:r>
            <a:r>
              <a:rPr lang="en-GB" sz="1300" b="1" dirty="0"/>
              <a:t>(...)</a:t>
            </a:r>
            <a:r>
              <a:rPr lang="en-GB" sz="1300" dirty="0"/>
              <a:t>: This is the crucial AWS SDK call that sends the data:</a:t>
            </a:r>
          </a:p>
          <a:p>
            <a:pPr lvl="2" rtl="0"/>
            <a:r>
              <a:rPr lang="en-GB" sz="1300" dirty="0" err="1"/>
              <a:t>StreamName</a:t>
            </a:r>
            <a:r>
              <a:rPr lang="en-GB" sz="1300" dirty="0"/>
              <a:t>=STREAM_NAME: Targets the specified Kinesis stream.</a:t>
            </a:r>
          </a:p>
          <a:p>
            <a:pPr lvl="2" rtl="0"/>
            <a:r>
              <a:rPr lang="en-GB" sz="1300" dirty="0"/>
              <a:t>Data=</a:t>
            </a:r>
            <a:r>
              <a:rPr lang="en-GB" sz="1300" dirty="0" err="1"/>
              <a:t>data.encode</a:t>
            </a:r>
            <a:r>
              <a:rPr lang="en-GB" sz="1300" dirty="0"/>
              <a:t>('utf-8'): The JSON string is encoded into bytes (UTF-8) before being sent, as Kinesis expects a byte array.</a:t>
            </a:r>
          </a:p>
          <a:p>
            <a:pPr lvl="2" rtl="0"/>
            <a:r>
              <a:rPr lang="en-GB" sz="1300" dirty="0" err="1"/>
              <a:t>PartitionKey</a:t>
            </a:r>
            <a:r>
              <a:rPr lang="en-GB" sz="1300" dirty="0"/>
              <a:t>=str(i%10): Assigns a </a:t>
            </a:r>
            <a:r>
              <a:rPr lang="en-GB" sz="1300" b="1" dirty="0"/>
              <a:t>Partition Key</a:t>
            </a:r>
            <a:r>
              <a:rPr lang="en-GB" sz="1300" dirty="0"/>
              <a:t> to the record. The modulo operation (</a:t>
            </a:r>
            <a:r>
              <a:rPr lang="en-GB" sz="1300" dirty="0" err="1"/>
              <a:t>i</a:t>
            </a:r>
            <a:r>
              <a:rPr lang="en-GB" sz="1300" dirty="0"/>
              <a:t> % 10) ensures that records are distributed across 10 different partition keys (e.g., "0", "1", "2", ..., "9"). The Partition Key is essential for Kinesis to determine which </a:t>
            </a:r>
            <a:r>
              <a:rPr lang="en-GB" sz="1300" b="1" dirty="0"/>
              <a:t>shard</a:t>
            </a:r>
            <a:r>
              <a:rPr lang="en-GB" sz="1300" dirty="0"/>
              <a:t> (a logical partition of the stream) the record will be written to, ensuring even data distribution.</a:t>
            </a:r>
          </a:p>
          <a:p>
            <a:pPr rtl="0"/>
            <a:r>
              <a:rPr lang="en-GB" sz="1300" b="1" dirty="0"/>
              <a:t>Flow Control and Monitoring</a:t>
            </a:r>
            <a:r>
              <a:rPr lang="en-GB" sz="1300" dirty="0"/>
              <a:t>:</a:t>
            </a:r>
          </a:p>
          <a:p>
            <a:pPr rtl="0"/>
            <a:r>
              <a:rPr lang="en-GB" sz="1300" dirty="0"/>
              <a:t>Python</a:t>
            </a:r>
          </a:p>
          <a:p>
            <a:pPr rtl="0"/>
            <a:r>
              <a:rPr lang="en-GB" sz="1300" dirty="0"/>
              <a:t>if </a:t>
            </a:r>
            <a:r>
              <a:rPr lang="en-GB" sz="1300" dirty="0" err="1"/>
              <a:t>i</a:t>
            </a:r>
            <a:r>
              <a:rPr lang="en-GB" sz="1300" dirty="0"/>
              <a:t> % 50 == 0:</a:t>
            </a:r>
          </a:p>
          <a:p>
            <a:pPr rtl="0"/>
            <a:r>
              <a:rPr lang="en-GB" sz="1300" dirty="0"/>
              <a:t>    print("sent", </a:t>
            </a:r>
            <a:r>
              <a:rPr lang="en-GB" sz="1300" dirty="0" err="1"/>
              <a:t>i</a:t>
            </a:r>
            <a:r>
              <a:rPr lang="en-GB" sz="1300" dirty="0"/>
              <a:t>)</a:t>
            </a:r>
          </a:p>
          <a:p>
            <a:pPr rtl="0"/>
            <a:r>
              <a:rPr lang="en-GB" sz="1300" dirty="0" err="1"/>
              <a:t>time.sleep</a:t>
            </a:r>
            <a:r>
              <a:rPr lang="en-GB" sz="1300" dirty="0"/>
              <a:t>(SLEEP)</a:t>
            </a:r>
          </a:p>
          <a:p>
            <a:pPr lvl="1" rtl="0"/>
            <a:r>
              <a:rPr lang="en-GB" sz="1300" b="1" dirty="0"/>
              <a:t>Logging</a:t>
            </a:r>
            <a:r>
              <a:rPr lang="en-GB" sz="1300" dirty="0"/>
              <a:t>: Prints a status update every 50 records to show progress.</a:t>
            </a:r>
          </a:p>
          <a:p>
            <a:pPr lvl="1" rtl="0"/>
            <a:r>
              <a:rPr lang="en-GB" sz="1300" b="1" dirty="0"/>
              <a:t>Delay</a:t>
            </a:r>
            <a:r>
              <a:rPr lang="en-GB" sz="1300" dirty="0"/>
              <a:t>: The </a:t>
            </a:r>
            <a:r>
              <a:rPr lang="en-GB" sz="1300" dirty="0" err="1"/>
              <a:t>time.sleep</a:t>
            </a:r>
            <a:r>
              <a:rPr lang="en-GB" sz="1300" dirty="0"/>
              <a:t>(0.05) ensures the records are sent at a slow, controlled rate, mimicking a steady stream of data rather than a bulk upload, which is a common pattern for data stream producers.</a:t>
            </a:r>
          </a:p>
          <a:p>
            <a:pPr rtl="0"/>
            <a:r>
              <a:rPr lang="en-GB" sz="1300" dirty="0"/>
              <a:t>In essence, the script acts as a </a:t>
            </a:r>
            <a:r>
              <a:rPr lang="en-GB" sz="1300" b="1" dirty="0"/>
              <a:t>Producer</a:t>
            </a:r>
            <a:r>
              <a:rPr lang="en-GB" sz="1300" dirty="0"/>
              <a:t> sending records to the Kinesis Data Stream, which can then be processed by a </a:t>
            </a:r>
            <a:r>
              <a:rPr lang="en-GB" sz="1300" b="1" dirty="0"/>
              <a:t>Consumer</a:t>
            </a:r>
            <a:r>
              <a:rPr lang="en-GB" sz="1300" dirty="0"/>
              <a:t> application (not shown here).</a:t>
            </a:r>
          </a:p>
          <a:p>
            <a:pPr rtl="0"/>
            <a:r>
              <a:rPr lang="en-GB" sz="1300" dirty="0"/>
              <a:t>Would you like to know more about </a:t>
            </a:r>
            <a:r>
              <a:rPr lang="en-GB" sz="1300" b="1" dirty="0"/>
              <a:t>Amazon Kinesis Data Streams</a:t>
            </a:r>
            <a:r>
              <a:rPr lang="en-GB" sz="1300" dirty="0"/>
              <a:t> or see an example of how the </a:t>
            </a:r>
            <a:r>
              <a:rPr lang="en-GB" sz="1300" b="1" dirty="0"/>
              <a:t>Partition Key</a:t>
            </a:r>
            <a:r>
              <a:rPr lang="en-GB" sz="1300" dirty="0"/>
              <a:t> affects record distribution?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595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5C780-F223-32CC-4A1C-9E757E60B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17AA0-8D76-AD2D-DE5A-9D5133362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715D6F-30E5-BDB4-12C7-80156B6F93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Required for </a:t>
            </a:r>
            <a:r>
              <a:rPr lang="en-GB" b="1" dirty="0"/>
              <a:t>Glue Jobs</a:t>
            </a:r>
            <a:r>
              <a:rPr lang="en-GB" dirty="0"/>
              <a:t>, </a:t>
            </a:r>
            <a:r>
              <a:rPr lang="en-GB" b="1" dirty="0"/>
              <a:t>Crawler</a:t>
            </a:r>
            <a:r>
              <a:rPr lang="en-GB" dirty="0"/>
              <a:t>, and </a:t>
            </a:r>
            <a:r>
              <a:rPr lang="en-GB" b="1" dirty="0"/>
              <a:t>Athena</a:t>
            </a:r>
            <a:r>
              <a:rPr lang="en-GB" dirty="0"/>
              <a:t> to access S3 &amp; Kinesis securely.</a:t>
            </a:r>
          </a:p>
          <a:p>
            <a:r>
              <a:rPr lang="en-GB" dirty="0"/>
              <a:t>The trust relationship allows Glue to assume the role.</a:t>
            </a:r>
            <a:br>
              <a:rPr lang="en-GB" dirty="0"/>
            </a:br>
            <a:r>
              <a:rPr lang="en-GB" b="1" dirty="0"/>
              <a:t>Highlight:</a:t>
            </a:r>
            <a:br>
              <a:rPr lang="en-GB" dirty="0"/>
            </a:br>
            <a:r>
              <a:rPr lang="en-GB" dirty="0"/>
              <a:t>“This ensures that every AWS service in the pipeline operates with least privilege access.”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CCA22-0C87-38E3-5415-739454D4DF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7333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9D127-622C-A507-AAA1-355B88849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8F0C53-F4CE-C1FC-50FE-77DAD16813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7A0685-CAAC-3BD7-825C-48D971401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Required for </a:t>
            </a:r>
            <a:r>
              <a:rPr lang="en-GB" b="1" dirty="0"/>
              <a:t>Glue Jobs</a:t>
            </a:r>
            <a:r>
              <a:rPr lang="en-GB" dirty="0"/>
              <a:t>, </a:t>
            </a:r>
            <a:r>
              <a:rPr lang="en-GB" b="1" dirty="0"/>
              <a:t>Crawler</a:t>
            </a:r>
            <a:r>
              <a:rPr lang="en-GB" dirty="0"/>
              <a:t>, and </a:t>
            </a:r>
            <a:r>
              <a:rPr lang="en-GB" b="1" dirty="0"/>
              <a:t>Athena</a:t>
            </a:r>
            <a:r>
              <a:rPr lang="en-GB" dirty="0"/>
              <a:t> to access S3 &amp; Kinesis securely.</a:t>
            </a:r>
          </a:p>
          <a:p>
            <a:r>
              <a:rPr lang="en-GB" dirty="0"/>
              <a:t>The trust relationship allows Glue to assume the role.</a:t>
            </a:r>
            <a:br>
              <a:rPr lang="en-GB" dirty="0"/>
            </a:br>
            <a:r>
              <a:rPr lang="en-GB" b="1" dirty="0"/>
              <a:t>Highlight:</a:t>
            </a:r>
            <a:br>
              <a:rPr lang="en-GB" dirty="0"/>
            </a:br>
            <a:r>
              <a:rPr lang="en-GB" dirty="0"/>
              <a:t>“This ensures that every AWS service in the pipeline operates with least privilege access.”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418196-44B7-0073-324C-CAB8099C59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2984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49E8C-0F44-2AD9-414C-A513752A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900908-0B27-3FF9-4DC2-EFD2F53905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EEE85F-49C4-9948-6238-89C107AA8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Required for </a:t>
            </a:r>
            <a:r>
              <a:rPr lang="en-GB" b="1" dirty="0"/>
              <a:t>Glue Jobs</a:t>
            </a:r>
            <a:r>
              <a:rPr lang="en-GB" dirty="0"/>
              <a:t>, </a:t>
            </a:r>
            <a:r>
              <a:rPr lang="en-GB" b="1" dirty="0"/>
              <a:t>Crawler</a:t>
            </a:r>
            <a:r>
              <a:rPr lang="en-GB" dirty="0"/>
              <a:t>, and </a:t>
            </a:r>
            <a:r>
              <a:rPr lang="en-GB" b="1" dirty="0"/>
              <a:t>Athena</a:t>
            </a:r>
            <a:r>
              <a:rPr lang="en-GB" dirty="0"/>
              <a:t> to access S3 &amp; Kinesis securely.</a:t>
            </a:r>
          </a:p>
          <a:p>
            <a:r>
              <a:rPr lang="en-GB" dirty="0"/>
              <a:t>The trust relationship allows Glue to assume the role.</a:t>
            </a:r>
            <a:br>
              <a:rPr lang="en-GB" dirty="0"/>
            </a:br>
            <a:r>
              <a:rPr lang="en-GB" b="1" dirty="0"/>
              <a:t>Highlight:</a:t>
            </a:r>
            <a:br>
              <a:rPr lang="en-GB" dirty="0"/>
            </a:br>
            <a:r>
              <a:rPr lang="en-GB" dirty="0"/>
              <a:t>“This ensures that every AWS service in the pipeline operates with least privilege access.”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179E3F-8FDB-6D63-012F-76FA1A993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7952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B9ECB-4FFA-696D-1ED4-2BDCE75F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FAC533-20DD-790A-52E4-9D5B1ED73E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A75096-4D94-991B-60FB-0064F914D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Required for </a:t>
            </a:r>
            <a:r>
              <a:rPr lang="en-GB" b="1" dirty="0"/>
              <a:t>Glue Jobs</a:t>
            </a:r>
            <a:r>
              <a:rPr lang="en-GB" dirty="0"/>
              <a:t>, </a:t>
            </a:r>
            <a:r>
              <a:rPr lang="en-GB" b="1" dirty="0"/>
              <a:t>Crawler</a:t>
            </a:r>
            <a:r>
              <a:rPr lang="en-GB" dirty="0"/>
              <a:t>, and </a:t>
            </a:r>
            <a:r>
              <a:rPr lang="en-GB" b="1" dirty="0"/>
              <a:t>Athena</a:t>
            </a:r>
            <a:r>
              <a:rPr lang="en-GB" dirty="0"/>
              <a:t> to access S3 &amp; Kinesis securely.</a:t>
            </a:r>
          </a:p>
          <a:p>
            <a:r>
              <a:rPr lang="en-GB" dirty="0"/>
              <a:t>The trust relationship allows Glue to assume the role.</a:t>
            </a:r>
            <a:br>
              <a:rPr lang="en-GB" dirty="0"/>
            </a:br>
            <a:r>
              <a:rPr lang="en-GB" b="1" dirty="0"/>
              <a:t>Highlight:</a:t>
            </a:r>
            <a:br>
              <a:rPr lang="en-GB" dirty="0"/>
            </a:br>
            <a:r>
              <a:rPr lang="en-GB" dirty="0"/>
              <a:t>“This ensures that every AWS service in the pipeline operates with least privilege access.”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430D14-0163-C26C-D805-D6148BA8B3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4576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2F919-4671-CB50-1624-5BB673BC1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0DFC47-F9A2-BF79-4A8C-0DEF969D1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8FE18D-D449-A73F-A60D-81AC575A9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Required for </a:t>
            </a:r>
            <a:r>
              <a:rPr lang="en-GB" b="1" dirty="0"/>
              <a:t>Glue Jobs</a:t>
            </a:r>
            <a:r>
              <a:rPr lang="en-GB" dirty="0"/>
              <a:t>, </a:t>
            </a:r>
            <a:r>
              <a:rPr lang="en-GB" b="1" dirty="0"/>
              <a:t>Crawler</a:t>
            </a:r>
            <a:r>
              <a:rPr lang="en-GB" dirty="0"/>
              <a:t>, and </a:t>
            </a:r>
            <a:r>
              <a:rPr lang="en-GB" b="1" dirty="0"/>
              <a:t>Athena</a:t>
            </a:r>
            <a:r>
              <a:rPr lang="en-GB" dirty="0"/>
              <a:t> to access S3 &amp; Kinesis securely.</a:t>
            </a:r>
          </a:p>
          <a:p>
            <a:r>
              <a:rPr lang="en-GB" dirty="0"/>
              <a:t>The trust relationship allows Glue to assume the role.</a:t>
            </a:r>
            <a:br>
              <a:rPr lang="en-GB" dirty="0"/>
            </a:br>
            <a:r>
              <a:rPr lang="en-GB" b="1" dirty="0"/>
              <a:t>Highlight:</a:t>
            </a:r>
            <a:br>
              <a:rPr lang="en-GB" dirty="0"/>
            </a:br>
            <a:r>
              <a:rPr lang="en-GB" dirty="0"/>
              <a:t>“This ensures that every AWS service in the pipeline operates with least privilege access.”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3C147-922C-89A1-ECDB-869F07E35C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552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BD05F-1BED-F08A-CDB8-97FB954F9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B22B9D-5768-66D5-9E79-9AB789B808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769B1-959D-5A50-D553-09954C77E7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8049D-B589-4AB0-12B0-A8488C186A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684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A44E1-F5B9-A3C4-8E12-BD2BFA121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C3200C-71A2-4E8B-B217-7D4B52906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790F40-F593-38B3-915D-05DE7097C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Required for </a:t>
            </a:r>
            <a:r>
              <a:rPr lang="en-GB" b="1" dirty="0"/>
              <a:t>Glue Jobs</a:t>
            </a:r>
            <a:r>
              <a:rPr lang="en-GB" dirty="0"/>
              <a:t>, </a:t>
            </a:r>
            <a:r>
              <a:rPr lang="en-GB" b="1" dirty="0"/>
              <a:t>Crawler</a:t>
            </a:r>
            <a:r>
              <a:rPr lang="en-GB" dirty="0"/>
              <a:t>, and </a:t>
            </a:r>
            <a:r>
              <a:rPr lang="en-GB" b="1" dirty="0"/>
              <a:t>Athena</a:t>
            </a:r>
            <a:r>
              <a:rPr lang="en-GB" dirty="0"/>
              <a:t> to access S3 &amp; Kinesis securely.</a:t>
            </a:r>
          </a:p>
          <a:p>
            <a:r>
              <a:rPr lang="en-GB" dirty="0"/>
              <a:t>The trust relationship allows Glue to assume the role.</a:t>
            </a:r>
            <a:br>
              <a:rPr lang="en-GB" dirty="0"/>
            </a:br>
            <a:r>
              <a:rPr lang="en-GB" b="1" dirty="0"/>
              <a:t>Highlight:</a:t>
            </a:r>
            <a:br>
              <a:rPr lang="en-GB" dirty="0"/>
            </a:br>
            <a:r>
              <a:rPr lang="en-GB" dirty="0"/>
              <a:t>“This ensures that every AWS service in the pipeline operates with least privilege access.”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197EC2-D8BF-9BEF-6A66-D835CE6860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5141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200" dirty="0"/>
              <a:t>: Incoming mobile log data instantly processed and stored in S3.</a:t>
            </a:r>
          </a:p>
          <a:p>
            <a:endParaRPr lang="en-I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200" dirty="0"/>
              <a:t> : JSON stream transformed into timestamped, analytics-ready CSV files.</a:t>
            </a:r>
          </a:p>
          <a:p>
            <a:endParaRPr lang="en-I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200" dirty="0"/>
              <a:t> : Teams can query live data using Amazon Athena without manual ETL steps.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IN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200" dirty="0"/>
              <a:t>: The pipeline can easily integrate new data sources or analytics dashboards (</a:t>
            </a:r>
            <a:r>
              <a:rPr lang="en-IN" sz="1200" dirty="0" err="1"/>
              <a:t>QuickSight</a:t>
            </a:r>
            <a:r>
              <a:rPr lang="en-IN" sz="1200" dirty="0"/>
              <a:t>, Power BI).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2495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: Learned how to build a real-time data pipeline connecting Kinesis Data Stream → AWS Glue → S3 → Athena for end-to-end data processing.</a:t>
            </a:r>
          </a:p>
          <a:p>
            <a:endParaRPr lang="en-I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Streaming : Gained hands-on experience with reading continuous streams and writing results.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200" dirty="0"/>
              <a:t>Transformation : Practiced defining JSON schemas, parsing dynamic data, and transforming raw data into structured CSV output.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: Developed a local test setup using Docker + Spark to simulate streaming with JSON files before deploying to AWS.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: Explored Glue Catalog, Athena, and S3 as a seamless ecosystem for data storage, querying, and analytics.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B8D544-1094-44AC-945A-825F4ED59BE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9280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8521D-6B19-ACB0-EFC2-9153024204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1F54C2-BBD3-4958-519E-50BFD92CF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4A8F1F-CA6D-2CA2-CDD2-59CB2561B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BD6A9-A395-44A7-B4A3-31518BFD952D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BEF95-763A-7E30-DE89-288C6EA8A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DE365E-908C-A13C-EDBA-B3293D739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52665-237A-4DF9-9B39-ED6566165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883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D19EF-F52A-4DB9-25CF-06595CE5E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5B53D3-3C4B-109B-B5B0-53A7BEB284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A6F7EF-C027-98A9-DC6E-A609F212E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BD6A9-A395-44A7-B4A3-31518BFD952D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543C7-4D02-C22B-DFCD-F383E37EB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AE0D91-A666-3F3C-0027-E26495DCB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52665-237A-4DF9-9B39-ED6566165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2971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35EB3-B3C3-6808-0E2D-6E45B244A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926D3F-0C84-B2F7-7904-3532C9F39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01E7A-D42C-5C22-5E53-7163CF2FE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BD6A9-A395-44A7-B4A3-31518BFD952D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049CF7-4FD4-2AC1-A004-61D3514EA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27BAC-F0B9-50B1-0C0A-DEEDA5036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52665-237A-4DF9-9B39-ED6566165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0239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75F67-D06D-DA92-0B7F-74265A2A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A41B8-AE6D-13C1-198F-6E2E20BFD7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DF184C-C570-3454-6810-5D2897871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076AD9-BE7D-0A9C-3B52-CD900743D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BD6A9-A395-44A7-B4A3-31518BFD952D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053E0A-A4D7-05FB-1689-0ABDC9480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9C380B-84C9-CC50-03EF-2DF06F12F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52665-237A-4DF9-9B39-ED6566165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6433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E0B3D-DBA4-B92F-6D92-19AE6C7A2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C48911-1CE7-966D-864F-1038F378E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96C883-BD7E-46D6-23B2-22864F559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FD4C0-F3AC-5254-A051-66D700D96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7BE85C-A1C9-77E3-99AB-C67EC9ED9F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DE4BF8-DD0F-7B99-E1CF-A0296F4B4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BD6A9-A395-44A7-B4A3-31518BFD952D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E96E9D-E8EA-EB8F-68CD-95D16B571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5B8DA2-1D86-19D3-C7A2-9CBDA5000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52665-237A-4DF9-9B39-ED6566165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6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9C935-97C3-558C-B600-69A1A3C5D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920710-10C4-AA0E-F8B4-BDF0C6E3E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BD6A9-A395-44A7-B4A3-31518BFD952D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F29551-A30F-EF5F-9AE8-A60D6B45A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77F693-581E-5DF1-213B-B932A1638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52665-237A-4DF9-9B39-ED6566165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919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263C8B-E38A-DFE2-4ACE-93F84C30B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BD6A9-A395-44A7-B4A3-31518BFD952D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EB31B1-016C-86EE-2A6B-0CFFB855F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82AEE-85C9-20D4-11DA-D173CA5CD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52665-237A-4DF9-9B39-ED6566165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786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C5CDD-B80D-9784-EA1C-C37D3F7A9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80745-D46D-2A68-CD7B-A675AA4EF3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87FE9-C663-7ACB-34C1-E89D5EB4F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DD143-D2B6-7222-BAB2-730B4CF25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BD6A9-A395-44A7-B4A3-31518BFD952D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2925F-45C8-3865-3A18-43BDE3BD8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17B7EB-405F-E003-DECD-81B75B07D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52665-237A-4DF9-9B39-ED6566165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6649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90D04-DBA8-15D4-1893-01E81FBB5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159742-BD91-0376-43E1-80638E14F3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8324CD-9125-C692-EABB-21A589B1DB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02CF3F-DA83-181A-A188-E89A5B88D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BD6A9-A395-44A7-B4A3-31518BFD952D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61F18C-05FA-1FD4-BD86-B4ACF878F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F26BEB-D872-E386-F2A0-2316A29D7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52665-237A-4DF9-9B39-ED6566165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9458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58AE6-337E-21B2-A10F-75C9FA531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D51174-C4A3-4E87-8D45-297733A277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9608B-0666-9958-E5DF-50EE11DF7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BD6A9-A395-44A7-B4A3-31518BFD952D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45C01-B6B6-10DB-39F5-B0698E4D7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B1245-F664-C0DC-4D2D-1D7FBB64D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52665-237A-4DF9-9B39-ED6566165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8251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4A12ED-46D9-2607-C8C8-C16F0321B1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BFC252-4166-7E43-F4FC-9880B695BF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8B9C95-C237-14FE-3756-25E5BCCF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BD6A9-A395-44A7-B4A3-31518BFD952D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9176EB-D6BC-8855-BE7F-4919C4B6C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A4B3F-1215-242F-6D55-0A58ADB9C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D52665-237A-4DF9-9B39-ED6566165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9064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8520239-92C6-873C-986A-40EA4F554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8AE8C-3B85-68C4-9BEA-9F661E38E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F77FEF-FF99-ACB8-B09D-5D056C23BF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CBD6A9-A395-44A7-B4A3-31518BFD952D}" type="datetimeFigureOut">
              <a:rPr lang="en-IN" smtClean="0"/>
              <a:t>08-11-2025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9FB3E-FB79-B435-C1C2-7D2146E258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FEE1EE-C3CA-B238-4089-36FDAE64FB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D52665-237A-4DF9-9B39-ED6566165A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84626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AB1C56-F180-B6EA-6323-B61100B98F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045" y="2307866"/>
            <a:ext cx="6692827" cy="3892669"/>
          </a:xfrm>
        </p:spPr>
        <p:txBody>
          <a:bodyPr>
            <a:normAutofit/>
          </a:bodyPr>
          <a:lstStyle/>
          <a:p>
            <a:pPr algn="l"/>
            <a:r>
              <a:rPr lang="en-US" sz="6600" dirty="0"/>
              <a:t>Telecom Signal Stream</a:t>
            </a:r>
            <a:br>
              <a:rPr lang="en-US" sz="6600" dirty="0"/>
            </a:br>
            <a:br>
              <a:rPr lang="en-US" sz="6600" dirty="0"/>
            </a:br>
            <a:r>
              <a:rPr lang="en-US" sz="5400" dirty="0"/>
              <a:t>Data Forge</a:t>
            </a:r>
            <a:endParaRPr lang="en-US" sz="6600" dirty="0"/>
          </a:p>
        </p:txBody>
      </p:sp>
      <p:sp>
        <p:nvSpPr>
          <p:cNvPr id="103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Signal tower - Free communications icons">
            <a:extLst>
              <a:ext uri="{FF2B5EF4-FFF2-40B4-BE49-F238E27FC236}">
                <a16:creationId xmlns:a16="http://schemas.microsoft.com/office/drawing/2014/main" id="{6F05D2DD-BF3E-A825-C441-6A2E117EE3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781544" y="1267079"/>
            <a:ext cx="4087368" cy="408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7146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15C13-C16B-BC33-C6AE-0E47749BD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IN">
                <a:solidFill>
                  <a:srgbClr val="FFFFFF"/>
                </a:solidFill>
              </a:rPr>
              <a:t>Team Members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1909F-10F6-BF5D-5104-203F79C57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r>
              <a:rPr lang="en-IN" dirty="0"/>
              <a:t>Kavya Bhatta S</a:t>
            </a:r>
          </a:p>
          <a:p>
            <a:r>
              <a:rPr lang="en-IN" dirty="0"/>
              <a:t>Sahana J Upadhyaya</a:t>
            </a:r>
          </a:p>
          <a:p>
            <a:r>
              <a:rPr lang="en-IN" dirty="0"/>
              <a:t>Rakesh Kumar  </a:t>
            </a:r>
          </a:p>
          <a:p>
            <a:r>
              <a:rPr lang="en-IN" dirty="0"/>
              <a:t>Ijaz Ahmad S     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6150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821940F-7A1D-4ACC-85B4-A932898ABB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6674508-81D3-48CF-96BF-7FC60EAA5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741994" cy="6858000"/>
          </a:xfrm>
          <a:custGeom>
            <a:avLst/>
            <a:gdLst>
              <a:gd name="connsiteX0" fmla="*/ 0 w 6568309"/>
              <a:gd name="connsiteY0" fmla="*/ 0 h 6858000"/>
              <a:gd name="connsiteX1" fmla="*/ 362841 w 6568309"/>
              <a:gd name="connsiteY1" fmla="*/ 0 h 6858000"/>
              <a:gd name="connsiteX2" fmla="*/ 523269 w 6568309"/>
              <a:gd name="connsiteY2" fmla="*/ 0 h 6858000"/>
              <a:gd name="connsiteX3" fmla="*/ 1343025 w 6568309"/>
              <a:gd name="connsiteY3" fmla="*/ 0 h 6858000"/>
              <a:gd name="connsiteX4" fmla="*/ 1705866 w 6568309"/>
              <a:gd name="connsiteY4" fmla="*/ 0 h 6858000"/>
              <a:gd name="connsiteX5" fmla="*/ 1866294 w 6568309"/>
              <a:gd name="connsiteY5" fmla="*/ 0 h 6858000"/>
              <a:gd name="connsiteX6" fmla="*/ 5225154 w 6568309"/>
              <a:gd name="connsiteY6" fmla="*/ 0 h 6858000"/>
              <a:gd name="connsiteX7" fmla="*/ 6568179 w 6568309"/>
              <a:gd name="connsiteY7" fmla="*/ 0 h 6858000"/>
              <a:gd name="connsiteX8" fmla="*/ 6568309 w 6568309"/>
              <a:gd name="connsiteY8" fmla="*/ 1 h 6858000"/>
              <a:gd name="connsiteX9" fmla="*/ 6562951 w 6568309"/>
              <a:gd name="connsiteY9" fmla="*/ 30700 h 6858000"/>
              <a:gd name="connsiteX10" fmla="*/ 6547446 w 6568309"/>
              <a:gd name="connsiteY10" fmla="*/ 310025 h 6858000"/>
              <a:gd name="connsiteX11" fmla="*/ 6558316 w 6568309"/>
              <a:gd name="connsiteY11" fmla="*/ 443960 h 6858000"/>
              <a:gd name="connsiteX12" fmla="*/ 6528896 w 6568309"/>
              <a:gd name="connsiteY12" fmla="*/ 642659 h 6858000"/>
              <a:gd name="connsiteX13" fmla="*/ 6523095 w 6568309"/>
              <a:gd name="connsiteY13" fmla="*/ 673307 h 6858000"/>
              <a:gd name="connsiteX14" fmla="*/ 6496169 w 6568309"/>
              <a:gd name="connsiteY14" fmla="*/ 839641 h 6858000"/>
              <a:gd name="connsiteX15" fmla="*/ 6450789 w 6568309"/>
              <a:gd name="connsiteY15" fmla="*/ 958357 h 6858000"/>
              <a:gd name="connsiteX16" fmla="*/ 6453996 w 6568309"/>
              <a:gd name="connsiteY16" fmla="*/ 963398 h 6858000"/>
              <a:gd name="connsiteX17" fmla="*/ 6419467 w 6568309"/>
              <a:gd name="connsiteY17" fmla="*/ 1117169 h 6858000"/>
              <a:gd name="connsiteX18" fmla="*/ 6417348 w 6568309"/>
              <a:gd name="connsiteY18" fmla="*/ 1144352 h 6858000"/>
              <a:gd name="connsiteX19" fmla="*/ 6418473 w 6568309"/>
              <a:gd name="connsiteY19" fmla="*/ 1164484 h 6858000"/>
              <a:gd name="connsiteX20" fmla="*/ 6406979 w 6568309"/>
              <a:gd name="connsiteY20" fmla="*/ 1213829 h 6858000"/>
              <a:gd name="connsiteX21" fmla="*/ 6381928 w 6568309"/>
              <a:gd name="connsiteY21" fmla="*/ 1294823 h 6858000"/>
              <a:gd name="connsiteX22" fmla="*/ 6377948 w 6568309"/>
              <a:gd name="connsiteY22" fmla="*/ 1312193 h 6858000"/>
              <a:gd name="connsiteX23" fmla="*/ 6379894 w 6568309"/>
              <a:gd name="connsiteY23" fmla="*/ 1327626 h 6858000"/>
              <a:gd name="connsiteX24" fmla="*/ 6385024 w 6568309"/>
              <a:gd name="connsiteY24" fmla="*/ 1331644 h 6858000"/>
              <a:gd name="connsiteX25" fmla="*/ 6383696 w 6568309"/>
              <a:gd name="connsiteY25" fmla="*/ 1341276 h 6858000"/>
              <a:gd name="connsiteX26" fmla="*/ 6384464 w 6568309"/>
              <a:gd name="connsiteY26" fmla="*/ 1343945 h 6858000"/>
              <a:gd name="connsiteX27" fmla="*/ 6387748 w 6568309"/>
              <a:gd name="connsiteY27" fmla="*/ 1359134 h 6858000"/>
              <a:gd name="connsiteX28" fmla="*/ 6364157 w 6568309"/>
              <a:gd name="connsiteY28" fmla="*/ 1427803 h 6858000"/>
              <a:gd name="connsiteX29" fmla="*/ 6335874 w 6568309"/>
              <a:gd name="connsiteY29" fmla="*/ 1540278 h 6858000"/>
              <a:gd name="connsiteX30" fmla="*/ 6331892 w 6568309"/>
              <a:gd name="connsiteY30" fmla="*/ 1547262 h 6858000"/>
              <a:gd name="connsiteX31" fmla="*/ 6332744 w 6568309"/>
              <a:gd name="connsiteY31" fmla="*/ 1577056 h 6858000"/>
              <a:gd name="connsiteX32" fmla="*/ 6333604 w 6568309"/>
              <a:gd name="connsiteY32" fmla="*/ 1595898 h 6858000"/>
              <a:gd name="connsiteX33" fmla="*/ 6324749 w 6568309"/>
              <a:gd name="connsiteY33" fmla="*/ 1703726 h 6858000"/>
              <a:gd name="connsiteX34" fmla="*/ 6329594 w 6568309"/>
              <a:gd name="connsiteY34" fmla="*/ 1809535 h 6858000"/>
              <a:gd name="connsiteX35" fmla="*/ 6329062 w 6568309"/>
              <a:gd name="connsiteY35" fmla="*/ 2018310 h 6858000"/>
              <a:gd name="connsiteX36" fmla="*/ 6321735 w 6568309"/>
              <a:gd name="connsiteY36" fmla="*/ 2071355 h 6858000"/>
              <a:gd name="connsiteX37" fmla="*/ 6322678 w 6568309"/>
              <a:gd name="connsiteY37" fmla="*/ 2141166 h 6858000"/>
              <a:gd name="connsiteX38" fmla="*/ 6321340 w 6568309"/>
              <a:gd name="connsiteY38" fmla="*/ 2154548 h 6858000"/>
              <a:gd name="connsiteX39" fmla="*/ 6316582 w 6568309"/>
              <a:gd name="connsiteY39" fmla="*/ 2158153 h 6858000"/>
              <a:gd name="connsiteX40" fmla="*/ 6311428 w 6568309"/>
              <a:gd name="connsiteY40" fmla="*/ 2178174 h 6858000"/>
              <a:gd name="connsiteX41" fmla="*/ 6310192 w 6568309"/>
              <a:gd name="connsiteY41" fmla="*/ 2202858 h 6858000"/>
              <a:gd name="connsiteX42" fmla="*/ 6309211 w 6568309"/>
              <a:gd name="connsiteY42" fmla="*/ 2320214 h 6858000"/>
              <a:gd name="connsiteX43" fmla="*/ 6300151 w 6568309"/>
              <a:gd name="connsiteY43" fmla="*/ 2417011 h 6858000"/>
              <a:gd name="connsiteX44" fmla="*/ 6295176 w 6568309"/>
              <a:gd name="connsiteY44" fmla="*/ 2454207 h 6858000"/>
              <a:gd name="connsiteX45" fmla="*/ 6293727 w 6568309"/>
              <a:gd name="connsiteY45" fmla="*/ 2487203 h 6858000"/>
              <a:gd name="connsiteX46" fmla="*/ 6285477 w 6568309"/>
              <a:gd name="connsiteY46" fmla="*/ 2512282 h 6858000"/>
              <a:gd name="connsiteX47" fmla="*/ 6286205 w 6568309"/>
              <a:gd name="connsiteY47" fmla="*/ 2514318 h 6858000"/>
              <a:gd name="connsiteX48" fmla="*/ 6304629 w 6568309"/>
              <a:gd name="connsiteY48" fmla="*/ 2574334 h 6858000"/>
              <a:gd name="connsiteX49" fmla="*/ 6303842 w 6568309"/>
              <a:gd name="connsiteY49" fmla="*/ 2579877 h 6858000"/>
              <a:gd name="connsiteX50" fmla="*/ 6303953 w 6568309"/>
              <a:gd name="connsiteY50" fmla="*/ 2608928 h 6858000"/>
              <a:gd name="connsiteX51" fmla="*/ 6303530 w 6568309"/>
              <a:gd name="connsiteY51" fmla="*/ 2613111 h 6858000"/>
              <a:gd name="connsiteX52" fmla="*/ 6297474 w 6568309"/>
              <a:gd name="connsiteY52" fmla="*/ 2621996 h 6858000"/>
              <a:gd name="connsiteX53" fmla="*/ 6299263 w 6568309"/>
              <a:gd name="connsiteY53" fmla="*/ 2634265 h 6858000"/>
              <a:gd name="connsiteX54" fmla="*/ 6293065 w 6568309"/>
              <a:gd name="connsiteY54" fmla="*/ 2647237 h 6858000"/>
              <a:gd name="connsiteX55" fmla="*/ 6297496 w 6568309"/>
              <a:gd name="connsiteY55" fmla="*/ 2650786 h 6858000"/>
              <a:gd name="connsiteX56" fmla="*/ 6301708 w 6568309"/>
              <a:gd name="connsiteY56" fmla="*/ 2661993 h 6858000"/>
              <a:gd name="connsiteX57" fmla="*/ 6295884 w 6568309"/>
              <a:gd name="connsiteY57" fmla="*/ 2670949 h 6858000"/>
              <a:gd name="connsiteX58" fmla="*/ 6291714 w 6568309"/>
              <a:gd name="connsiteY58" fmla="*/ 2690255 h 6858000"/>
              <a:gd name="connsiteX59" fmla="*/ 6292327 w 6568309"/>
              <a:gd name="connsiteY59" fmla="*/ 2695683 h 6858000"/>
              <a:gd name="connsiteX60" fmla="*/ 6284410 w 6568309"/>
              <a:gd name="connsiteY60" fmla="*/ 2713964 h 6858000"/>
              <a:gd name="connsiteX61" fmla="*/ 6280410 w 6568309"/>
              <a:gd name="connsiteY61" fmla="*/ 2730175 h 6858000"/>
              <a:gd name="connsiteX62" fmla="*/ 6288082 w 6568309"/>
              <a:gd name="connsiteY62" fmla="*/ 2763497 h 6858000"/>
              <a:gd name="connsiteX63" fmla="*/ 6260924 w 6568309"/>
              <a:gd name="connsiteY63" fmla="*/ 3051539 h 6858000"/>
              <a:gd name="connsiteX64" fmla="*/ 6210151 w 6568309"/>
              <a:gd name="connsiteY64" fmla="*/ 3335396 h 6858000"/>
              <a:gd name="connsiteX65" fmla="*/ 6212034 w 6568309"/>
              <a:gd name="connsiteY65" fmla="*/ 3456509 h 6858000"/>
              <a:gd name="connsiteX66" fmla="*/ 6197490 w 6568309"/>
              <a:gd name="connsiteY66" fmla="*/ 3531827 h 6858000"/>
              <a:gd name="connsiteX67" fmla="*/ 6208018 w 6568309"/>
              <a:gd name="connsiteY67" fmla="*/ 3570877 h 6858000"/>
              <a:gd name="connsiteX68" fmla="*/ 6205920 w 6568309"/>
              <a:gd name="connsiteY68" fmla="*/ 3583849 h 6858000"/>
              <a:gd name="connsiteX69" fmla="*/ 6199616 w 6568309"/>
              <a:gd name="connsiteY69" fmla="*/ 3592763 h 6858000"/>
              <a:gd name="connsiteX70" fmla="*/ 6181288 w 6568309"/>
              <a:gd name="connsiteY70" fmla="*/ 3653485 h 6858000"/>
              <a:gd name="connsiteX71" fmla="*/ 6175963 w 6568309"/>
              <a:gd name="connsiteY71" fmla="*/ 3670528 h 6858000"/>
              <a:gd name="connsiteX72" fmla="*/ 6176722 w 6568309"/>
              <a:gd name="connsiteY72" fmla="*/ 3685990 h 6858000"/>
              <a:gd name="connsiteX73" fmla="*/ 6181549 w 6568309"/>
              <a:gd name="connsiteY73" fmla="*/ 3690283 h 6858000"/>
              <a:gd name="connsiteX74" fmla="*/ 6179476 w 6568309"/>
              <a:gd name="connsiteY74" fmla="*/ 3699787 h 6858000"/>
              <a:gd name="connsiteX75" fmla="*/ 6180040 w 6568309"/>
              <a:gd name="connsiteY75" fmla="*/ 3702486 h 6858000"/>
              <a:gd name="connsiteX76" fmla="*/ 6182155 w 6568309"/>
              <a:gd name="connsiteY76" fmla="*/ 3717784 h 6858000"/>
              <a:gd name="connsiteX77" fmla="*/ 6158980 w 6568309"/>
              <a:gd name="connsiteY77" fmla="*/ 3746229 h 6858000"/>
              <a:gd name="connsiteX78" fmla="*/ 6096049 w 6568309"/>
              <a:gd name="connsiteY78" fmla="*/ 3924910 h 6858000"/>
              <a:gd name="connsiteX79" fmla="*/ 6069712 w 6568309"/>
              <a:gd name="connsiteY79" fmla="*/ 3989353 h 6858000"/>
              <a:gd name="connsiteX80" fmla="*/ 6067330 w 6568309"/>
              <a:gd name="connsiteY80" fmla="*/ 4033899 h 6858000"/>
              <a:gd name="connsiteX81" fmla="*/ 6061081 w 6568309"/>
              <a:gd name="connsiteY81" fmla="*/ 4142250 h 6858000"/>
              <a:gd name="connsiteX82" fmla="*/ 6042858 w 6568309"/>
              <a:gd name="connsiteY82" fmla="*/ 4329442 h 6858000"/>
              <a:gd name="connsiteX83" fmla="*/ 6034182 w 6568309"/>
              <a:gd name="connsiteY83" fmla="*/ 4456184 h 6858000"/>
              <a:gd name="connsiteX84" fmla="*/ 6029178 w 6568309"/>
              <a:gd name="connsiteY84" fmla="*/ 4468478 h 6858000"/>
              <a:gd name="connsiteX85" fmla="*/ 6029974 w 6568309"/>
              <a:gd name="connsiteY85" fmla="*/ 4469862 h 6858000"/>
              <a:gd name="connsiteX86" fmla="*/ 6028340 w 6568309"/>
              <a:gd name="connsiteY86" fmla="*/ 4483797 h 6858000"/>
              <a:gd name="connsiteX87" fmla="*/ 6025168 w 6568309"/>
              <a:gd name="connsiteY87" fmla="*/ 4487091 h 6858000"/>
              <a:gd name="connsiteX88" fmla="*/ 6023164 w 6568309"/>
              <a:gd name="connsiteY88" fmla="*/ 4496728 h 6858000"/>
              <a:gd name="connsiteX89" fmla="*/ 6016839 w 6568309"/>
              <a:gd name="connsiteY89" fmla="*/ 4515918 h 6858000"/>
              <a:gd name="connsiteX90" fmla="*/ 6017886 w 6568309"/>
              <a:gd name="connsiteY90" fmla="*/ 4519316 h 6858000"/>
              <a:gd name="connsiteX91" fmla="*/ 6011819 w 6568309"/>
              <a:gd name="connsiteY91" fmla="*/ 4547957 h 6858000"/>
              <a:gd name="connsiteX92" fmla="*/ 6012791 w 6568309"/>
              <a:gd name="connsiteY92" fmla="*/ 4548262 h 6858000"/>
              <a:gd name="connsiteX93" fmla="*/ 6015703 w 6568309"/>
              <a:gd name="connsiteY93" fmla="*/ 4555939 h 6858000"/>
              <a:gd name="connsiteX94" fmla="*/ 6018854 w 6568309"/>
              <a:gd name="connsiteY94" fmla="*/ 4570815 h 6858000"/>
              <a:gd name="connsiteX95" fmla="*/ 6033000 w 6568309"/>
              <a:gd name="connsiteY95" fmla="*/ 4633846 h 6858000"/>
              <a:gd name="connsiteX96" fmla="*/ 6032325 w 6568309"/>
              <a:gd name="connsiteY96" fmla="*/ 4639816 h 6858000"/>
              <a:gd name="connsiteX97" fmla="*/ 6032549 w 6568309"/>
              <a:gd name="connsiteY97" fmla="*/ 4639923 h 6858000"/>
              <a:gd name="connsiteX98" fmla="*/ 6032309 w 6568309"/>
              <a:gd name="connsiteY98" fmla="*/ 4646192 h 6858000"/>
              <a:gd name="connsiteX99" fmla="*/ 6031095 w 6568309"/>
              <a:gd name="connsiteY99" fmla="*/ 4650706 h 6858000"/>
              <a:gd name="connsiteX100" fmla="*/ 6029786 w 6568309"/>
              <a:gd name="connsiteY100" fmla="*/ 4662290 h 6858000"/>
              <a:gd name="connsiteX101" fmla="*/ 6030911 w 6568309"/>
              <a:gd name="connsiteY101" fmla="*/ 4666180 h 6858000"/>
              <a:gd name="connsiteX102" fmla="*/ 6033630 w 6568309"/>
              <a:gd name="connsiteY102" fmla="*/ 4667585 h 6858000"/>
              <a:gd name="connsiteX103" fmla="*/ 6033189 w 6568309"/>
              <a:gd name="connsiteY103" fmla="*/ 4668660 h 6858000"/>
              <a:gd name="connsiteX104" fmla="*/ 6038764 w 6568309"/>
              <a:gd name="connsiteY104" fmla="*/ 4689807 h 6858000"/>
              <a:gd name="connsiteX105" fmla="*/ 6042217 w 6568309"/>
              <a:gd name="connsiteY105" fmla="*/ 4737890 h 6858000"/>
              <a:gd name="connsiteX106" fmla="*/ 6040543 w 6568309"/>
              <a:gd name="connsiteY106" fmla="*/ 4765657 h 6858000"/>
              <a:gd name="connsiteX107" fmla="*/ 6039956 w 6568309"/>
              <a:gd name="connsiteY107" fmla="*/ 4841463 h 6858000"/>
              <a:gd name="connsiteX108" fmla="*/ 6057123 w 6568309"/>
              <a:gd name="connsiteY108" fmla="*/ 4969863 h 6858000"/>
              <a:gd name="connsiteX109" fmla="*/ 6055039 w 6568309"/>
              <a:gd name="connsiteY109" fmla="*/ 4974028 h 6858000"/>
              <a:gd name="connsiteX110" fmla="*/ 6053462 w 6568309"/>
              <a:gd name="connsiteY110" fmla="*/ 4980318 h 6858000"/>
              <a:gd name="connsiteX111" fmla="*/ 6053643 w 6568309"/>
              <a:gd name="connsiteY111" fmla="*/ 4980501 h 6858000"/>
              <a:gd name="connsiteX112" fmla="*/ 6051733 w 6568309"/>
              <a:gd name="connsiteY112" fmla="*/ 4986338 h 6858000"/>
              <a:gd name="connsiteX113" fmla="*/ 6049602 w 6568309"/>
              <a:gd name="connsiteY113" fmla="*/ 4991296 h 6858000"/>
              <a:gd name="connsiteX114" fmla="*/ 6075165 w 6568309"/>
              <a:gd name="connsiteY114" fmla="*/ 5076895 h 6858000"/>
              <a:gd name="connsiteX115" fmla="*/ 6073751 w 6568309"/>
              <a:gd name="connsiteY115" fmla="*/ 5081568 h 6858000"/>
              <a:gd name="connsiteX116" fmla="*/ 6073150 w 6568309"/>
              <a:gd name="connsiteY116" fmla="*/ 5088173 h 6858000"/>
              <a:gd name="connsiteX117" fmla="*/ 6073355 w 6568309"/>
              <a:gd name="connsiteY117" fmla="*/ 5088300 h 6858000"/>
              <a:gd name="connsiteX118" fmla="*/ 6072362 w 6568309"/>
              <a:gd name="connsiteY118" fmla="*/ 5094558 h 6858000"/>
              <a:gd name="connsiteX119" fmla="*/ 6064726 w 6568309"/>
              <a:gd name="connsiteY119" fmla="*/ 5125620 h 6858000"/>
              <a:gd name="connsiteX120" fmla="*/ 6065415 w 6568309"/>
              <a:gd name="connsiteY120" fmla="*/ 5268004 h 6858000"/>
              <a:gd name="connsiteX121" fmla="*/ 6066081 w 6568309"/>
              <a:gd name="connsiteY121" fmla="*/ 5269530 h 6858000"/>
              <a:gd name="connsiteX122" fmla="*/ 6043407 w 6568309"/>
              <a:gd name="connsiteY122" fmla="*/ 5390941 h 6858000"/>
              <a:gd name="connsiteX123" fmla="*/ 6025377 w 6568309"/>
              <a:gd name="connsiteY123" fmla="*/ 5539927 h 6858000"/>
              <a:gd name="connsiteX124" fmla="*/ 6010052 w 6568309"/>
              <a:gd name="connsiteY124" fmla="*/ 5791594 h 6858000"/>
              <a:gd name="connsiteX125" fmla="*/ 5994220 w 6568309"/>
              <a:gd name="connsiteY125" fmla="*/ 5855206 h 6858000"/>
              <a:gd name="connsiteX126" fmla="*/ 5982580 w 6568309"/>
              <a:gd name="connsiteY126" fmla="*/ 5873582 h 6858000"/>
              <a:gd name="connsiteX127" fmla="*/ 5983608 w 6568309"/>
              <a:gd name="connsiteY127" fmla="*/ 5876037 h 6858000"/>
              <a:gd name="connsiteX128" fmla="*/ 5983535 w 6568309"/>
              <a:gd name="connsiteY128" fmla="*/ 5886534 h 6858000"/>
              <a:gd name="connsiteX129" fmla="*/ 5988737 w 6568309"/>
              <a:gd name="connsiteY129" fmla="*/ 5888644 h 6858000"/>
              <a:gd name="connsiteX130" fmla="*/ 5992371 w 6568309"/>
              <a:gd name="connsiteY130" fmla="*/ 5903832 h 6858000"/>
              <a:gd name="connsiteX131" fmla="*/ 5990780 w 6568309"/>
              <a:gd name="connsiteY131" fmla="*/ 5923391 h 6858000"/>
              <a:gd name="connsiteX132" fmla="*/ 5993870 w 6568309"/>
              <a:gd name="connsiteY132" fmla="*/ 6013205 h 6858000"/>
              <a:gd name="connsiteX133" fmla="*/ 5997673 w 6568309"/>
              <a:gd name="connsiteY133" fmla="*/ 6074018 h 6858000"/>
              <a:gd name="connsiteX134" fmla="*/ 6014840 w 6568309"/>
              <a:gd name="connsiteY134" fmla="*/ 6130837 h 6858000"/>
              <a:gd name="connsiteX135" fmla="*/ 6010704 w 6568309"/>
              <a:gd name="connsiteY135" fmla="*/ 6152982 h 6858000"/>
              <a:gd name="connsiteX136" fmla="*/ 6038294 w 6568309"/>
              <a:gd name="connsiteY136" fmla="*/ 6221100 h 6858000"/>
              <a:gd name="connsiteX137" fmla="*/ 6052331 w 6568309"/>
              <a:gd name="connsiteY137" fmla="*/ 6287550 h 6858000"/>
              <a:gd name="connsiteX138" fmla="*/ 6074143 w 6568309"/>
              <a:gd name="connsiteY138" fmla="*/ 6401595 h 6858000"/>
              <a:gd name="connsiteX139" fmla="*/ 6060199 w 6568309"/>
              <a:gd name="connsiteY139" fmla="*/ 6487110 h 6858000"/>
              <a:gd name="connsiteX140" fmla="*/ 6081156 w 6568309"/>
              <a:gd name="connsiteY140" fmla="*/ 6588589 h 6858000"/>
              <a:gd name="connsiteX141" fmla="*/ 6114944 w 6568309"/>
              <a:gd name="connsiteY141" fmla="*/ 6769963 h 6858000"/>
              <a:gd name="connsiteX142" fmla="*/ 6128950 w 6568309"/>
              <a:gd name="connsiteY142" fmla="*/ 6835814 h 6858000"/>
              <a:gd name="connsiteX143" fmla="*/ 6132536 w 6568309"/>
              <a:gd name="connsiteY143" fmla="*/ 6858000 h 6858000"/>
              <a:gd name="connsiteX144" fmla="*/ 4789511 w 6568309"/>
              <a:gd name="connsiteY144" fmla="*/ 6858000 h 6858000"/>
              <a:gd name="connsiteX145" fmla="*/ 1866294 w 6568309"/>
              <a:gd name="connsiteY145" fmla="*/ 6858000 h 6858000"/>
              <a:gd name="connsiteX146" fmla="*/ 1705866 w 6568309"/>
              <a:gd name="connsiteY146" fmla="*/ 6858000 h 6858000"/>
              <a:gd name="connsiteX147" fmla="*/ 1343025 w 6568309"/>
              <a:gd name="connsiteY147" fmla="*/ 6858000 h 6858000"/>
              <a:gd name="connsiteX148" fmla="*/ 523269 w 6568309"/>
              <a:gd name="connsiteY148" fmla="*/ 6858000 h 6858000"/>
              <a:gd name="connsiteX149" fmla="*/ 362841 w 6568309"/>
              <a:gd name="connsiteY149" fmla="*/ 6858000 h 6858000"/>
              <a:gd name="connsiteX150" fmla="*/ 0 w 6568309"/>
              <a:gd name="connsiteY15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</a:cxnLst>
            <a:rect l="l" t="t" r="r" b="b"/>
            <a:pathLst>
              <a:path w="6568309" h="6858000">
                <a:moveTo>
                  <a:pt x="0" y="0"/>
                </a:moveTo>
                <a:lnTo>
                  <a:pt x="362841" y="0"/>
                </a:lnTo>
                <a:lnTo>
                  <a:pt x="523269" y="0"/>
                </a:lnTo>
                <a:lnTo>
                  <a:pt x="1343025" y="0"/>
                </a:lnTo>
                <a:lnTo>
                  <a:pt x="1705866" y="0"/>
                </a:lnTo>
                <a:lnTo>
                  <a:pt x="1866294" y="0"/>
                </a:lnTo>
                <a:lnTo>
                  <a:pt x="5225154" y="0"/>
                </a:lnTo>
                <a:lnTo>
                  <a:pt x="6568179" y="0"/>
                </a:lnTo>
                <a:lnTo>
                  <a:pt x="6568309" y="1"/>
                </a:lnTo>
                <a:lnTo>
                  <a:pt x="6562951" y="30700"/>
                </a:lnTo>
                <a:cubicBezTo>
                  <a:pt x="6559126" y="84364"/>
                  <a:pt x="6548218" y="241149"/>
                  <a:pt x="6547446" y="310025"/>
                </a:cubicBezTo>
                <a:cubicBezTo>
                  <a:pt x="6550151" y="367544"/>
                  <a:pt x="6557712" y="408251"/>
                  <a:pt x="6558316" y="443960"/>
                </a:cubicBezTo>
                <a:cubicBezTo>
                  <a:pt x="6555224" y="499397"/>
                  <a:pt x="6534767" y="604434"/>
                  <a:pt x="6528896" y="642659"/>
                </a:cubicBezTo>
                <a:cubicBezTo>
                  <a:pt x="6535204" y="657287"/>
                  <a:pt x="6515365" y="658191"/>
                  <a:pt x="6523095" y="673307"/>
                </a:cubicBezTo>
                <a:cubicBezTo>
                  <a:pt x="6523388" y="693769"/>
                  <a:pt x="6506868" y="797295"/>
                  <a:pt x="6496169" y="839641"/>
                </a:cubicBezTo>
                <a:cubicBezTo>
                  <a:pt x="6484119" y="887148"/>
                  <a:pt x="6457817" y="937731"/>
                  <a:pt x="6450789" y="958357"/>
                </a:cubicBezTo>
                <a:cubicBezTo>
                  <a:pt x="6443760" y="978983"/>
                  <a:pt x="6459217" y="936930"/>
                  <a:pt x="6453996" y="963398"/>
                </a:cubicBezTo>
                <a:cubicBezTo>
                  <a:pt x="6448777" y="989867"/>
                  <a:pt x="6425575" y="1087010"/>
                  <a:pt x="6419467" y="1117169"/>
                </a:cubicBezTo>
                <a:cubicBezTo>
                  <a:pt x="6431540" y="1118586"/>
                  <a:pt x="6409651" y="1135372"/>
                  <a:pt x="6417348" y="1144352"/>
                </a:cubicBezTo>
                <a:cubicBezTo>
                  <a:pt x="6424109" y="1150681"/>
                  <a:pt x="6419047" y="1157251"/>
                  <a:pt x="6418473" y="1164484"/>
                </a:cubicBezTo>
                <a:cubicBezTo>
                  <a:pt x="6423767" y="1173524"/>
                  <a:pt x="6413947" y="1205209"/>
                  <a:pt x="6406979" y="1213829"/>
                </a:cubicBezTo>
                <a:cubicBezTo>
                  <a:pt x="6382818" y="1235037"/>
                  <a:pt x="6400452" y="1277327"/>
                  <a:pt x="6381928" y="1294823"/>
                </a:cubicBezTo>
                <a:cubicBezTo>
                  <a:pt x="6379195" y="1300845"/>
                  <a:pt x="6378069" y="1306615"/>
                  <a:pt x="6377948" y="1312193"/>
                </a:cubicBezTo>
                <a:lnTo>
                  <a:pt x="6379894" y="1327626"/>
                </a:lnTo>
                <a:lnTo>
                  <a:pt x="6385024" y="1331644"/>
                </a:lnTo>
                <a:lnTo>
                  <a:pt x="6383696" y="1341276"/>
                </a:lnTo>
                <a:cubicBezTo>
                  <a:pt x="6383952" y="1342166"/>
                  <a:pt x="6384208" y="1343055"/>
                  <a:pt x="6384464" y="1343945"/>
                </a:cubicBezTo>
                <a:cubicBezTo>
                  <a:pt x="6385957" y="1349040"/>
                  <a:pt x="6387253" y="1354080"/>
                  <a:pt x="6387748" y="1359134"/>
                </a:cubicBezTo>
                <a:cubicBezTo>
                  <a:pt x="6384363" y="1373109"/>
                  <a:pt x="6372802" y="1397612"/>
                  <a:pt x="6364157" y="1427803"/>
                </a:cubicBezTo>
                <a:cubicBezTo>
                  <a:pt x="6348141" y="1460349"/>
                  <a:pt x="6348362" y="1505076"/>
                  <a:pt x="6335874" y="1540278"/>
                </a:cubicBezTo>
                <a:lnTo>
                  <a:pt x="6331892" y="1547262"/>
                </a:lnTo>
                <a:lnTo>
                  <a:pt x="6332744" y="1577056"/>
                </a:lnTo>
                <a:cubicBezTo>
                  <a:pt x="6335859" y="1582205"/>
                  <a:pt x="6336674" y="1589568"/>
                  <a:pt x="6333604" y="1595898"/>
                </a:cubicBezTo>
                <a:lnTo>
                  <a:pt x="6324749" y="1703726"/>
                </a:lnTo>
                <a:cubicBezTo>
                  <a:pt x="6324080" y="1739332"/>
                  <a:pt x="6318019" y="1754453"/>
                  <a:pt x="6329594" y="1809535"/>
                </a:cubicBezTo>
                <a:cubicBezTo>
                  <a:pt x="6344930" y="1868036"/>
                  <a:pt x="6323725" y="1952670"/>
                  <a:pt x="6329062" y="2018310"/>
                </a:cubicBezTo>
                <a:cubicBezTo>
                  <a:pt x="6308075" y="2053162"/>
                  <a:pt x="6326925" y="2034561"/>
                  <a:pt x="6321735" y="2071355"/>
                </a:cubicBezTo>
                <a:lnTo>
                  <a:pt x="6322678" y="2141166"/>
                </a:lnTo>
                <a:lnTo>
                  <a:pt x="6321340" y="2154548"/>
                </a:lnTo>
                <a:lnTo>
                  <a:pt x="6316582" y="2158153"/>
                </a:lnTo>
                <a:lnTo>
                  <a:pt x="6311428" y="2178174"/>
                </a:lnTo>
                <a:cubicBezTo>
                  <a:pt x="6310177" y="2185696"/>
                  <a:pt x="6309622" y="2193828"/>
                  <a:pt x="6310192" y="2202858"/>
                </a:cubicBezTo>
                <a:cubicBezTo>
                  <a:pt x="6319667" y="2232772"/>
                  <a:pt x="6296459" y="2283357"/>
                  <a:pt x="6309211" y="2320214"/>
                </a:cubicBezTo>
                <a:cubicBezTo>
                  <a:pt x="6307537" y="2355906"/>
                  <a:pt x="6302490" y="2394678"/>
                  <a:pt x="6300151" y="2417011"/>
                </a:cubicBezTo>
                <a:cubicBezTo>
                  <a:pt x="6292303" y="2426377"/>
                  <a:pt x="6304439" y="2456509"/>
                  <a:pt x="6295176" y="2454207"/>
                </a:cubicBezTo>
                <a:cubicBezTo>
                  <a:pt x="6299335" y="2464947"/>
                  <a:pt x="6297305" y="2476105"/>
                  <a:pt x="6293727" y="2487203"/>
                </a:cubicBezTo>
                <a:lnTo>
                  <a:pt x="6285477" y="2512282"/>
                </a:lnTo>
                <a:cubicBezTo>
                  <a:pt x="6285720" y="2512961"/>
                  <a:pt x="6285962" y="2513640"/>
                  <a:pt x="6286205" y="2514318"/>
                </a:cubicBezTo>
                <a:cubicBezTo>
                  <a:pt x="6292347" y="2534324"/>
                  <a:pt x="6298487" y="2554328"/>
                  <a:pt x="6304629" y="2574334"/>
                </a:cubicBezTo>
                <a:lnTo>
                  <a:pt x="6303842" y="2579877"/>
                </a:lnTo>
                <a:cubicBezTo>
                  <a:pt x="6303729" y="2585644"/>
                  <a:pt x="6304006" y="2603388"/>
                  <a:pt x="6303953" y="2608928"/>
                </a:cubicBezTo>
                <a:lnTo>
                  <a:pt x="6303530" y="2613111"/>
                </a:lnTo>
                <a:lnTo>
                  <a:pt x="6297474" y="2621996"/>
                </a:lnTo>
                <a:lnTo>
                  <a:pt x="6299263" y="2634265"/>
                </a:lnTo>
                <a:lnTo>
                  <a:pt x="6293065" y="2647237"/>
                </a:lnTo>
                <a:cubicBezTo>
                  <a:pt x="6294685" y="2648158"/>
                  <a:pt x="6296180" y="2649356"/>
                  <a:pt x="6297496" y="2650786"/>
                </a:cubicBezTo>
                <a:lnTo>
                  <a:pt x="6301708" y="2661993"/>
                </a:lnTo>
                <a:lnTo>
                  <a:pt x="6295884" y="2670949"/>
                </a:lnTo>
                <a:cubicBezTo>
                  <a:pt x="6304913" y="2672007"/>
                  <a:pt x="6294429" y="2681695"/>
                  <a:pt x="6291714" y="2690255"/>
                </a:cubicBezTo>
                <a:lnTo>
                  <a:pt x="6292327" y="2695683"/>
                </a:lnTo>
                <a:lnTo>
                  <a:pt x="6284410" y="2713964"/>
                </a:lnTo>
                <a:lnTo>
                  <a:pt x="6280410" y="2730175"/>
                </a:lnTo>
                <a:lnTo>
                  <a:pt x="6288082" y="2763497"/>
                </a:lnTo>
                <a:lnTo>
                  <a:pt x="6260924" y="3051539"/>
                </a:lnTo>
                <a:cubicBezTo>
                  <a:pt x="6251455" y="3165645"/>
                  <a:pt x="6222174" y="3216611"/>
                  <a:pt x="6210151" y="3335396"/>
                </a:cubicBezTo>
                <a:lnTo>
                  <a:pt x="6212034" y="3456509"/>
                </a:lnTo>
                <a:lnTo>
                  <a:pt x="6197490" y="3531827"/>
                </a:lnTo>
                <a:lnTo>
                  <a:pt x="6208018" y="3570877"/>
                </a:lnTo>
                <a:lnTo>
                  <a:pt x="6205920" y="3583849"/>
                </a:lnTo>
                <a:lnTo>
                  <a:pt x="6199616" y="3592763"/>
                </a:lnTo>
                <a:cubicBezTo>
                  <a:pt x="6191839" y="3613948"/>
                  <a:pt x="6196204" y="3641245"/>
                  <a:pt x="6181288" y="3653485"/>
                </a:cubicBezTo>
                <a:cubicBezTo>
                  <a:pt x="6178087" y="3659316"/>
                  <a:pt x="6176516" y="3664985"/>
                  <a:pt x="6175963" y="3670528"/>
                </a:cubicBezTo>
                <a:lnTo>
                  <a:pt x="6176722" y="3685990"/>
                </a:lnTo>
                <a:lnTo>
                  <a:pt x="6181549" y="3690283"/>
                </a:lnTo>
                <a:lnTo>
                  <a:pt x="6179476" y="3699787"/>
                </a:lnTo>
                <a:cubicBezTo>
                  <a:pt x="6179664" y="3700686"/>
                  <a:pt x="6179852" y="3701586"/>
                  <a:pt x="6180040" y="3702486"/>
                </a:cubicBezTo>
                <a:cubicBezTo>
                  <a:pt x="6181140" y="3707637"/>
                  <a:pt x="6182047" y="3712728"/>
                  <a:pt x="6182155" y="3717784"/>
                </a:cubicBezTo>
                <a:cubicBezTo>
                  <a:pt x="6156678" y="3711701"/>
                  <a:pt x="6178864" y="3759789"/>
                  <a:pt x="6158980" y="3746229"/>
                </a:cubicBezTo>
                <a:cubicBezTo>
                  <a:pt x="6144630" y="3780750"/>
                  <a:pt x="6117520" y="3867558"/>
                  <a:pt x="6096049" y="3924910"/>
                </a:cubicBezTo>
                <a:lnTo>
                  <a:pt x="6069712" y="3989353"/>
                </a:lnTo>
                <a:lnTo>
                  <a:pt x="6067330" y="4033899"/>
                </a:lnTo>
                <a:cubicBezTo>
                  <a:pt x="6065506" y="4070470"/>
                  <a:pt x="6063599" y="4110146"/>
                  <a:pt x="6061081" y="4142250"/>
                </a:cubicBezTo>
                <a:cubicBezTo>
                  <a:pt x="6055260" y="4200007"/>
                  <a:pt x="6045907" y="4278998"/>
                  <a:pt x="6042858" y="4329442"/>
                </a:cubicBezTo>
                <a:cubicBezTo>
                  <a:pt x="6038376" y="4381764"/>
                  <a:pt x="6036461" y="4433012"/>
                  <a:pt x="6034182" y="4456184"/>
                </a:cubicBezTo>
                <a:lnTo>
                  <a:pt x="6029178" y="4468478"/>
                </a:lnTo>
                <a:lnTo>
                  <a:pt x="6029974" y="4469862"/>
                </a:lnTo>
                <a:cubicBezTo>
                  <a:pt x="6031287" y="4476321"/>
                  <a:pt x="6030316" y="4480555"/>
                  <a:pt x="6028340" y="4483797"/>
                </a:cubicBezTo>
                <a:lnTo>
                  <a:pt x="6025168" y="4487091"/>
                </a:lnTo>
                <a:lnTo>
                  <a:pt x="6023164" y="4496728"/>
                </a:lnTo>
                <a:lnTo>
                  <a:pt x="6016839" y="4515918"/>
                </a:lnTo>
                <a:cubicBezTo>
                  <a:pt x="6017189" y="4517049"/>
                  <a:pt x="6017537" y="4518182"/>
                  <a:pt x="6017886" y="4519316"/>
                </a:cubicBezTo>
                <a:lnTo>
                  <a:pt x="6011819" y="4547957"/>
                </a:lnTo>
                <a:lnTo>
                  <a:pt x="6012791" y="4548262"/>
                </a:lnTo>
                <a:cubicBezTo>
                  <a:pt x="6014837" y="4549595"/>
                  <a:pt x="6016087" y="4551811"/>
                  <a:pt x="6015703" y="4555939"/>
                </a:cubicBezTo>
                <a:cubicBezTo>
                  <a:pt x="6031790" y="4548276"/>
                  <a:pt x="6021405" y="4557977"/>
                  <a:pt x="6018854" y="4570815"/>
                </a:cubicBezTo>
                <a:cubicBezTo>
                  <a:pt x="6021736" y="4583801"/>
                  <a:pt x="6030754" y="4622347"/>
                  <a:pt x="6033000" y="4633846"/>
                </a:cubicBezTo>
                <a:lnTo>
                  <a:pt x="6032325" y="4639816"/>
                </a:lnTo>
                <a:lnTo>
                  <a:pt x="6032549" y="4639923"/>
                </a:lnTo>
                <a:cubicBezTo>
                  <a:pt x="6032911" y="4641190"/>
                  <a:pt x="6032878" y="4643141"/>
                  <a:pt x="6032309" y="4646192"/>
                </a:cubicBezTo>
                <a:lnTo>
                  <a:pt x="6031095" y="4650706"/>
                </a:lnTo>
                <a:lnTo>
                  <a:pt x="6029786" y="4662290"/>
                </a:lnTo>
                <a:cubicBezTo>
                  <a:pt x="6030161" y="4663587"/>
                  <a:pt x="6030536" y="4664883"/>
                  <a:pt x="6030911" y="4666180"/>
                </a:cubicBezTo>
                <a:lnTo>
                  <a:pt x="6033630" y="4667585"/>
                </a:lnTo>
                <a:lnTo>
                  <a:pt x="6033189" y="4668660"/>
                </a:lnTo>
                <a:cubicBezTo>
                  <a:pt x="6027286" y="4676831"/>
                  <a:pt x="6019767" y="4679345"/>
                  <a:pt x="6038764" y="4689807"/>
                </a:cubicBezTo>
                <a:cubicBezTo>
                  <a:pt x="6028616" y="4708535"/>
                  <a:pt x="6040474" y="4712235"/>
                  <a:pt x="6042217" y="4737890"/>
                </a:cubicBezTo>
                <a:cubicBezTo>
                  <a:pt x="6033362" y="4748600"/>
                  <a:pt x="6035273" y="4757223"/>
                  <a:pt x="6040543" y="4765657"/>
                </a:cubicBezTo>
                <a:cubicBezTo>
                  <a:pt x="6034416" y="4790618"/>
                  <a:pt x="6040696" y="4813399"/>
                  <a:pt x="6039956" y="4841463"/>
                </a:cubicBezTo>
                <a:lnTo>
                  <a:pt x="6057123" y="4969863"/>
                </a:lnTo>
                <a:lnTo>
                  <a:pt x="6055039" y="4974028"/>
                </a:lnTo>
                <a:cubicBezTo>
                  <a:pt x="6053860" y="4976933"/>
                  <a:pt x="6053409" y="4978909"/>
                  <a:pt x="6053462" y="4980318"/>
                </a:cubicBezTo>
                <a:lnTo>
                  <a:pt x="6053643" y="4980501"/>
                </a:lnTo>
                <a:lnTo>
                  <a:pt x="6051733" y="4986338"/>
                </a:lnTo>
                <a:lnTo>
                  <a:pt x="6049602" y="4991296"/>
                </a:lnTo>
                <a:cubicBezTo>
                  <a:pt x="6058123" y="5019829"/>
                  <a:pt x="6066643" y="5048361"/>
                  <a:pt x="6075165" y="5076895"/>
                </a:cubicBezTo>
                <a:lnTo>
                  <a:pt x="6073751" y="5081568"/>
                </a:lnTo>
                <a:cubicBezTo>
                  <a:pt x="6073034" y="5084748"/>
                  <a:pt x="6072888" y="5086810"/>
                  <a:pt x="6073150" y="5088173"/>
                </a:cubicBezTo>
                <a:lnTo>
                  <a:pt x="6073355" y="5088300"/>
                </a:lnTo>
                <a:lnTo>
                  <a:pt x="6072362" y="5094558"/>
                </a:lnTo>
                <a:cubicBezTo>
                  <a:pt x="6070184" y="5105196"/>
                  <a:pt x="6067588" y="5115626"/>
                  <a:pt x="6064726" y="5125620"/>
                </a:cubicBezTo>
                <a:cubicBezTo>
                  <a:pt x="6063568" y="5154527"/>
                  <a:pt x="6065189" y="5244020"/>
                  <a:pt x="6065415" y="5268004"/>
                </a:cubicBezTo>
                <a:cubicBezTo>
                  <a:pt x="6065637" y="5268513"/>
                  <a:pt x="6065860" y="5269021"/>
                  <a:pt x="6066081" y="5269530"/>
                </a:cubicBezTo>
                <a:lnTo>
                  <a:pt x="6043407" y="5390941"/>
                </a:lnTo>
                <a:cubicBezTo>
                  <a:pt x="6032545" y="5438194"/>
                  <a:pt x="6020942" y="5465286"/>
                  <a:pt x="6025377" y="5539927"/>
                </a:cubicBezTo>
                <a:cubicBezTo>
                  <a:pt x="6019787" y="5610775"/>
                  <a:pt x="6013913" y="5740573"/>
                  <a:pt x="6010052" y="5791594"/>
                </a:cubicBezTo>
                <a:cubicBezTo>
                  <a:pt x="5989401" y="5787060"/>
                  <a:pt x="6018524" y="5849672"/>
                  <a:pt x="5994220" y="5855206"/>
                </a:cubicBezTo>
                <a:cubicBezTo>
                  <a:pt x="5995282" y="5860240"/>
                  <a:pt x="5980598" y="5868910"/>
                  <a:pt x="5982580" y="5873582"/>
                </a:cubicBezTo>
                <a:cubicBezTo>
                  <a:pt x="5982922" y="5874401"/>
                  <a:pt x="5983265" y="5875218"/>
                  <a:pt x="5983608" y="5876037"/>
                </a:cubicBezTo>
                <a:lnTo>
                  <a:pt x="5983535" y="5886534"/>
                </a:lnTo>
                <a:lnTo>
                  <a:pt x="5988737" y="5888644"/>
                </a:lnTo>
                <a:cubicBezTo>
                  <a:pt x="5989948" y="5893707"/>
                  <a:pt x="5991159" y="5898769"/>
                  <a:pt x="5992371" y="5903832"/>
                </a:cubicBezTo>
                <a:cubicBezTo>
                  <a:pt x="5992924" y="5909651"/>
                  <a:pt x="5992578" y="5916068"/>
                  <a:pt x="5990780" y="5923391"/>
                </a:cubicBezTo>
                <a:cubicBezTo>
                  <a:pt x="5975822" y="5948880"/>
                  <a:pt x="6013580" y="5981626"/>
                  <a:pt x="5993870" y="6013205"/>
                </a:cubicBezTo>
                <a:cubicBezTo>
                  <a:pt x="5988486" y="6024901"/>
                  <a:pt x="5991718" y="6066777"/>
                  <a:pt x="5997673" y="6074018"/>
                </a:cubicBezTo>
                <a:cubicBezTo>
                  <a:pt x="5998007" y="6081731"/>
                  <a:pt x="6007861" y="6126985"/>
                  <a:pt x="6014840" y="6130837"/>
                </a:cubicBezTo>
                <a:cubicBezTo>
                  <a:pt x="6022998" y="6137057"/>
                  <a:pt x="5999420" y="6156330"/>
                  <a:pt x="6010704" y="6152982"/>
                </a:cubicBezTo>
                <a:cubicBezTo>
                  <a:pt x="6008682" y="6186619"/>
                  <a:pt x="6039938" y="6191636"/>
                  <a:pt x="6038294" y="6221100"/>
                </a:cubicBezTo>
                <a:cubicBezTo>
                  <a:pt x="6039643" y="6222126"/>
                  <a:pt x="6046356" y="6257468"/>
                  <a:pt x="6052331" y="6287550"/>
                </a:cubicBezTo>
                <a:cubicBezTo>
                  <a:pt x="6058307" y="6317632"/>
                  <a:pt x="6082079" y="6391312"/>
                  <a:pt x="6074143" y="6401595"/>
                </a:cubicBezTo>
                <a:cubicBezTo>
                  <a:pt x="6074931" y="6423902"/>
                  <a:pt x="6059614" y="6432919"/>
                  <a:pt x="6060199" y="6487110"/>
                </a:cubicBezTo>
                <a:cubicBezTo>
                  <a:pt x="6075583" y="6574474"/>
                  <a:pt x="6076150" y="6553611"/>
                  <a:pt x="6081156" y="6588589"/>
                </a:cubicBezTo>
                <a:cubicBezTo>
                  <a:pt x="6102088" y="6637976"/>
                  <a:pt x="6067660" y="6687723"/>
                  <a:pt x="6114944" y="6769963"/>
                </a:cubicBezTo>
                <a:cubicBezTo>
                  <a:pt x="6130462" y="6819284"/>
                  <a:pt x="6119243" y="6817955"/>
                  <a:pt x="6128950" y="6835814"/>
                </a:cubicBezTo>
                <a:lnTo>
                  <a:pt x="6132536" y="6858000"/>
                </a:lnTo>
                <a:lnTo>
                  <a:pt x="4789511" y="6858000"/>
                </a:lnTo>
                <a:lnTo>
                  <a:pt x="1866294" y="6858000"/>
                </a:lnTo>
                <a:lnTo>
                  <a:pt x="1705866" y="6858000"/>
                </a:lnTo>
                <a:lnTo>
                  <a:pt x="1343025" y="6858000"/>
                </a:lnTo>
                <a:lnTo>
                  <a:pt x="523269" y="6858000"/>
                </a:lnTo>
                <a:lnTo>
                  <a:pt x="362841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1909F-10F6-BF5D-5104-203F79C57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941" y="799498"/>
            <a:ext cx="5013129" cy="5303189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GB" sz="1400" b="1" dirty="0"/>
              <a:t>Problem Statement</a:t>
            </a:r>
          </a:p>
          <a:p>
            <a:pPr lvl="1"/>
            <a:r>
              <a:rPr lang="en-GB" sz="1400" dirty="0"/>
              <a:t>Telecom companies generate huge volumes of mobile-signal data every day.</a:t>
            </a:r>
          </a:p>
          <a:p>
            <a:pPr lvl="1"/>
            <a:r>
              <a:rPr lang="en-GB" sz="1400" dirty="0"/>
              <a:t>Delayed or manual analysis slows down issue detection and response.</a:t>
            </a:r>
          </a:p>
          <a:p>
            <a:pPr lvl="1"/>
            <a:r>
              <a:rPr lang="en-GB" sz="1400" dirty="0"/>
              <a:t>Need a real-time solution to monitor and analyse network health instantly.</a:t>
            </a:r>
          </a:p>
          <a:p>
            <a:pPr marL="457200" lvl="1" indent="0">
              <a:buNone/>
            </a:pPr>
            <a:endParaRPr lang="en-GB" sz="1400" dirty="0"/>
          </a:p>
          <a:p>
            <a:pPr marL="0" indent="0">
              <a:buNone/>
            </a:pPr>
            <a:r>
              <a:rPr lang="en-US" sz="1400" b="1" dirty="0"/>
              <a:t>Objective</a:t>
            </a:r>
          </a:p>
          <a:p>
            <a:pPr lvl="1"/>
            <a:r>
              <a:rPr lang="en-GB" sz="1400" dirty="0"/>
              <a:t>Build a real-time analytics pipeline using AWS Kinesis, Glue, Athena, and CloudWatch.</a:t>
            </a:r>
          </a:p>
          <a:p>
            <a:pPr lvl="1"/>
            <a:r>
              <a:rPr lang="en-GB" sz="1400" dirty="0"/>
              <a:t>Enable continuous tracking of key metrics like signal strength, GPS precision, and network status.</a:t>
            </a:r>
          </a:p>
          <a:p>
            <a:pPr lvl="1"/>
            <a:endParaRPr lang="en-IN" sz="1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1" dirty="0"/>
              <a:t>Use Case</a:t>
            </a:r>
          </a:p>
          <a:p>
            <a:pPr lvl="1"/>
            <a:r>
              <a:rPr lang="en-US" sz="1400" dirty="0"/>
              <a:t>Simulate mobile log data (CSV) as live stream via Kinesis.</a:t>
            </a:r>
          </a:p>
          <a:p>
            <a:pPr lvl="1"/>
            <a:r>
              <a:rPr lang="en-US" sz="1400" dirty="0"/>
              <a:t>Perform ETL and cleaning using AWS Glue.</a:t>
            </a:r>
          </a:p>
          <a:p>
            <a:pPr lvl="1"/>
            <a:r>
              <a:rPr lang="en-US" sz="1400" dirty="0"/>
              <a:t>Store curated data in S3 and query insights with Athena.</a:t>
            </a:r>
          </a:p>
          <a:p>
            <a:pPr lvl="1"/>
            <a:r>
              <a:rPr lang="en-US" sz="1400" dirty="0"/>
              <a:t>Key Metrics:</a:t>
            </a:r>
          </a:p>
          <a:p>
            <a:pPr lvl="2"/>
            <a:r>
              <a:rPr lang="en-US" sz="1400" dirty="0"/>
              <a:t> Avg. Signal Strength per Region</a:t>
            </a:r>
          </a:p>
          <a:p>
            <a:pPr lvl="2"/>
            <a:r>
              <a:rPr lang="en-US" sz="1400" dirty="0"/>
              <a:t>GPS Accuracy per Postal Area and Operator</a:t>
            </a:r>
          </a:p>
          <a:p>
            <a:pPr lvl="2"/>
            <a:r>
              <a:rPr lang="en-US" sz="1400" dirty="0"/>
              <a:t>Network activity (</a:t>
            </a:r>
            <a:r>
              <a:rPr lang="en-GB" sz="1400" dirty="0"/>
              <a:t>Still, Tilting, Unknown, </a:t>
            </a:r>
            <a:r>
              <a:rPr lang="en-GB" sz="1400" dirty="0" err="1"/>
              <a:t>On_Foot</a:t>
            </a:r>
            <a:r>
              <a:rPr lang="en-GB" sz="1400" dirty="0"/>
              <a:t>, </a:t>
            </a:r>
            <a:r>
              <a:rPr lang="en-GB" sz="1400" dirty="0" err="1"/>
              <a:t>In_Vehicle</a:t>
            </a:r>
            <a:r>
              <a:rPr lang="en-US" sz="1400" dirty="0"/>
              <a:t>)</a:t>
            </a:r>
          </a:p>
          <a:p>
            <a:pPr marL="457200" lvl="1" indent="0">
              <a:buNone/>
            </a:pPr>
            <a:endParaRPr lang="en-GB" sz="105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7A1E39-DFBF-120D-432E-065E01A4AE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57"/>
          <a:stretch>
            <a:fillRect/>
          </a:stretch>
        </p:blipFill>
        <p:spPr>
          <a:xfrm>
            <a:off x="6578686" y="1523401"/>
            <a:ext cx="5470894" cy="3287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960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D3CE2-756B-7AAF-5ABC-2CC95C8F6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FC601-16B9-13C6-2A8F-0BDF13581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 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49BD7-F02D-92AD-7ADB-21202A6D5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9865"/>
            <a:ext cx="10515600" cy="4351338"/>
          </a:xfrm>
        </p:spPr>
        <p:txBody>
          <a:bodyPr/>
          <a:lstStyle/>
          <a:p>
            <a:r>
              <a:rPr lang="en-IN" sz="2400" dirty="0"/>
              <a:t>Schema &amp; Sample</a:t>
            </a:r>
          </a:p>
          <a:p>
            <a:pPr lvl="1"/>
            <a:r>
              <a:rPr lang="en-IN" sz="1600" dirty="0"/>
              <a:t>Dataset :  </a:t>
            </a:r>
            <a:r>
              <a:rPr lang="en-IN" sz="1600" dirty="0" err="1"/>
              <a:t>mobile_logs</a:t>
            </a:r>
            <a:endParaRPr lang="en-IN" sz="1600" dirty="0"/>
          </a:p>
          <a:p>
            <a:pPr lvl="1"/>
            <a:r>
              <a:rPr lang="en-IN" sz="1600" dirty="0"/>
              <a:t>Format – csv</a:t>
            </a:r>
          </a:p>
          <a:p>
            <a:pPr marL="457200" lvl="1" indent="0">
              <a:buNone/>
            </a:pPr>
            <a:endParaRPr lang="en-IN" sz="1600" dirty="0"/>
          </a:p>
          <a:p>
            <a:pPr lvl="1"/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939EC4F-4B53-3EC8-D45D-AF8D75BD91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948222"/>
              </p:ext>
            </p:extLst>
          </p:nvPr>
        </p:nvGraphicFramePr>
        <p:xfrm>
          <a:off x="74645" y="3135086"/>
          <a:ext cx="11924523" cy="24166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38034">
                  <a:extLst>
                    <a:ext uri="{9D8B030D-6E8A-4147-A177-3AD203B41FA5}">
                      <a16:colId xmlns:a16="http://schemas.microsoft.com/office/drawing/2014/main" val="535083237"/>
                    </a:ext>
                  </a:extLst>
                </a:gridCol>
                <a:gridCol w="838034">
                  <a:extLst>
                    <a:ext uri="{9D8B030D-6E8A-4147-A177-3AD203B41FA5}">
                      <a16:colId xmlns:a16="http://schemas.microsoft.com/office/drawing/2014/main" val="1621273078"/>
                    </a:ext>
                  </a:extLst>
                </a:gridCol>
                <a:gridCol w="838034">
                  <a:extLst>
                    <a:ext uri="{9D8B030D-6E8A-4147-A177-3AD203B41FA5}">
                      <a16:colId xmlns:a16="http://schemas.microsoft.com/office/drawing/2014/main" val="2859347965"/>
                    </a:ext>
                  </a:extLst>
                </a:gridCol>
                <a:gridCol w="838034">
                  <a:extLst>
                    <a:ext uri="{9D8B030D-6E8A-4147-A177-3AD203B41FA5}">
                      <a16:colId xmlns:a16="http://schemas.microsoft.com/office/drawing/2014/main" val="2845933281"/>
                    </a:ext>
                  </a:extLst>
                </a:gridCol>
                <a:gridCol w="907870">
                  <a:extLst>
                    <a:ext uri="{9D8B030D-6E8A-4147-A177-3AD203B41FA5}">
                      <a16:colId xmlns:a16="http://schemas.microsoft.com/office/drawing/2014/main" val="3906503538"/>
                    </a:ext>
                  </a:extLst>
                </a:gridCol>
                <a:gridCol w="942788">
                  <a:extLst>
                    <a:ext uri="{9D8B030D-6E8A-4147-A177-3AD203B41FA5}">
                      <a16:colId xmlns:a16="http://schemas.microsoft.com/office/drawing/2014/main" val="2478612237"/>
                    </a:ext>
                  </a:extLst>
                </a:gridCol>
                <a:gridCol w="838034">
                  <a:extLst>
                    <a:ext uri="{9D8B030D-6E8A-4147-A177-3AD203B41FA5}">
                      <a16:colId xmlns:a16="http://schemas.microsoft.com/office/drawing/2014/main" val="3240543566"/>
                    </a:ext>
                  </a:extLst>
                </a:gridCol>
                <a:gridCol w="1283703">
                  <a:extLst>
                    <a:ext uri="{9D8B030D-6E8A-4147-A177-3AD203B41FA5}">
                      <a16:colId xmlns:a16="http://schemas.microsoft.com/office/drawing/2014/main" val="1253564795"/>
                    </a:ext>
                  </a:extLst>
                </a:gridCol>
                <a:gridCol w="724086">
                  <a:extLst>
                    <a:ext uri="{9D8B030D-6E8A-4147-A177-3AD203B41FA5}">
                      <a16:colId xmlns:a16="http://schemas.microsoft.com/office/drawing/2014/main" val="143757552"/>
                    </a:ext>
                  </a:extLst>
                </a:gridCol>
                <a:gridCol w="1012625">
                  <a:extLst>
                    <a:ext uri="{9D8B030D-6E8A-4147-A177-3AD203B41FA5}">
                      <a16:colId xmlns:a16="http://schemas.microsoft.com/office/drawing/2014/main" val="1625629666"/>
                    </a:ext>
                  </a:extLst>
                </a:gridCol>
                <a:gridCol w="1082460">
                  <a:extLst>
                    <a:ext uri="{9D8B030D-6E8A-4147-A177-3AD203B41FA5}">
                      <a16:colId xmlns:a16="http://schemas.microsoft.com/office/drawing/2014/main" val="2969076721"/>
                    </a:ext>
                  </a:extLst>
                </a:gridCol>
                <a:gridCol w="925329">
                  <a:extLst>
                    <a:ext uri="{9D8B030D-6E8A-4147-A177-3AD203B41FA5}">
                      <a16:colId xmlns:a16="http://schemas.microsoft.com/office/drawing/2014/main" val="2269514046"/>
                    </a:ext>
                  </a:extLst>
                </a:gridCol>
                <a:gridCol w="855492">
                  <a:extLst>
                    <a:ext uri="{9D8B030D-6E8A-4147-A177-3AD203B41FA5}">
                      <a16:colId xmlns:a16="http://schemas.microsoft.com/office/drawing/2014/main" val="2109370144"/>
                    </a:ext>
                  </a:extLst>
                </a:gridCol>
              </a:tblGrid>
              <a:tr h="54609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 dirty="0">
                          <a:effectLst/>
                        </a:rPr>
                        <a:t>hour</a:t>
                      </a:r>
                      <a:endParaRPr lang="en-IN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 dirty="0" err="1">
                          <a:effectLst/>
                        </a:rPr>
                        <a:t>lat</a:t>
                      </a:r>
                      <a:endParaRPr lang="en-IN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 dirty="0">
                          <a:effectLst/>
                        </a:rPr>
                        <a:t>long</a:t>
                      </a:r>
                      <a:endParaRPr lang="en-IN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 dirty="0">
                          <a:effectLst/>
                        </a:rPr>
                        <a:t>signal</a:t>
                      </a:r>
                      <a:endParaRPr lang="en-IN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 dirty="0">
                          <a:effectLst/>
                        </a:rPr>
                        <a:t>network</a:t>
                      </a:r>
                      <a:endParaRPr lang="en-IN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 dirty="0">
                          <a:effectLst/>
                        </a:rPr>
                        <a:t>operator</a:t>
                      </a:r>
                      <a:endParaRPr lang="en-IN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 dirty="0">
                          <a:effectLst/>
                        </a:rPr>
                        <a:t>status</a:t>
                      </a:r>
                      <a:endParaRPr lang="en-IN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>
                          <a:effectLst/>
                        </a:rPr>
                        <a:t>description</a:t>
                      </a:r>
                      <a:endParaRPr lang="en-IN" sz="11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 dirty="0">
                          <a:effectLst/>
                        </a:rPr>
                        <a:t>speed</a:t>
                      </a:r>
                      <a:endParaRPr lang="en-IN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 dirty="0">
                          <a:effectLst/>
                        </a:rPr>
                        <a:t>satellites</a:t>
                      </a:r>
                      <a:endParaRPr lang="en-IN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 dirty="0">
                          <a:effectLst/>
                        </a:rPr>
                        <a:t>precision</a:t>
                      </a:r>
                      <a:endParaRPr lang="en-IN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 dirty="0">
                          <a:effectLst/>
                        </a:rPr>
                        <a:t>provider</a:t>
                      </a:r>
                      <a:endParaRPr lang="en-IN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b="1" u="none" strike="noStrike" dirty="0">
                          <a:effectLst/>
                        </a:rPr>
                        <a:t>activity</a:t>
                      </a:r>
                      <a:endParaRPr lang="en-IN" sz="11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4422348"/>
                  </a:ext>
                </a:extLst>
              </a:tr>
              <a:tr h="37410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00:36:07.000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9.7028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-16.9857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15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DTAC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JAZZTEL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0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STATE_IN_SERVICE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35.6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5.6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144.1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fused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STILL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0387548"/>
                  </a:ext>
                </a:extLst>
              </a:tr>
              <a:tr h="37410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00:36:08.000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3.68379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-2.76099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22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movistar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DTAC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0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STATE_IN_SERVICE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128.9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6.3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14.6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fused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STILL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59506813"/>
                  </a:ext>
                </a:extLst>
              </a:tr>
              <a:tr h="37410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00:36:09.000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28.02161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-3.30627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16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orange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RACC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0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STATE_IN_SERVICE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134.9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2.6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126.4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fused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UNKNOWN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46954234"/>
                  </a:ext>
                </a:extLst>
              </a:tr>
              <a:tr h="37410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00:36:10.000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16.51063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-9.35435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6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orange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 err="1">
                          <a:effectLst/>
                        </a:rPr>
                        <a:t>vodafone</a:t>
                      </a:r>
                      <a:r>
                        <a:rPr lang="en-IN" sz="1100" u="none" strike="noStrike" dirty="0">
                          <a:effectLst/>
                        </a:rPr>
                        <a:t> ES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0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STATE_IN_SERVICE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45.3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11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139.9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fused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UNKNOWN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661150"/>
                  </a:ext>
                </a:extLst>
              </a:tr>
              <a:tr h="37410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00:36:11.000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16.803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-12.9745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6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vodafone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Orange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0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STATE_IN_SERVICE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123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14.7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28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>
                          <a:effectLst/>
                        </a:rPr>
                        <a:t>gps</a:t>
                      </a:r>
                      <a:endParaRPr lang="en-IN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IN" sz="1100" u="none" strike="noStrike" dirty="0">
                          <a:effectLst/>
                        </a:rPr>
                        <a:t>IN_VEHICLE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70291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54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15C13-C16B-BC33-C6AE-0E47749BD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High-Level Architecture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4D4794-8148-60E5-6862-BE4F80B232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19" t="5891" r="2550" b="3194"/>
          <a:stretch>
            <a:fillRect/>
          </a:stretch>
        </p:blipFill>
        <p:spPr>
          <a:xfrm>
            <a:off x="25518" y="1483567"/>
            <a:ext cx="12113610" cy="5009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276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3CA5C-B9BB-3C3C-910A-A0A760C49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Tools &amp; Services Used: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80A16E8-D37E-357B-B6FE-FA45045C7A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4889880"/>
              </p:ext>
            </p:extLst>
          </p:nvPr>
        </p:nvGraphicFramePr>
        <p:xfrm>
          <a:off x="838200" y="1898174"/>
          <a:ext cx="10515600" cy="356616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61135562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588467985"/>
                    </a:ext>
                  </a:extLst>
                </a:gridCol>
              </a:tblGrid>
              <a:tr h="363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Service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268936"/>
                  </a:ext>
                </a:extLst>
              </a:tr>
              <a:tr h="636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Amazon S3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Central data lake (stores raw, processed, scripts, checkpoints, and query outputs).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277186"/>
                  </a:ext>
                </a:extLst>
              </a:tr>
              <a:tr h="636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Amazon Kinesis Data Stream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ingestion of mobile log data (acts as the streaming data source).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8286027"/>
                  </a:ext>
                </a:extLst>
              </a:tr>
              <a:tr h="636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AWS Glue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Performs ETL processing (Spark Streaming job reads from Kinesis, writes to S3 in Parquet).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436824"/>
                  </a:ext>
                </a:extLst>
              </a:tr>
              <a:tr h="636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Amazon Athena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Serverless query engine to analyze processed data stored in S3 using SQL.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2276946"/>
                  </a:ext>
                </a:extLst>
              </a:tr>
              <a:tr h="636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Amazon CloudWatch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Monitors Glue job execution and logs for troubleshooting.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4542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8698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15C13-C16B-BC33-C6AE-0E47749BD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4234"/>
            <a:ext cx="10515600" cy="1325563"/>
          </a:xfrm>
        </p:spPr>
        <p:txBody>
          <a:bodyPr/>
          <a:lstStyle/>
          <a:p>
            <a:r>
              <a:rPr lang="en-IN" dirty="0"/>
              <a:t>Detailed Data Flow</a:t>
            </a:r>
          </a:p>
        </p:txBody>
      </p:sp>
      <p:pic>
        <p:nvPicPr>
          <p:cNvPr id="9" name="Picture 8" descr="A diagram of a diagram&#10;&#10;AI-generated content may be incorrect.">
            <a:extLst>
              <a:ext uri="{FF2B5EF4-FFF2-40B4-BE49-F238E27FC236}">
                <a16:creationId xmlns:a16="http://schemas.microsoft.com/office/drawing/2014/main" id="{491A21BF-DD3A-8099-DE14-168849DB97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75" y="2170600"/>
            <a:ext cx="12192000" cy="348942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B0E4384-977C-8E2E-54D2-39BE8BBB3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5208" y="3849993"/>
            <a:ext cx="9488367" cy="21955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E77854-66FC-5474-22C0-EDC057EC1A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0952" y="3732234"/>
            <a:ext cx="307910" cy="3551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61E58F-409B-067A-89A0-A059501127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2073" y="3707349"/>
            <a:ext cx="307910" cy="3551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DF7805-5BFE-22C6-A853-488A828C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9818" y="3778889"/>
            <a:ext cx="307910" cy="35511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1DB29D-104D-3EC3-4E3A-4EB0B5D191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0503" y="2245248"/>
            <a:ext cx="2155365" cy="355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27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15C13-C16B-BC33-C6AE-0E47749BD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455821" cy="16162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Ingestion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949189-C870-8F61-4B48-11EA5F2EF3EC}"/>
              </a:ext>
            </a:extLst>
          </p:cNvPr>
          <p:cNvSpPr txBox="1"/>
          <p:nvPr/>
        </p:nvSpPr>
        <p:spPr>
          <a:xfrm>
            <a:off x="876693" y="2533476"/>
            <a:ext cx="3455821" cy="34478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/>
              <a:t>Python Data Ingestion Script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Simulates real-time telecom data from CSV.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Converts each row to JSON and sends it to Kinesis Data Stream.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BABB397-E040-F1EC-A4F7-9FC9CC792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672" y="1452958"/>
            <a:ext cx="6389346" cy="3961394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316448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4E778-F27E-551D-302F-6F69CA8A4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DAE93-AE44-C328-E458-48A2D5182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 Bucket Setup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87BCF-FFF3-671F-C552-83E41530D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800" dirty="0"/>
          </a:p>
          <a:p>
            <a:endParaRPr lang="en-IN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2B4F9E-89F4-8EEB-AFC7-2851E4743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93" y="1827256"/>
            <a:ext cx="4743450" cy="14129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6887F8-2522-9E76-2B9F-19142D5BCAB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101"/>
          <a:stretch>
            <a:fillRect/>
          </a:stretch>
        </p:blipFill>
        <p:spPr>
          <a:xfrm>
            <a:off x="5904740" y="1825625"/>
            <a:ext cx="5449060" cy="14861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A120F7-6455-9CDE-81BE-1CB55F121F6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164"/>
          <a:stretch>
            <a:fillRect/>
          </a:stretch>
        </p:blipFill>
        <p:spPr>
          <a:xfrm>
            <a:off x="838200" y="3546195"/>
            <a:ext cx="10604500" cy="3086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14487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F0EA37-81B0-E0A9-1896-38B070BCF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4695F26-39DB-450E-B464-9C76CD233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42E55F-A297-474F-AF2D-6D3A15822B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9611" y="-1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F6CB3E-15F9-E95F-8AC7-09C0E6115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338328"/>
            <a:ext cx="5011473" cy="1773936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Kinesis Data Stream</a:t>
            </a:r>
            <a:endParaRPr lang="en-IN" sz="3600">
              <a:solidFill>
                <a:schemeClr val="tx2"/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72070F7-E065-4D60-8938-9FB8CDB8A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 flipH="1">
            <a:off x="-179919" y="170310"/>
            <a:ext cx="2514948" cy="2174333"/>
            <a:chOff x="-305" y="-4155"/>
            <a:chExt cx="2514948" cy="2174333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4F672C03-E63A-4F6B-96BD-0C4E3F1B82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BB94CDF-5C33-4B0A-B53F-50762639C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3C92F9D-544D-4691-94A7-B937CF4BE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CA4DEE4-B7B4-47F4-A9C5-31AED8369A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23F78-B9D4-82CE-34D3-BAE889E6E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5641" y="338328"/>
            <a:ext cx="5029200" cy="1773936"/>
          </a:xfrm>
        </p:spPr>
        <p:txBody>
          <a:bodyPr anchor="ctr">
            <a:norm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800">
                <a:solidFill>
                  <a:schemeClr val="tx2"/>
                </a:solidFill>
              </a:rPr>
              <a:t>Serverless Amazon Web Services (AWS) service for processing and analyzing real-time streaming data at scale.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A9B6D62-5F75-8418-F0D2-4920763ED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643" y="3013170"/>
            <a:ext cx="6345894" cy="28547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74DD7E-0D77-3AE4-CC97-C5B70AFBF8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3418"/>
          <a:stretch>
            <a:fillRect/>
          </a:stretch>
        </p:blipFill>
        <p:spPr>
          <a:xfrm>
            <a:off x="6668792" y="3988435"/>
            <a:ext cx="5166360" cy="1447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290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64B034-0BA3-13B9-2E23-14E051989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D6A777-CD35-1F94-E64F-7E889407C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604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AWS Glue Job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6F94A6-49ED-1FE1-A5F3-10704E5D51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666"/>
          <a:stretch>
            <a:fillRect/>
          </a:stretch>
        </p:blipFill>
        <p:spPr>
          <a:xfrm>
            <a:off x="423439" y="2353710"/>
            <a:ext cx="4649369" cy="39387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F6C0DB-9100-BF3D-4861-2D81CC3B3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6481" y="3009418"/>
            <a:ext cx="6744285" cy="2155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102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CDA6D-3411-F365-A3C9-239F41C86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8E91FF8-FCC2-3FA5-A160-4755EEEFC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777" y="1782147"/>
            <a:ext cx="11212072" cy="4408715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A795EB34-D50E-36A8-DA99-5A5174FD2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AWS Glue Streaming ETL Job (Status)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5855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8425F-65ED-3E64-71FD-BC2CFA956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2FC51-3CA2-D0F3-9B60-9181C7B59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KPI’s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2E8E8-B894-A610-732A-9352D08D1B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1115" y="1690688"/>
            <a:ext cx="5181600" cy="4351338"/>
          </a:xfrm>
        </p:spPr>
        <p:txBody>
          <a:bodyPr/>
          <a:lstStyle/>
          <a:p>
            <a:r>
              <a:rPr lang="en-IN" sz="1800" dirty="0"/>
              <a:t>Average signal by operator</a:t>
            </a:r>
            <a:endParaRPr lang="en-IN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4FFF34-03D0-23A3-2BEA-0118B7ACB0C3}"/>
              </a:ext>
            </a:extLst>
          </p:cNvPr>
          <p:cNvSpPr txBox="1">
            <a:spLocks/>
          </p:cNvSpPr>
          <p:nvPr/>
        </p:nvSpPr>
        <p:spPr>
          <a:xfrm>
            <a:off x="5935825" y="1690688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Average signal by postal code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IN" sz="1800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79ECFB-87EB-1684-CD5F-917B3C8D7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6380" y="2279282"/>
            <a:ext cx="4871045" cy="40261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678153-7A3C-4D20-17DB-944F22A0CA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005" y="2279281"/>
            <a:ext cx="4784115" cy="40261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470346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4A377-A202-74E8-9265-D4675FBA3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33BE4-DFCF-8C39-83A8-548BB280A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KPI’s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750A1-598B-C158-A6A2-5C7505B666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1115" y="1690688"/>
            <a:ext cx="5181600" cy="4351338"/>
          </a:xfrm>
        </p:spPr>
        <p:txBody>
          <a:bodyPr/>
          <a:lstStyle/>
          <a:p>
            <a:r>
              <a:rPr lang="en-US" sz="1800" dirty="0"/>
              <a:t>Average signal by operator and postal code</a:t>
            </a:r>
            <a:endParaRPr lang="en-IN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133882A-6E54-9394-EFD5-EDCF894A89BD}"/>
              </a:ext>
            </a:extLst>
          </p:cNvPr>
          <p:cNvSpPr txBox="1">
            <a:spLocks/>
          </p:cNvSpPr>
          <p:nvPr/>
        </p:nvSpPr>
        <p:spPr>
          <a:xfrm>
            <a:off x="5935825" y="1690688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Average GPS precision by provider</a:t>
            </a:r>
          </a:p>
          <a:p>
            <a:pPr marL="0" indent="0">
              <a:buNone/>
            </a:pPr>
            <a:endParaRPr lang="en-IN" sz="1800" dirty="0"/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2E2512-CB41-2487-D269-DEAAC7BC9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581" y="2547373"/>
            <a:ext cx="147669" cy="342416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7D25687-8183-C3D5-2650-CD533338DA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89" y="2250919"/>
            <a:ext cx="5029161" cy="40170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C4ABAD3-ECD5-05FD-6202-4996D87E4C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4013" y="2250919"/>
            <a:ext cx="5181600" cy="40170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3076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F9B05A-3D1F-D8D0-59A4-D2A104F74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D4DA2A-380B-456F-E4C0-357EDED8B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KPI’s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2E4CDC-144D-684F-7D22-62A175BA6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82588" y="1311818"/>
            <a:ext cx="8426823" cy="397567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16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Activity Count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D37AA1-3102-D395-44B6-34BE9D676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2421186"/>
            <a:ext cx="10744200" cy="38141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67307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15C13-C16B-BC33-C6AE-0E47749BD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IN" dirty="0"/>
              <a:t>Business Output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1909F-10F6-BF5D-5104-203F79C57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r>
              <a:rPr lang="en-IN" sz="2000" dirty="0"/>
              <a:t>Real-time data availability </a:t>
            </a:r>
          </a:p>
          <a:p>
            <a:r>
              <a:rPr lang="en-IN" sz="2000" dirty="0"/>
              <a:t>Clean and structured datasets</a:t>
            </a:r>
          </a:p>
          <a:p>
            <a:r>
              <a:rPr lang="en-IN" sz="2000" dirty="0"/>
              <a:t>Faster insights</a:t>
            </a:r>
          </a:p>
          <a:p>
            <a:r>
              <a:rPr lang="en-IN" sz="2000" dirty="0"/>
              <a:t>Scalable foundation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223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15C13-C16B-BC33-C6AE-0E47749BD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IN">
                <a:solidFill>
                  <a:srgbClr val="FFFFFF"/>
                </a:solidFill>
              </a:rPr>
              <a:t>Key Learnings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1909F-10F6-BF5D-5104-203F79C57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/>
              <a:t>AWS Data Pipeline Design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Spark Structured 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2200" dirty="0"/>
              <a:t>Schema Handling and Data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Offline Testing and Local Simulation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AWS Cloud Integration</a:t>
            </a:r>
            <a:endParaRPr lang="en-IN" sz="2200" dirty="0"/>
          </a:p>
        </p:txBody>
      </p:sp>
    </p:spTree>
    <p:extLst>
      <p:ext uri="{BB962C8B-B14F-4D97-AF65-F5344CB8AC3E}">
        <p14:creationId xmlns:p14="http://schemas.microsoft.com/office/powerpoint/2010/main" val="36005518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15C13-C16B-BC33-C6AE-0E47749BD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Future Scope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B7920EA-0CE3-18A6-2BF2-4B3B790906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469581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96940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881061-7B10-1ED3-0DA6-AE7214A7E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79184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2351</TotalTime>
  <Words>2304</Words>
  <Application>Microsoft Office PowerPoint</Application>
  <PresentationFormat>Widescreen</PresentationFormat>
  <Paragraphs>286</Paragraphs>
  <Slides>19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Aptos Narrow</vt:lpstr>
      <vt:lpstr>Arial</vt:lpstr>
      <vt:lpstr>Calibri</vt:lpstr>
      <vt:lpstr>Office Theme</vt:lpstr>
      <vt:lpstr>Telecom Signal Stream  Data Forge</vt:lpstr>
      <vt:lpstr>Team Members</vt:lpstr>
      <vt:lpstr>PowerPoint Presentation</vt:lpstr>
      <vt:lpstr>Input Data Overview</vt:lpstr>
      <vt:lpstr>High-Level Architecture</vt:lpstr>
      <vt:lpstr>Tools &amp; Services Used:</vt:lpstr>
      <vt:lpstr>Detailed Data Flow</vt:lpstr>
      <vt:lpstr>Data Ingestion</vt:lpstr>
      <vt:lpstr>S3 Bucket Setup</vt:lpstr>
      <vt:lpstr>Kinesis Data Stream</vt:lpstr>
      <vt:lpstr>AWS Glue Job</vt:lpstr>
      <vt:lpstr>AWS Glue Streaming ETL Job (Status)</vt:lpstr>
      <vt:lpstr>KPI’s</vt:lpstr>
      <vt:lpstr>KPI’s</vt:lpstr>
      <vt:lpstr>KPI’s</vt:lpstr>
      <vt:lpstr>Business Output</vt:lpstr>
      <vt:lpstr>Key Learnings</vt:lpstr>
      <vt:lpstr>Future Scope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Nagabhushan Mamadapur</dc:creator>
  <cp:lastModifiedBy>Sahana J</cp:lastModifiedBy>
  <cp:revision>64</cp:revision>
  <cp:lastPrinted>2025-11-07T11:56:58Z</cp:lastPrinted>
  <dcterms:created xsi:type="dcterms:W3CDTF">2025-10-27T09:00:12Z</dcterms:created>
  <dcterms:modified xsi:type="dcterms:W3CDTF">2025-11-08T05:45:36Z</dcterms:modified>
</cp:coreProperties>
</file>